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2" r:id="rId3"/>
    <p:sldId id="257" r:id="rId4"/>
    <p:sldId id="258" r:id="rId5"/>
    <p:sldId id="259" r:id="rId6"/>
    <p:sldId id="260" r:id="rId7"/>
    <p:sldId id="261"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Flatory Serif Bold" panose="020B0604020202020204" charset="-34"/>
      <p:regular r:id="rId18"/>
    </p:embeddedFont>
    <p:embeddedFont>
      <p:font typeface="Glacial Indifference" panose="020B0604020202020204" charset="0"/>
      <p:regular r:id="rId19"/>
    </p:embeddedFont>
    <p:embeddedFont>
      <p:font typeface="Glacial Indifference Bold" panose="020B0604020202020204" charset="0"/>
      <p:regular r:id="rId20"/>
    </p:embeddedFont>
    <p:embeddedFont>
      <p:font typeface="PT Serif" panose="020A0603040505020204" pitchFamily="18" charset="0"/>
      <p:regular r:id="rId21"/>
      <p:bold r:id="rId22"/>
      <p:italic r:id="rId23"/>
      <p:boldItalic r:id="rId24"/>
    </p:embeddedFont>
    <p:embeddedFont>
      <p:font typeface="Source Sans Pro" panose="020B0503030403020204" pitchFamily="34" charset="0"/>
      <p:regular r:id="rId25"/>
      <p:bold r:id="rId26"/>
      <p:italic r:id="rId27"/>
      <p:boldItalic r:id="rId28"/>
    </p:embeddedFont>
    <p:embeddedFont>
      <p:font typeface="Source Sans Pro Bold" panose="020B0604020202020204" charset="0"/>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62BEDE80-4090-99E6-8FA8-DADCD38AADEE}"/>
    <pc:docChg chg="addSld">
      <pc:chgData name="Guest User" userId="" providerId="Windows Live" clId="Web-{62BEDE80-4090-99E6-8FA8-DADCD38AADEE}" dt="2025-03-03T16:40:41.667" v="0"/>
      <pc:docMkLst>
        <pc:docMk/>
      </pc:docMkLst>
      <pc:sldChg chg="new">
        <pc:chgData name="Guest User" userId="" providerId="Windows Live" clId="Web-{62BEDE80-4090-99E6-8FA8-DADCD38AADEE}" dt="2025-03-03T16:40:41.667" v="0"/>
        <pc:sldMkLst>
          <pc:docMk/>
          <pc:sldMk cId="2531186222" sldId="272"/>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09:42.7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3289 1,'-1194'0,"1170"1,0 2,0 0,-32 10,28-6,-55 5,-264-9,179-5,-1139 2,1273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09:50.6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3093 1,'-400'0,"375"1,1 2,0 0,-32 10,28-6,-54 6,-265-11,179-4,-1736 2,1870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0:30.3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4128 79,'-873'0,"849"-1,1-2,0 0,-30-9,26 5,-52-5,-252 10,170 4,145-2,-9 0,0 0,0-2,0 0,-34-9,26 3,-2 1,1 2,-42 0,-106 6,73 1,-1748-2,1825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0:48.51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1068 1,'-5'1,"1"0,0 1,0-1,0 1,0 0,0 0,-6 4,-4 2,12-7,-14 8,0-1,-1-1,0 0,-1-1,1-1,-27 4,-41-4,-106-6,69-1,-313 2,401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0:53.19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908 0,'-874'0,"840"0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1:31.8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4162 231,'-2883'0,"2851"-2,1-1,-50-11,44 6,-47-3,-93 11,-24-2,172-2,0-2,1-1,-32-11,26 7,-51-10,24 15,0 2,-72 5,99 0,61-1,9 1,69-8,-34-6,0 3,101 0,-166 10,122-4,-110 2,0-1,0 0,-1-1,1-1,17-8,-15 5,1 1,-1 0,1 2,30-4,-9 5,54 2,1728 5,-1031-4,-770 2,1 2,-1 0,30 9,-26-5,51 5,-50-11,-17-1,0 0,1 1,20 4,-29-4,0 0,0 0,0 0,0 0,-1 1,1-1,0 1,-1 0,1 0,-1 0,0 0,1 0,-1 0,0 0,0 1,-1-1,1 1,2 5,0 1,-1 0,-1 0,1 0,-2 1,1-1,0 19,-6 61,1-44,2-6,-1 133,4-151,0 1,1-1,2 0,0 0,15 38,-14-44,0-1,-1 1,0 1,-1-1,-1 1,2 25,-5-37,0-1,0 1,0 0,0 0,-1 0,0 0,1 0,-2-1,1 1,0 0,-1-1,1 1,-1-1,0 1,0-1,-1 0,1 0,-1 0,1 0,-1 0,0-1,0 1,0-1,0 0,-1 0,1 0,-1 0,1 0,-1-1,0 0,1 0,-5 1,-10 2,-1-2,1 0,-29-1,24-1,-38 5,-18 7,-149 5,-3071-18,3290 1,-1 0,0-1,1 0,-1-1,-10-2,19 3,-1 1,0-1,1 1,-1-1,1 1,-1-1,1 0,-1 0,1 0,0 0,-1 0,1 0,0 0,0 0,-1 0,1-1,0 1,0 0,0-1,1 1,-1-1,0 1,1-1,-1 0,1 1,-1-1,1 1,-1-1,1 0,0 0,0 1,0-1,0 0,0 1,1-1,-1 0,1-2,0 1,1-1,-1 1,1 0,0 0,0 1,0-1,0 0,0 1,1-1,3-2,32-24,-22 17,-2 2,115-97,-123 102,0-1,0 2,1-1,-1 1,1 0,0 0,0 0,1 1,-1 0,0 1,13-3,2 2,0 1,37 0,-33 2,47-5,-25-4,81-25,-110 28,1 0,0 2,38-3,63 4,-84 4,1-2,0-1,43-9,-38 1,51-18,-70 21,1 1,0 2,0 0,0 1,41 1,43-4,-59-1,178-30,-183 27,-1 3,76-3,93 11,-83 2,499-3,-593 2,0 2,60 14,-37-6,92 22,-122-26,0 1,-1 2,-1 0,0 2,48 31,-73-42,1-1,-2 1,1-1,0 1,0 0,0 0,-1 0,1 0,-1 0,0 0,1 0,-1 0,0 1,0-1,0 0,0 5,-1-5,1 0,-1 0,-1-1,1 1,0 0,0 0,-1-1,1 1,-1 0,1 0,-1-1,0 1,0-1,0 1,0-1,0 1,0-1,0 1,0-1,0 0,-1 0,1 0,0 0,-4 2,-8 4,0 0,-1 0,-27 7,-16 8,29-9,-1 2,-1-2,0-1,-53 13,-147 13,124-22,-81 7,19-7,63-3,-385-4,300-11,132 2,-138-4,167 1,1-1,-1-2,1 0,-48-19,39 11,-1 2,0 1,-1 2,0 1,0 3,-1 1,-43 1,-6 5,-87-3,156-2,0 0,-21-8,20 5,-33-4,3 6,-57 4,-31-2,118-1,1 0,-22-8,21 5,-32-4,-29 4,-87 7,98 0,71-1,0 0,0 0,0 0,0 0,-1 0,1 0,0 0,0 0,0 1,0-1,-1 0,1 0,0 0,0 0,0 0,0 0,-1 0,1 0,0-1,0 1,0 0,0 0,-1 0,1 0,0 0,0 0,0 0,0 0,0 0,-1 0,1-1,0 1,0 0,0 0,0 0,0 0,0 0,0 0,-1-1,1 1,0 0,0 0,0 0,0 0,0-1,0 1,0 0,0 0,0 0,0 0,0-1,9-8,17-7,-9 8,0 0,1 1,0 1,0 1,0 1,1 0,28-2,138 5,-116 2,1464 2,-835-4,-676-1,0 0,0-1,31-9,-27 5,52-5,32 9,-78 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1:46.98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2226 345,'-647'0,"622"-2,1 0,-1-2,-24-6,21 3,-49-4,-183 9,141 3,96-2,0-1,0-2,-30-8,26 6,-52-7,-252 11,170 4,103-3,-72 3,126-2,0 0,0 1,0 0,1 0,-1 0,0 0,1 0,-1 1,1 0,-7 3,9-3,-1-1,1 0,0 1,-1-1,1 1,0 0,0-1,0 1,0 0,0-1,1 1,-1 0,0 0,1 0,-1 0,1 0,0 0,0 0,-1 0,1 0,1 0,-1 3,3 15,1 1,0-1,2 0,0 0,1-1,1 0,17 30,-9-15,-11-22,0-1,0 0,15 21,-19-30,1 0,-1 0,1 0,0-1,0 1,-1 0,1-1,0 0,0 1,0-1,0 0,1 0,-1 0,0 0,0 0,1-1,-1 1,0-1,1 1,-1-1,1 0,-1 0,1 0,-1 0,5-1,-3-1,1-1,-1 1,1-1,-1 1,0-1,0-1,-1 1,1 0,0-1,-1 0,0 0,3-4,3-4,22-31,-28 37,0 0,1 0,-1 0,2 1,-1-1,0 1,1 0,0 0,0 1,1 0,-1 0,1 0,10-5,-4 5,0 1,0 0,1 0,-1 2,22-2,68 7,-44-1,-50-3,0 0,0 1,0 0,0 1,0 0,-1 0,1 0,-1 1,1 0,-1 1,0 0,0 0,9 8,5 3,0-2,0 0,1-1,1-1,0 0,0-2,1-1,0-1,0-1,1-2,0 0,40 1,-58-5,17 0,-1 1,0 0,38 9,141 27,-159-28,0-2,60 1,86-8,-162-1,-273 1,251-1,1 0,-1-1,0 1,1-1,6-4,19-5,1 5,0 0,52 0,69 7,-74 0,-46 1,-12-1,32-2,-49 1,0 0,0-1,0 1,0-1,0 0,-1-1,1 1,0-1,0 1,-1-1,1 0,-1 0,7-5,-9 5,0 0,0 1,0-1,0 0,0 0,0 1,-1-1,1 0,0 0,-1 0,1 0,-1 0,0 0,0 0,0 0,0 0,0-2,-8-38,4 24,-19-64,15 60,2-1,-7-40,9 20,4 28,-1 1,0-1,-2 0,0 1,0 0,-11-28,13 41,0-1,0 1,0-1,0 1,0 0,0-1,-1 1,1 0,0 0,-1 0,1 0,-1 0,1 0,-1 0,0 1,1-1,-1 1,0-1,1 1,-1-1,0 1,0 0,1 0,-1 0,0 0,0 0,1 0,-1 1,0-1,0 0,-2 2,-7 1,0 1,0 1,-18 10,11-6,7-4,-110 47,102-45,0-1,0-2,-1 0,-32 3,-192-7,107-3,113 2,-1-2,0-1,1-1,0-1,-31-12,29 8,0 2,0 2,-1 0,-31-2,14 6,21 2,-1-1,1-1,-38-9,26 3,0 1,-1 2,-37 0,-111 6,77 1,-219-2,365-2,0-2,0-2,0-1,-1-2,44-16,55-31,-105 45,-14 4,0 0,1 2,-1 0,23-2,244 3,-154 6,1044-2,-1168 0,0 0,0 0,0 1,1 0,-1 1,-1-1,1 1,11 5,-15-6,0 1,-1 0,1-1,-1 1,0 0,1 0,-1 1,0-1,0 0,0 1,-1-1,1 1,-1 0,1 0,-1-1,0 1,0 0,0 0,0 0,-1 0,1 0,0 5,-1-1,0 1,0 0,-1-1,0 1,0-1,-1 0,0 1,0-1,-4 8,-5 8,-20 31,22-40,1 1,0 0,0 0,2 0,-7 21,-12 115,18-99,6-39,-1 1,0-1,-1 0,0 0,-6 14,7-24,0 0,0 1,0-1,0 0,-1 0,0 0,1-1,-1 1,0-1,0 1,-1-1,1 0,0 0,-1 0,1-1,-1 1,1-1,-1 0,0 0,-6 1,-7 0,-1-1,1 0,-24-2,25 0,-5 0,0 1,0 0,0 2,-37 7,-28 8,-17 4,74-14,-1-1,0-1,-45 1,-94-7,69-1,33 1,-93 3,140 1,-41 11,40-8,-33 5,-1-7,30-2,1 0,-42 10,36-4,-2-2,1-2,-34 2,-96-6,86-1,63 1,1-1,0 0,-1 0,-11-4,-1-3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4:06.85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2384 156,'-1178'0,"1155"-1,0-1,0-2,-30-8,26 6,-52-7,-50-6,87 11,-51-4,28 11,-38-4,90 3,1 0,0-1,-1 0,1-1,1 0,-15-7,9 3,0 1,0 1,0 0,-1 1,1 1,-1 1,-22-1,-131 4,89 2,49-1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4:15.28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2679 459,'-951'0,"929"2,0 1,0 0,0 2,0 0,-34 15,29-11,1-1,-1-1,-29 4,-106-7,122-5,0 1,-1 2,-57 11,45-3,-1-2,-67 1,-111-10,86-2,-104 3,277 0,22 0,-1 1,79 13,-75-5,1-2,73 0,-100-5,-2 1,48 11,-43-8,48 6,-45-9,47 12,-48-8,54 5,295-10,-191-4,266 2,-426-2,1-1,-1-2,38-10,-30 6,-33 8,0 0,0 0,-1-1,1 0,0 1,-1-1,1-1,-1 1,1 0,-1-1,0 0,0 0,0 1,-1-2,1 1,-1 0,1-1,-1 1,0-1,0 1,-1-1,1 0,-1 0,0 0,1-7,1-8,-1-1,-1 1,0-1,-4-23,2 15,0-41,-4-55,5 120,0 1,-1-1,0 1,0-1,0 1,0-1,-1 1,1-1,-1 1,0 0,0 0,0 0,0 0,-1 0,1 1,-1-1,1 1,-1-1,0 1,0 0,0 0,0 0,-1 1,1-1,0 1,-1-1,1 1,-1 0,-3 0,-12-2,1 1,-1 1,0 1,-29 3,19-2,-317 5,309-9,0-1,1-2,-1-1,-36-13,34 9,-1 1,-78-8,-14 1,-2-1,-247 15,194 5,166-1,1-2,0 0,0-2,-36-8,24 3,-1 1,0 2,-46-1,-103 7,87 1,1802-3,-846 2,-861-1,10-1,-1 2,1-1,0 1,11 3,-19-3,0-1,0 1,0 0,0-1,0 1,0 0,0 0,-1 0,1 1,0-1,-1 0,1 1,-1-1,1 1,-1-1,0 1,1 0,-1-1,0 1,0 0,0 0,0 0,-1 0,1 0,0 3,0 19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4:41.83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3598 307,'-27'-2,"1"0,-49-12,-20-3,-255 11,200 8,-1215-2,1341-1,0-2,-1 0,-24-8,21 4,-49-4,-280 8,183 6,-387-3,571-1,-1-1,0 0,0 0,12-4,17-5,6 5,86-1,-24 2,-79 1,1-1,-1-1,33-13,-29 9,61-12,-11 15,-48 5,62-13,-65 8,32-9,0 2,2 3,77-3,-4 16,69-3,-185-2,39-10,-38 7,30-4,52 4,107 6,-75 3,1327-3,-3613 0,2117 1,-1 3,-43 9,37-6,-41 3,0-8,55-3,0 1,0 2,0 0,-39 10,31-4,0-1,0-2,-43 1,-107-7,77-1,14 0,-117 5,102 15,72-11,-48 5,60-11,13-2,-1 2,0 0,0 0,-23 7,33-8,0 1,0 0,0 0,0 0,-1 0,1 0,1 0,-1 1,0-1,0 1,0-1,1 1,-1 0,1 0,-1 0,1-1,0 1,0 1,0-1,0 0,0 0,0 0,0 0,1 1,-1-1,1 0,0 1,0-1,0 0,0 1,0 1,3 18,9 39,2 14,-11 119,-1-7,-2-183,1-1,0 1,-1-1,1 1,0-1,1 1,-1-1,0 0,1 1,0-1,0 0,0 0,0 0,0-1,1 1,-1 0,1-1,0 0,0 1,0-1,0 0,0 0,0-1,0 1,1-1,-1 0,1 1,-1-2,6 2,10 1,-1-1,1-1,0-1,29-2,-19 0,733-5,-457 9,-281-4,1 0,-1-2,25-6,-20 3,48-4,-13 9,-39 3,-1-2,1-1,0-1,23-7,-16 3,1 2,-1 1,39 0,1-1,-50 2,38-10,-38 7,32-4,51 3,106 8,-75 1,1035-2,-1169 0,8 0,-1 0,1 0,0-1,-1-1,12-2,-19 3,0 0,0 1,0-1,0 0,-1 0,1 0,0 0,-1 0,1 0,-1 0,1-1,-1 1,0-1,1 1,-1-1,0 1,0-1,0 0,0 1,0-1,-1 0,1 0,0 0,-1 0,1 0,-1 0,0 1,0-1,0 0,0 0,0 0,-1-4,-3-21,-2 1,-16-47,5 18,12 33,-4-30,7 40,2 30,-1 0,-1 0,-1 0,-8 29,-7 50,17-67,0-19,1 1,-2 0,-4 19,5-28,0 0,0 0,0 0,0-1,-1 1,1 0,-1 0,0-1,0 1,0-1,0 0,0 0,-1 1,1-1,-1-1,1 1,-1 0,-4 1,-2 1,1-1,-2-1,1 1,0-2,0 1,-19 0,-61-6,43 1,-46 2,-46-3,107-2,7-2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3T07:14:53.0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24 78,'2201'0,"-2177"1,-1 2,0 0,30 9,-26-5,52 5,252-10,-170-4,824 2,-980 0,0 0,0 1,0-1,0 1,0 0,0 0,9 3,-12-3,-1 0,1 0,0 0,0 1,-1-1,1 1,0-1,-1 1,1 0,-1-1,0 1,0 0,0 0,0 0,0 0,0 0,0 0,0 0,-1 0,1 3,0 4,-1 0,0 0,0 0,-1 0,0 0,0-1,-1 1,-1 0,-5 13,-5 25,9-18,-2 35,2-11,4-50,-1 0,1 1,-1-1,1 0,-1 0,0 1,0-1,-1 0,1 0,-1 0,1-1,-1 1,0 0,-4 4,3-5,1 0,-1-1,1 1,-1-1,1 0,-1 0,0 0,0 0,0 0,1-1,-1 1,0-1,0 0,0 0,0 0,-6 0,-97-12,-54-3,-538 14,333 3,-2197-2,3347 0,-768-1,0 0,-1-1,1-1,-1 0,1-1,-1-1,0-1,26-13,-17 9,33-10,12-4,-42 13,-1 1,2 1,-1 1,1 2,0 1,1 1,50 1,-74 3,9 1,1-1,-1-1,1 0,-1-1,0 0,0-2,24-7,264-94,-267 97,-1 2,1 1,48 0,-12 1,-40 0,0-2,61-19,-61 15,1 1,49-6,4 10,-50 4,70-12,-38-2,-1 0,1 2,70-3,-108 13,56-13,-56 9,53-5,223 10,-160 4,-145-2,28 2,-28-1,0-1,0 1,0-1,0 1,0-1,0 1,0-1,-1 1,1 0,0-1,0 1,-1 0,1 0,0 0,-1 0,1-1,-1 1,1 0,-1 0,1 0,-1 0,1 2,1 14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4.svg"/><Relationship Id="rId7" Type="http://schemas.openxmlformats.org/officeDocument/2006/relationships/image" Target="../media/image13.svg"/><Relationship Id="rId12" Type="http://schemas.openxmlformats.org/officeDocument/2006/relationships/image" Target="../media/image18.png"/><Relationship Id="rId17" Type="http://schemas.openxmlformats.org/officeDocument/2006/relationships/image" Target="../media/image23.svg"/><Relationship Id="rId2" Type="http://schemas.openxmlformats.org/officeDocument/2006/relationships/image" Target="../media/image3.png"/><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6.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5.png"/><Relationship Id="rId9" Type="http://schemas.openxmlformats.org/officeDocument/2006/relationships/image" Target="../media/image15.sv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4.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customXml" Target="../ink/ink5.xml"/></Relationships>
</file>

<file path=ppt/slides/_rels/slide10.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customXml" Target="../ink/ink6.xml"/><Relationship Id="rId1" Type="http://schemas.openxmlformats.org/officeDocument/2006/relationships/slideLayout" Target="../slideLayouts/slideLayout7.xml"/><Relationship Id="rId6" Type="http://schemas.openxmlformats.org/officeDocument/2006/relationships/customXml" Target="../ink/ink8.xml"/><Relationship Id="rId5" Type="http://schemas.openxmlformats.org/officeDocument/2006/relationships/image" Target="../media/image27.png"/><Relationship Id="rId4" Type="http://schemas.openxmlformats.org/officeDocument/2006/relationships/customXml" Target="../ink/ink7.xml"/><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10.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customXml" Target="../ink/ink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4.svg"/><Relationship Id="rId7" Type="http://schemas.openxmlformats.org/officeDocument/2006/relationships/image" Target="../media/image13.svg"/><Relationship Id="rId12" Type="http://schemas.openxmlformats.org/officeDocument/2006/relationships/image" Target="../media/image18.png"/><Relationship Id="rId17" Type="http://schemas.openxmlformats.org/officeDocument/2006/relationships/image" Target="../media/image23.svg"/><Relationship Id="rId2" Type="http://schemas.openxmlformats.org/officeDocument/2006/relationships/image" Target="../media/image3.png"/><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6.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5.png"/><Relationship Id="rId9" Type="http://schemas.openxmlformats.org/officeDocument/2006/relationships/image" Target="../media/image15.svg"/><Relationship Id="rId1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grpSp>
        <p:nvGrpSpPr>
          <p:cNvPr id="2" name="Group 2"/>
          <p:cNvGrpSpPr/>
          <p:nvPr/>
        </p:nvGrpSpPr>
        <p:grpSpPr>
          <a:xfrm rot="-10305289">
            <a:off x="-1311400" y="1319636"/>
            <a:ext cx="20830971" cy="4551981"/>
            <a:chOff x="0" y="0"/>
            <a:chExt cx="6981062" cy="1525501"/>
          </a:xfrm>
        </p:grpSpPr>
        <p:sp>
          <p:nvSpPr>
            <p:cNvPr id="3" name="Freeform 3"/>
            <p:cNvSpPr/>
            <p:nvPr/>
          </p:nvSpPr>
          <p:spPr>
            <a:xfrm>
              <a:off x="0" y="0"/>
              <a:ext cx="6981062" cy="1525501"/>
            </a:xfrm>
            <a:custGeom>
              <a:avLst/>
              <a:gdLst/>
              <a:ahLst/>
              <a:cxnLst/>
              <a:rect l="l" t="t" r="r" b="b"/>
              <a:pathLst>
                <a:path w="6981062" h="1525501">
                  <a:moveTo>
                    <a:pt x="0" y="0"/>
                  </a:moveTo>
                  <a:lnTo>
                    <a:pt x="6981062" y="0"/>
                  </a:lnTo>
                  <a:lnTo>
                    <a:pt x="6981062" y="1525501"/>
                  </a:lnTo>
                  <a:lnTo>
                    <a:pt x="0" y="1525501"/>
                  </a:lnTo>
                  <a:close/>
                </a:path>
              </a:pathLst>
            </a:custGeom>
            <a:solidFill>
              <a:srgbClr val="888FA1">
                <a:alpha val="15686"/>
              </a:srgbClr>
            </a:solidFill>
            <a:ln cap="sq">
              <a:noFill/>
              <a:prstDash val="solid"/>
              <a:miter/>
            </a:ln>
          </p:spPr>
        </p:sp>
        <p:sp>
          <p:nvSpPr>
            <p:cNvPr id="4" name="TextBox 4"/>
            <p:cNvSpPr txBox="1"/>
            <p:nvPr/>
          </p:nvSpPr>
          <p:spPr>
            <a:xfrm>
              <a:off x="0" y="-47625"/>
              <a:ext cx="6981062" cy="157312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rot="10486373">
            <a:off x="-381464" y="6086862"/>
            <a:ext cx="20830971" cy="2659104"/>
            <a:chOff x="0" y="0"/>
            <a:chExt cx="6981062" cy="891143"/>
          </a:xfrm>
        </p:grpSpPr>
        <p:sp>
          <p:nvSpPr>
            <p:cNvPr id="6" name="Freeform 6"/>
            <p:cNvSpPr/>
            <p:nvPr/>
          </p:nvSpPr>
          <p:spPr>
            <a:xfrm>
              <a:off x="0" y="0"/>
              <a:ext cx="6981062" cy="891143"/>
            </a:xfrm>
            <a:custGeom>
              <a:avLst/>
              <a:gdLst/>
              <a:ahLst/>
              <a:cxnLst/>
              <a:rect l="l" t="t" r="r" b="b"/>
              <a:pathLst>
                <a:path w="6981062" h="891143">
                  <a:moveTo>
                    <a:pt x="0" y="0"/>
                  </a:moveTo>
                  <a:lnTo>
                    <a:pt x="6981062" y="0"/>
                  </a:lnTo>
                  <a:lnTo>
                    <a:pt x="6981062" y="891143"/>
                  </a:lnTo>
                  <a:lnTo>
                    <a:pt x="0" y="891143"/>
                  </a:lnTo>
                  <a:close/>
                </a:path>
              </a:pathLst>
            </a:custGeom>
            <a:solidFill>
              <a:srgbClr val="888FA1">
                <a:alpha val="15686"/>
              </a:srgbClr>
            </a:solidFill>
            <a:ln cap="sq">
              <a:noFill/>
              <a:prstDash val="solid"/>
              <a:miter/>
            </a:ln>
          </p:spPr>
        </p:sp>
        <p:sp>
          <p:nvSpPr>
            <p:cNvPr id="7" name="TextBox 7"/>
            <p:cNvSpPr txBox="1"/>
            <p:nvPr/>
          </p:nvSpPr>
          <p:spPr>
            <a:xfrm>
              <a:off x="0" y="-47625"/>
              <a:ext cx="6981062" cy="938768"/>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354218" y="3307253"/>
            <a:ext cx="6382075" cy="638207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359F"/>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749714" y="3702750"/>
            <a:ext cx="5671627" cy="5555550"/>
            <a:chOff x="0" y="0"/>
            <a:chExt cx="829783" cy="812800"/>
          </a:xfrm>
        </p:grpSpPr>
        <p:sp>
          <p:nvSpPr>
            <p:cNvPr id="12" name="Freeform 12"/>
            <p:cNvSpPr/>
            <p:nvPr/>
          </p:nvSpPr>
          <p:spPr>
            <a:xfrm>
              <a:off x="0" y="0"/>
              <a:ext cx="829782" cy="812800"/>
            </a:xfrm>
            <a:custGeom>
              <a:avLst/>
              <a:gdLst/>
              <a:ahLst/>
              <a:cxnLst/>
              <a:rect l="l" t="t" r="r" b="b"/>
              <a:pathLst>
                <a:path w="829782" h="812800">
                  <a:moveTo>
                    <a:pt x="414891" y="0"/>
                  </a:moveTo>
                  <a:cubicBezTo>
                    <a:pt x="185753" y="0"/>
                    <a:pt x="0" y="181951"/>
                    <a:pt x="0" y="406400"/>
                  </a:cubicBezTo>
                  <a:cubicBezTo>
                    <a:pt x="0" y="630849"/>
                    <a:pt x="185753" y="812800"/>
                    <a:pt x="414891" y="812800"/>
                  </a:cubicBezTo>
                  <a:cubicBezTo>
                    <a:pt x="644029" y="812800"/>
                    <a:pt x="829782" y="630849"/>
                    <a:pt x="829782" y="406400"/>
                  </a:cubicBezTo>
                  <a:cubicBezTo>
                    <a:pt x="829782" y="181951"/>
                    <a:pt x="644029" y="0"/>
                    <a:pt x="414891" y="0"/>
                  </a:cubicBezTo>
                  <a:close/>
                </a:path>
              </a:pathLst>
            </a:custGeom>
            <a:blipFill>
              <a:blip r:embed="rId2"/>
              <a:stretch>
                <a:fillRect l="-25348" r="-25348"/>
              </a:stretch>
            </a:blipFill>
          </p:spPr>
        </p:sp>
      </p:grpSp>
      <p:grpSp>
        <p:nvGrpSpPr>
          <p:cNvPr id="13" name="Group 13"/>
          <p:cNvGrpSpPr/>
          <p:nvPr/>
        </p:nvGrpSpPr>
        <p:grpSpPr>
          <a:xfrm>
            <a:off x="777688" y="1342583"/>
            <a:ext cx="3426496" cy="342649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B47"/>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6" name="Group 16"/>
          <p:cNvGrpSpPr/>
          <p:nvPr/>
        </p:nvGrpSpPr>
        <p:grpSpPr>
          <a:xfrm>
            <a:off x="970951" y="1535846"/>
            <a:ext cx="3039971" cy="303997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34566" r="-34566"/>
              </a:stretch>
            </a:blipFill>
          </p:spPr>
        </p:sp>
      </p:grpSp>
      <p:sp>
        <p:nvSpPr>
          <p:cNvPr id="18" name="AutoShape 18"/>
          <p:cNvSpPr/>
          <p:nvPr/>
        </p:nvSpPr>
        <p:spPr>
          <a:xfrm>
            <a:off x="-75386" y="9843377"/>
            <a:ext cx="18363386" cy="0"/>
          </a:xfrm>
          <a:prstGeom prst="line">
            <a:avLst/>
          </a:prstGeom>
          <a:ln w="38100" cap="flat">
            <a:solidFill>
              <a:srgbClr val="888FA1"/>
            </a:solidFill>
            <a:prstDash val="solid"/>
            <a:headEnd type="none" w="sm" len="sm"/>
            <a:tailEnd type="none" w="sm" len="sm"/>
          </a:ln>
        </p:spPr>
      </p:sp>
      <p:sp>
        <p:nvSpPr>
          <p:cNvPr id="19" name="AutoShape 19"/>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20" name="AutoShape 20"/>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21" name="AutoShape 21"/>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22" name="Freeform 22"/>
          <p:cNvSpPr/>
          <p:nvPr/>
        </p:nvSpPr>
        <p:spPr>
          <a:xfrm rot="-5400000" flipV="1">
            <a:off x="8647383" y="7073784"/>
            <a:ext cx="1386639" cy="1386639"/>
          </a:xfrm>
          <a:custGeom>
            <a:avLst/>
            <a:gdLst/>
            <a:ahLst/>
            <a:cxnLst/>
            <a:rect l="l" t="t" r="r" b="b"/>
            <a:pathLst>
              <a:path w="1386639" h="1386639">
                <a:moveTo>
                  <a:pt x="0" y="1386639"/>
                </a:moveTo>
                <a:lnTo>
                  <a:pt x="1386638" y="1386639"/>
                </a:lnTo>
                <a:lnTo>
                  <a:pt x="1386638" y="0"/>
                </a:lnTo>
                <a:lnTo>
                  <a:pt x="0" y="0"/>
                </a:lnTo>
                <a:lnTo>
                  <a:pt x="0" y="138663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3" name="Freeform 23"/>
          <p:cNvSpPr/>
          <p:nvPr/>
        </p:nvSpPr>
        <p:spPr>
          <a:xfrm rot="5400000" flipV="1">
            <a:off x="15322843" y="937518"/>
            <a:ext cx="1492056" cy="1492056"/>
          </a:xfrm>
          <a:custGeom>
            <a:avLst/>
            <a:gdLst/>
            <a:ahLst/>
            <a:cxnLst/>
            <a:rect l="l" t="t" r="r" b="b"/>
            <a:pathLst>
              <a:path w="1492056" h="1492056">
                <a:moveTo>
                  <a:pt x="0" y="1492056"/>
                </a:moveTo>
                <a:lnTo>
                  <a:pt x="1492056" y="1492056"/>
                </a:lnTo>
                <a:lnTo>
                  <a:pt x="1492056" y="0"/>
                </a:lnTo>
                <a:lnTo>
                  <a:pt x="0" y="0"/>
                </a:lnTo>
                <a:lnTo>
                  <a:pt x="0" y="1492056"/>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Freeform 24"/>
          <p:cNvSpPr/>
          <p:nvPr/>
        </p:nvSpPr>
        <p:spPr>
          <a:xfrm rot="770762">
            <a:off x="4900908" y="1110518"/>
            <a:ext cx="1075343" cy="1075343"/>
          </a:xfrm>
          <a:custGeom>
            <a:avLst/>
            <a:gdLst/>
            <a:ahLst/>
            <a:cxnLst/>
            <a:rect l="l" t="t" r="r" b="b"/>
            <a:pathLst>
              <a:path w="1075343" h="1075343">
                <a:moveTo>
                  <a:pt x="0" y="0"/>
                </a:moveTo>
                <a:lnTo>
                  <a:pt x="1075343" y="0"/>
                </a:lnTo>
                <a:lnTo>
                  <a:pt x="1075343" y="1075343"/>
                </a:lnTo>
                <a:lnTo>
                  <a:pt x="0" y="1075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7964266" y="2479967"/>
            <a:ext cx="9295034" cy="4543425"/>
          </a:xfrm>
          <a:prstGeom prst="rect">
            <a:avLst/>
          </a:prstGeom>
        </p:spPr>
        <p:txBody>
          <a:bodyPr lIns="0" tIns="0" rIns="0" bIns="0" rtlCol="0" anchor="t">
            <a:spAutoFit/>
          </a:bodyPr>
          <a:lstStyle/>
          <a:p>
            <a:pPr algn="ctr">
              <a:lnSpc>
                <a:spcPts val="11999"/>
              </a:lnSpc>
            </a:pPr>
            <a:r>
              <a:rPr lang="en-US" sz="9999" b="1">
                <a:solidFill>
                  <a:srgbClr val="37359F"/>
                </a:solidFill>
                <a:latin typeface="Flatory Serif Bold"/>
                <a:ea typeface="Flatory Serif Bold"/>
                <a:cs typeface="Flatory Serif Bold"/>
                <a:sym typeface="Flatory Serif Bold"/>
              </a:rPr>
              <a:t>Electrical (BMS) department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1186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grpSp>
        <p:nvGrpSpPr>
          <p:cNvPr id="2" name="Group 2"/>
          <p:cNvGrpSpPr/>
          <p:nvPr/>
        </p:nvGrpSpPr>
        <p:grpSpPr>
          <a:xfrm rot="-10614678">
            <a:off x="-2267491" y="5149982"/>
            <a:ext cx="20830971" cy="2149633"/>
            <a:chOff x="0" y="0"/>
            <a:chExt cx="6981062" cy="720404"/>
          </a:xfrm>
        </p:grpSpPr>
        <p:sp>
          <p:nvSpPr>
            <p:cNvPr id="3" name="Freeform 3"/>
            <p:cNvSpPr/>
            <p:nvPr/>
          </p:nvSpPr>
          <p:spPr>
            <a:xfrm>
              <a:off x="0" y="0"/>
              <a:ext cx="6981062" cy="720404"/>
            </a:xfrm>
            <a:custGeom>
              <a:avLst/>
              <a:gdLst/>
              <a:ahLst/>
              <a:cxnLst/>
              <a:rect l="l" t="t" r="r" b="b"/>
              <a:pathLst>
                <a:path w="6981062" h="720404">
                  <a:moveTo>
                    <a:pt x="0" y="0"/>
                  </a:moveTo>
                  <a:lnTo>
                    <a:pt x="6981062" y="0"/>
                  </a:lnTo>
                  <a:lnTo>
                    <a:pt x="6981062" y="720404"/>
                  </a:lnTo>
                  <a:lnTo>
                    <a:pt x="0" y="720404"/>
                  </a:lnTo>
                  <a:close/>
                </a:path>
              </a:pathLst>
            </a:custGeom>
            <a:solidFill>
              <a:srgbClr val="888FA1">
                <a:alpha val="15686"/>
              </a:srgbClr>
            </a:solidFill>
            <a:ln cap="sq">
              <a:noFill/>
              <a:prstDash val="solid"/>
              <a:miter/>
            </a:ln>
          </p:spPr>
        </p:sp>
        <p:sp>
          <p:nvSpPr>
            <p:cNvPr id="4" name="TextBox 4"/>
            <p:cNvSpPr txBox="1"/>
            <p:nvPr/>
          </p:nvSpPr>
          <p:spPr>
            <a:xfrm>
              <a:off x="0" y="-47625"/>
              <a:ext cx="6981062" cy="768029"/>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rot="10484919">
            <a:off x="-1444751" y="2151505"/>
            <a:ext cx="20830971" cy="2356313"/>
            <a:chOff x="0" y="0"/>
            <a:chExt cx="6981062" cy="789669"/>
          </a:xfrm>
        </p:grpSpPr>
        <p:sp>
          <p:nvSpPr>
            <p:cNvPr id="6" name="Freeform 6"/>
            <p:cNvSpPr/>
            <p:nvPr/>
          </p:nvSpPr>
          <p:spPr>
            <a:xfrm>
              <a:off x="0" y="0"/>
              <a:ext cx="6981062" cy="789669"/>
            </a:xfrm>
            <a:custGeom>
              <a:avLst/>
              <a:gdLst/>
              <a:ahLst/>
              <a:cxnLst/>
              <a:rect l="l" t="t" r="r" b="b"/>
              <a:pathLst>
                <a:path w="6981062" h="789669">
                  <a:moveTo>
                    <a:pt x="0" y="0"/>
                  </a:moveTo>
                  <a:lnTo>
                    <a:pt x="6981062" y="0"/>
                  </a:lnTo>
                  <a:lnTo>
                    <a:pt x="6981062" y="789669"/>
                  </a:lnTo>
                  <a:lnTo>
                    <a:pt x="0" y="789669"/>
                  </a:lnTo>
                  <a:close/>
                </a:path>
              </a:pathLst>
            </a:custGeom>
            <a:solidFill>
              <a:srgbClr val="888FA1">
                <a:alpha val="15686"/>
              </a:srgbClr>
            </a:solidFill>
            <a:ln cap="sq">
              <a:noFill/>
              <a:prstDash val="solid"/>
              <a:miter/>
            </a:ln>
          </p:spPr>
        </p:sp>
        <p:sp>
          <p:nvSpPr>
            <p:cNvPr id="7" name="TextBox 7"/>
            <p:cNvSpPr txBox="1"/>
            <p:nvPr/>
          </p:nvSpPr>
          <p:spPr>
            <a:xfrm>
              <a:off x="0" y="-47625"/>
              <a:ext cx="6981062" cy="837294"/>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9900911">
            <a:off x="-1483377" y="7022551"/>
            <a:ext cx="20830971" cy="3534345"/>
            <a:chOff x="0" y="0"/>
            <a:chExt cx="6981062" cy="1184462"/>
          </a:xfrm>
        </p:grpSpPr>
        <p:sp>
          <p:nvSpPr>
            <p:cNvPr id="9" name="Freeform 9"/>
            <p:cNvSpPr/>
            <p:nvPr/>
          </p:nvSpPr>
          <p:spPr>
            <a:xfrm>
              <a:off x="0" y="0"/>
              <a:ext cx="6981062" cy="1184462"/>
            </a:xfrm>
            <a:custGeom>
              <a:avLst/>
              <a:gdLst/>
              <a:ahLst/>
              <a:cxnLst/>
              <a:rect l="l" t="t" r="r" b="b"/>
              <a:pathLst>
                <a:path w="6981062" h="1184462">
                  <a:moveTo>
                    <a:pt x="0" y="0"/>
                  </a:moveTo>
                  <a:lnTo>
                    <a:pt x="6981062" y="0"/>
                  </a:lnTo>
                  <a:lnTo>
                    <a:pt x="6981062" y="1184462"/>
                  </a:lnTo>
                  <a:lnTo>
                    <a:pt x="0" y="1184462"/>
                  </a:lnTo>
                  <a:close/>
                </a:path>
              </a:pathLst>
            </a:custGeom>
            <a:solidFill>
              <a:srgbClr val="888FA1">
                <a:alpha val="15686"/>
              </a:srgbClr>
            </a:solidFill>
            <a:ln cap="sq">
              <a:noFill/>
              <a:prstDash val="solid"/>
              <a:miter/>
            </a:ln>
          </p:spPr>
        </p:sp>
        <p:sp>
          <p:nvSpPr>
            <p:cNvPr id="10" name="TextBox 10"/>
            <p:cNvSpPr txBox="1"/>
            <p:nvPr/>
          </p:nvSpPr>
          <p:spPr>
            <a:xfrm>
              <a:off x="0" y="-47625"/>
              <a:ext cx="6981062" cy="1232087"/>
            </a:xfrm>
            <a:prstGeom prst="rect">
              <a:avLst/>
            </a:prstGeom>
          </p:spPr>
          <p:txBody>
            <a:bodyPr lIns="50800" tIns="50800" rIns="50800" bIns="50800" rtlCol="0" anchor="ctr"/>
            <a:lstStyle/>
            <a:p>
              <a:pPr algn="ctr">
                <a:lnSpc>
                  <a:spcPts val="3359"/>
                </a:lnSpc>
              </a:pPr>
              <a:endParaRPr/>
            </a:p>
          </p:txBody>
        </p:sp>
      </p:grpSp>
      <p:sp>
        <p:nvSpPr>
          <p:cNvPr id="11" name="AutoShape 11"/>
          <p:cNvSpPr/>
          <p:nvPr/>
        </p:nvSpPr>
        <p:spPr>
          <a:xfrm>
            <a:off x="-75386" y="9843377"/>
            <a:ext cx="18363386" cy="0"/>
          </a:xfrm>
          <a:prstGeom prst="line">
            <a:avLst/>
          </a:prstGeom>
          <a:ln w="38100" cap="flat">
            <a:solidFill>
              <a:srgbClr val="888FA1"/>
            </a:solidFill>
            <a:prstDash val="solid"/>
            <a:headEnd type="none" w="sm" len="sm"/>
            <a:tailEnd type="none" w="sm" len="sm"/>
          </a:ln>
        </p:spPr>
      </p:sp>
      <p:sp>
        <p:nvSpPr>
          <p:cNvPr id="12" name="AutoShape 12"/>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13" name="AutoShape 1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14" name="AutoShape 1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15" name="Freeform 15"/>
          <p:cNvSpPr/>
          <p:nvPr/>
        </p:nvSpPr>
        <p:spPr>
          <a:xfrm rot="-5400000" flipV="1">
            <a:off x="14834430" y="6931504"/>
            <a:ext cx="1855507" cy="1855507"/>
          </a:xfrm>
          <a:custGeom>
            <a:avLst/>
            <a:gdLst/>
            <a:ahLst/>
            <a:cxnLst/>
            <a:rect l="l" t="t" r="r" b="b"/>
            <a:pathLst>
              <a:path w="1855507" h="1855507">
                <a:moveTo>
                  <a:pt x="0" y="1855507"/>
                </a:moveTo>
                <a:lnTo>
                  <a:pt x="1855507" y="1855507"/>
                </a:lnTo>
                <a:lnTo>
                  <a:pt x="1855507" y="0"/>
                </a:lnTo>
                <a:lnTo>
                  <a:pt x="0" y="0"/>
                </a:lnTo>
                <a:lnTo>
                  <a:pt x="0" y="185550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rot="6572565">
            <a:off x="668981" y="1311046"/>
            <a:ext cx="1381319" cy="1381319"/>
          </a:xfrm>
          <a:custGeom>
            <a:avLst/>
            <a:gdLst/>
            <a:ahLst/>
            <a:cxnLst/>
            <a:rect l="l" t="t" r="r" b="b"/>
            <a:pathLst>
              <a:path w="1381319" h="1381319">
                <a:moveTo>
                  <a:pt x="0" y="0"/>
                </a:moveTo>
                <a:lnTo>
                  <a:pt x="1381319" y="0"/>
                </a:lnTo>
                <a:lnTo>
                  <a:pt x="1381319" y="1381319"/>
                </a:lnTo>
                <a:lnTo>
                  <a:pt x="0" y="13813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4307919" y="1019175"/>
            <a:ext cx="9672161" cy="1381125"/>
          </a:xfrm>
          <a:prstGeom prst="rect">
            <a:avLst/>
          </a:prstGeom>
        </p:spPr>
        <p:txBody>
          <a:bodyPr lIns="0" tIns="0" rIns="0" bIns="0" rtlCol="0" anchor="t">
            <a:spAutoFit/>
          </a:bodyPr>
          <a:lstStyle/>
          <a:p>
            <a:pPr marL="0" lvl="0" indent="0" algn="ctr">
              <a:lnSpc>
                <a:spcPts val="10800"/>
              </a:lnSpc>
              <a:spcBef>
                <a:spcPct val="0"/>
              </a:spcBef>
            </a:pPr>
            <a:r>
              <a:rPr lang="en-US" sz="9000" b="1">
                <a:solidFill>
                  <a:srgbClr val="37359F"/>
                </a:solidFill>
                <a:latin typeface="Flatory Serif Bold"/>
                <a:ea typeface="Flatory Serif Bold"/>
                <a:cs typeface="Flatory Serif Bold"/>
                <a:sym typeface="Flatory Serif Bold"/>
              </a:rPr>
              <a:t>Table Of Contents</a:t>
            </a:r>
          </a:p>
        </p:txBody>
      </p:sp>
      <p:sp>
        <p:nvSpPr>
          <p:cNvPr id="18" name="TextBox 18"/>
          <p:cNvSpPr txBox="1"/>
          <p:nvPr/>
        </p:nvSpPr>
        <p:spPr>
          <a:xfrm>
            <a:off x="5280209" y="5771281"/>
            <a:ext cx="3306074" cy="1066800"/>
          </a:xfrm>
          <a:prstGeom prst="rect">
            <a:avLst/>
          </a:prstGeom>
        </p:spPr>
        <p:txBody>
          <a:bodyPr lIns="0" tIns="0" rIns="0" bIns="0" rtlCol="0" anchor="t">
            <a:spAutoFit/>
          </a:bodyPr>
          <a:lstStyle/>
          <a:p>
            <a:pPr marL="0" lvl="0" indent="0" algn="ctr">
              <a:lnSpc>
                <a:spcPts val="4200"/>
              </a:lnSpc>
              <a:spcBef>
                <a:spcPct val="0"/>
              </a:spcBef>
            </a:pPr>
            <a:r>
              <a:rPr lang="en-US" sz="3500" b="1">
                <a:solidFill>
                  <a:srgbClr val="37359F"/>
                </a:solidFill>
                <a:latin typeface="Source Sans Pro Bold"/>
                <a:ea typeface="Source Sans Pro Bold"/>
                <a:cs typeface="Source Sans Pro Bold"/>
                <a:sym typeface="Source Sans Pro Bold"/>
              </a:rPr>
              <a:t>main electrical components</a:t>
            </a:r>
          </a:p>
        </p:txBody>
      </p:sp>
      <p:sp>
        <p:nvSpPr>
          <p:cNvPr id="19" name="TextBox 19"/>
          <p:cNvSpPr txBox="1"/>
          <p:nvPr/>
        </p:nvSpPr>
        <p:spPr>
          <a:xfrm>
            <a:off x="5280209" y="3410872"/>
            <a:ext cx="3306074" cy="1066800"/>
          </a:xfrm>
          <a:prstGeom prst="rect">
            <a:avLst/>
          </a:prstGeom>
        </p:spPr>
        <p:txBody>
          <a:bodyPr lIns="0" tIns="0" rIns="0" bIns="0" rtlCol="0" anchor="t">
            <a:spAutoFit/>
          </a:bodyPr>
          <a:lstStyle/>
          <a:p>
            <a:pPr marL="0" lvl="0" indent="0" algn="ctr">
              <a:lnSpc>
                <a:spcPts val="4200"/>
              </a:lnSpc>
              <a:spcBef>
                <a:spcPct val="0"/>
              </a:spcBef>
            </a:pPr>
            <a:r>
              <a:rPr lang="en-US" sz="3500" b="1">
                <a:solidFill>
                  <a:srgbClr val="37359F"/>
                </a:solidFill>
                <a:latin typeface="Source Sans Pro Bold"/>
                <a:ea typeface="Source Sans Pro Bold"/>
                <a:cs typeface="Source Sans Pro Bold"/>
                <a:sym typeface="Source Sans Pro Bold"/>
              </a:rPr>
              <a:t>Some basic terms</a:t>
            </a:r>
          </a:p>
        </p:txBody>
      </p:sp>
      <p:sp>
        <p:nvSpPr>
          <p:cNvPr id="20" name="TextBox 20"/>
          <p:cNvSpPr txBox="1"/>
          <p:nvPr/>
        </p:nvSpPr>
        <p:spPr>
          <a:xfrm>
            <a:off x="9261312" y="3119407"/>
            <a:ext cx="3306074" cy="824865"/>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000000"/>
                </a:solidFill>
                <a:latin typeface="Source Sans Pro"/>
                <a:ea typeface="Source Sans Pro"/>
                <a:cs typeface="Source Sans Pro"/>
                <a:sym typeface="Source Sans Pro"/>
              </a:rPr>
              <a:t>To understand the rule book properly</a:t>
            </a:r>
          </a:p>
        </p:txBody>
      </p:sp>
      <p:sp>
        <p:nvSpPr>
          <p:cNvPr id="21" name="TextBox 21"/>
          <p:cNvSpPr txBox="1"/>
          <p:nvPr/>
        </p:nvSpPr>
        <p:spPr>
          <a:xfrm>
            <a:off x="5036007" y="8075767"/>
            <a:ext cx="3794478" cy="533400"/>
          </a:xfrm>
          <a:prstGeom prst="rect">
            <a:avLst/>
          </a:prstGeom>
        </p:spPr>
        <p:txBody>
          <a:bodyPr lIns="0" tIns="0" rIns="0" bIns="0" rtlCol="0" anchor="t">
            <a:spAutoFit/>
          </a:bodyPr>
          <a:lstStyle/>
          <a:p>
            <a:pPr marL="0" lvl="0" indent="0" algn="ctr">
              <a:lnSpc>
                <a:spcPts val="4200"/>
              </a:lnSpc>
              <a:spcBef>
                <a:spcPct val="0"/>
              </a:spcBef>
            </a:pPr>
            <a:r>
              <a:rPr lang="en-US" sz="3500" b="1">
                <a:solidFill>
                  <a:srgbClr val="37359F"/>
                </a:solidFill>
                <a:latin typeface="Source Sans Pro Bold"/>
                <a:ea typeface="Source Sans Pro Bold"/>
                <a:cs typeface="Source Sans Pro Bold"/>
                <a:sym typeface="Source Sans Pro Bold"/>
              </a:rPr>
              <a:t>Circuit diagram</a:t>
            </a:r>
          </a:p>
        </p:txBody>
      </p:sp>
      <p:grpSp>
        <p:nvGrpSpPr>
          <p:cNvPr id="22" name="Group 22"/>
          <p:cNvGrpSpPr/>
          <p:nvPr/>
        </p:nvGrpSpPr>
        <p:grpSpPr>
          <a:xfrm>
            <a:off x="3027046" y="2876653"/>
            <a:ext cx="1713686" cy="1713686"/>
            <a:chOff x="0" y="0"/>
            <a:chExt cx="2284914" cy="2284914"/>
          </a:xfrm>
        </p:grpSpPr>
        <p:grpSp>
          <p:nvGrpSpPr>
            <p:cNvPr id="23" name="Group 23"/>
            <p:cNvGrpSpPr/>
            <p:nvPr/>
          </p:nvGrpSpPr>
          <p:grpSpPr>
            <a:xfrm>
              <a:off x="0" y="0"/>
              <a:ext cx="2284914" cy="228491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359F"/>
              </a:solidFill>
              <a:ln cap="sq">
                <a:noFill/>
                <a:prstDash val="solid"/>
                <a:miter/>
              </a:ln>
            </p:spPr>
          </p:sp>
          <p:sp>
            <p:nvSpPr>
              <p:cNvPr id="25" name="TextBox 25"/>
              <p:cNvSpPr txBox="1"/>
              <p:nvPr/>
            </p:nvSpPr>
            <p:spPr>
              <a:xfrm>
                <a:off x="76200" y="9525"/>
                <a:ext cx="660400" cy="727075"/>
              </a:xfrm>
              <a:prstGeom prst="rect">
                <a:avLst/>
              </a:prstGeom>
            </p:spPr>
            <p:txBody>
              <a:bodyPr lIns="50800" tIns="50800" rIns="50800" bIns="50800" rtlCol="0" anchor="ctr"/>
              <a:lstStyle/>
              <a:p>
                <a:pPr algn="ctr">
                  <a:lnSpc>
                    <a:spcPts val="3359"/>
                  </a:lnSpc>
                </a:pPr>
                <a:endParaRPr/>
              </a:p>
            </p:txBody>
          </p:sp>
        </p:grpSp>
        <p:grpSp>
          <p:nvGrpSpPr>
            <p:cNvPr id="26" name="Group 26"/>
            <p:cNvGrpSpPr/>
            <p:nvPr/>
          </p:nvGrpSpPr>
          <p:grpSpPr>
            <a:xfrm>
              <a:off x="168789" y="164345"/>
              <a:ext cx="1956223" cy="195622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B47"/>
              </a:solidFill>
              <a:ln cap="sq">
                <a:noFill/>
                <a:prstDash val="solid"/>
                <a:miter/>
              </a:ln>
            </p:spPr>
          </p:sp>
          <p:sp>
            <p:nvSpPr>
              <p:cNvPr id="28" name="TextBox 28"/>
              <p:cNvSpPr txBox="1"/>
              <p:nvPr/>
            </p:nvSpPr>
            <p:spPr>
              <a:xfrm>
                <a:off x="76200" y="9525"/>
                <a:ext cx="660400" cy="727075"/>
              </a:xfrm>
              <a:prstGeom prst="rect">
                <a:avLst/>
              </a:prstGeom>
            </p:spPr>
            <p:txBody>
              <a:bodyPr lIns="50800" tIns="50800" rIns="50800" bIns="50800" rtlCol="0" anchor="ctr"/>
              <a:lstStyle/>
              <a:p>
                <a:pPr algn="ctr">
                  <a:lnSpc>
                    <a:spcPts val="3359"/>
                  </a:lnSpc>
                </a:pPr>
                <a:endParaRPr/>
              </a:p>
            </p:txBody>
          </p:sp>
        </p:grpSp>
        <p:sp>
          <p:nvSpPr>
            <p:cNvPr id="29" name="TextBox 29"/>
            <p:cNvSpPr txBox="1"/>
            <p:nvPr/>
          </p:nvSpPr>
          <p:spPr>
            <a:xfrm>
              <a:off x="710893" y="-119358"/>
              <a:ext cx="897414" cy="2225518"/>
            </a:xfrm>
            <a:prstGeom prst="rect">
              <a:avLst/>
            </a:prstGeom>
          </p:spPr>
          <p:txBody>
            <a:bodyPr lIns="0" tIns="0" rIns="0" bIns="0" rtlCol="0" anchor="t">
              <a:spAutoFit/>
            </a:bodyPr>
            <a:lstStyle/>
            <a:p>
              <a:pPr algn="ctr">
                <a:lnSpc>
                  <a:spcPts val="14050"/>
                </a:lnSpc>
                <a:spcBef>
                  <a:spcPct val="0"/>
                </a:spcBef>
              </a:pPr>
              <a:r>
                <a:rPr lang="en-US" sz="10035" b="1">
                  <a:solidFill>
                    <a:srgbClr val="37359F"/>
                  </a:solidFill>
                  <a:latin typeface="Source Sans Pro Bold"/>
                  <a:ea typeface="Source Sans Pro Bold"/>
                  <a:cs typeface="Source Sans Pro Bold"/>
                  <a:sym typeface="Source Sans Pro Bold"/>
                </a:rPr>
                <a:t>1</a:t>
              </a:r>
            </a:p>
          </p:txBody>
        </p:sp>
      </p:grpSp>
      <p:sp>
        <p:nvSpPr>
          <p:cNvPr id="30" name="TextBox 30"/>
          <p:cNvSpPr txBox="1"/>
          <p:nvPr/>
        </p:nvSpPr>
        <p:spPr>
          <a:xfrm>
            <a:off x="9261312" y="5641508"/>
            <a:ext cx="3306074" cy="1243965"/>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000000"/>
                </a:solidFill>
                <a:latin typeface="Source Sans Pro"/>
                <a:ea typeface="Source Sans Pro"/>
                <a:cs typeface="Source Sans Pro"/>
                <a:sym typeface="Source Sans Pro"/>
              </a:rPr>
              <a:t>Rules and regulations about electrical components</a:t>
            </a:r>
          </a:p>
        </p:txBody>
      </p:sp>
      <p:sp>
        <p:nvSpPr>
          <p:cNvPr id="31" name="TextBox 31"/>
          <p:cNvSpPr txBox="1"/>
          <p:nvPr/>
        </p:nvSpPr>
        <p:spPr>
          <a:xfrm>
            <a:off x="9261312" y="7962146"/>
            <a:ext cx="3654405" cy="1663065"/>
          </a:xfrm>
          <a:prstGeom prst="rect">
            <a:avLst/>
          </a:prstGeom>
        </p:spPr>
        <p:txBody>
          <a:bodyPr lIns="0" tIns="0" rIns="0" bIns="0" rtlCol="0" anchor="t">
            <a:spAutoFit/>
          </a:bodyPr>
          <a:lstStyle/>
          <a:p>
            <a:pPr algn="ctr">
              <a:lnSpc>
                <a:spcPts val="3359"/>
              </a:lnSpc>
            </a:pPr>
            <a:r>
              <a:rPr lang="en-US" sz="2400">
                <a:solidFill>
                  <a:srgbClr val="000000"/>
                </a:solidFill>
                <a:latin typeface="Source Sans Pro"/>
                <a:ea typeface="Source Sans Pro"/>
                <a:cs typeface="Source Sans Pro"/>
                <a:sym typeface="Source Sans Pro"/>
              </a:rPr>
              <a:t>Try to arrange the electrical components according to the rule book.</a:t>
            </a:r>
          </a:p>
          <a:p>
            <a:pPr marL="0" lvl="0" indent="0" algn="ctr">
              <a:lnSpc>
                <a:spcPts val="3359"/>
              </a:lnSpc>
              <a:spcBef>
                <a:spcPct val="0"/>
              </a:spcBef>
            </a:pPr>
            <a:endParaRPr lang="en-US" sz="2400">
              <a:solidFill>
                <a:srgbClr val="000000"/>
              </a:solidFill>
              <a:latin typeface="Source Sans Pro"/>
              <a:ea typeface="Source Sans Pro"/>
              <a:cs typeface="Source Sans Pro"/>
              <a:sym typeface="Source Sans Pro"/>
            </a:endParaRPr>
          </a:p>
        </p:txBody>
      </p:sp>
      <p:sp>
        <p:nvSpPr>
          <p:cNvPr id="32" name="Freeform 32"/>
          <p:cNvSpPr/>
          <p:nvPr/>
        </p:nvSpPr>
        <p:spPr>
          <a:xfrm rot="5400000" flipV="1">
            <a:off x="15789023" y="4467542"/>
            <a:ext cx="1144788" cy="1144788"/>
          </a:xfrm>
          <a:custGeom>
            <a:avLst/>
            <a:gdLst/>
            <a:ahLst/>
            <a:cxnLst/>
            <a:rect l="l" t="t" r="r" b="b"/>
            <a:pathLst>
              <a:path w="1144788" h="1144788">
                <a:moveTo>
                  <a:pt x="0" y="1144789"/>
                </a:moveTo>
                <a:lnTo>
                  <a:pt x="1144788" y="1144789"/>
                </a:lnTo>
                <a:lnTo>
                  <a:pt x="1144788" y="0"/>
                </a:lnTo>
                <a:lnTo>
                  <a:pt x="0" y="0"/>
                </a:lnTo>
                <a:lnTo>
                  <a:pt x="0" y="1144789"/>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33" name="Group 33"/>
          <p:cNvGrpSpPr/>
          <p:nvPr/>
        </p:nvGrpSpPr>
        <p:grpSpPr>
          <a:xfrm>
            <a:off x="3027046" y="5190414"/>
            <a:ext cx="1713686" cy="1713686"/>
            <a:chOff x="0" y="0"/>
            <a:chExt cx="2284914" cy="2284914"/>
          </a:xfrm>
        </p:grpSpPr>
        <p:grpSp>
          <p:nvGrpSpPr>
            <p:cNvPr id="34" name="Group 34"/>
            <p:cNvGrpSpPr/>
            <p:nvPr/>
          </p:nvGrpSpPr>
          <p:grpSpPr>
            <a:xfrm>
              <a:off x="0" y="0"/>
              <a:ext cx="2284914" cy="2284914"/>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359F"/>
              </a:solidFill>
              <a:ln cap="sq">
                <a:noFill/>
                <a:prstDash val="solid"/>
                <a:miter/>
              </a:ln>
            </p:spPr>
          </p:sp>
          <p:sp>
            <p:nvSpPr>
              <p:cNvPr id="36" name="TextBox 36"/>
              <p:cNvSpPr txBox="1"/>
              <p:nvPr/>
            </p:nvSpPr>
            <p:spPr>
              <a:xfrm>
                <a:off x="76200" y="9525"/>
                <a:ext cx="660400" cy="727075"/>
              </a:xfrm>
              <a:prstGeom prst="rect">
                <a:avLst/>
              </a:prstGeom>
            </p:spPr>
            <p:txBody>
              <a:bodyPr lIns="50800" tIns="50800" rIns="50800" bIns="50800" rtlCol="0" anchor="ctr"/>
              <a:lstStyle/>
              <a:p>
                <a:pPr algn="ctr">
                  <a:lnSpc>
                    <a:spcPts val="3359"/>
                  </a:lnSpc>
                </a:pPr>
                <a:endParaRPr/>
              </a:p>
            </p:txBody>
          </p:sp>
        </p:grpSp>
        <p:grpSp>
          <p:nvGrpSpPr>
            <p:cNvPr id="37" name="Group 37"/>
            <p:cNvGrpSpPr/>
            <p:nvPr/>
          </p:nvGrpSpPr>
          <p:grpSpPr>
            <a:xfrm>
              <a:off x="168789" y="164345"/>
              <a:ext cx="1956223" cy="1956223"/>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B47"/>
              </a:solidFill>
              <a:ln cap="sq">
                <a:noFill/>
                <a:prstDash val="solid"/>
                <a:miter/>
              </a:ln>
            </p:spPr>
          </p:sp>
          <p:sp>
            <p:nvSpPr>
              <p:cNvPr id="39" name="TextBox 39"/>
              <p:cNvSpPr txBox="1"/>
              <p:nvPr/>
            </p:nvSpPr>
            <p:spPr>
              <a:xfrm>
                <a:off x="76200" y="9525"/>
                <a:ext cx="660400" cy="727075"/>
              </a:xfrm>
              <a:prstGeom prst="rect">
                <a:avLst/>
              </a:prstGeom>
            </p:spPr>
            <p:txBody>
              <a:bodyPr lIns="50800" tIns="50800" rIns="50800" bIns="50800" rtlCol="0" anchor="ctr"/>
              <a:lstStyle/>
              <a:p>
                <a:pPr algn="ctr">
                  <a:lnSpc>
                    <a:spcPts val="3359"/>
                  </a:lnSpc>
                </a:pPr>
                <a:endParaRPr/>
              </a:p>
            </p:txBody>
          </p:sp>
        </p:grpSp>
        <p:sp>
          <p:nvSpPr>
            <p:cNvPr id="40" name="TextBox 40"/>
            <p:cNvSpPr txBox="1"/>
            <p:nvPr/>
          </p:nvSpPr>
          <p:spPr>
            <a:xfrm>
              <a:off x="710893" y="-119358"/>
              <a:ext cx="897414" cy="2211323"/>
            </a:xfrm>
            <a:prstGeom prst="rect">
              <a:avLst/>
            </a:prstGeom>
          </p:spPr>
          <p:txBody>
            <a:bodyPr lIns="0" tIns="0" rIns="0" bIns="0" rtlCol="0" anchor="t">
              <a:spAutoFit/>
            </a:bodyPr>
            <a:lstStyle/>
            <a:p>
              <a:pPr algn="ctr">
                <a:lnSpc>
                  <a:spcPts val="14050"/>
                </a:lnSpc>
                <a:spcBef>
                  <a:spcPct val="0"/>
                </a:spcBef>
              </a:pPr>
              <a:r>
                <a:rPr lang="en-US" sz="10035" b="1">
                  <a:solidFill>
                    <a:srgbClr val="37359F"/>
                  </a:solidFill>
                  <a:latin typeface="Source Sans Pro Bold"/>
                  <a:ea typeface="Source Sans Pro Bold"/>
                  <a:cs typeface="Source Sans Pro Bold"/>
                  <a:sym typeface="Source Sans Pro Bold"/>
                </a:rPr>
                <a:t>2</a:t>
              </a:r>
            </a:p>
          </p:txBody>
        </p:sp>
      </p:grpSp>
      <p:grpSp>
        <p:nvGrpSpPr>
          <p:cNvPr id="41" name="Group 41"/>
          <p:cNvGrpSpPr/>
          <p:nvPr/>
        </p:nvGrpSpPr>
        <p:grpSpPr>
          <a:xfrm>
            <a:off x="3027046" y="7485624"/>
            <a:ext cx="1713686" cy="1713686"/>
            <a:chOff x="0" y="0"/>
            <a:chExt cx="2284914" cy="2284914"/>
          </a:xfrm>
        </p:grpSpPr>
        <p:grpSp>
          <p:nvGrpSpPr>
            <p:cNvPr id="42" name="Group 42"/>
            <p:cNvGrpSpPr/>
            <p:nvPr/>
          </p:nvGrpSpPr>
          <p:grpSpPr>
            <a:xfrm>
              <a:off x="0" y="0"/>
              <a:ext cx="2284914" cy="2284914"/>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359F"/>
              </a:solidFill>
              <a:ln cap="sq">
                <a:noFill/>
                <a:prstDash val="solid"/>
                <a:miter/>
              </a:ln>
            </p:spPr>
          </p:sp>
          <p:sp>
            <p:nvSpPr>
              <p:cNvPr id="44" name="TextBox 44"/>
              <p:cNvSpPr txBox="1"/>
              <p:nvPr/>
            </p:nvSpPr>
            <p:spPr>
              <a:xfrm>
                <a:off x="76200" y="9525"/>
                <a:ext cx="660400" cy="727075"/>
              </a:xfrm>
              <a:prstGeom prst="rect">
                <a:avLst/>
              </a:prstGeom>
            </p:spPr>
            <p:txBody>
              <a:bodyPr lIns="50800" tIns="50800" rIns="50800" bIns="50800" rtlCol="0" anchor="ctr"/>
              <a:lstStyle/>
              <a:p>
                <a:pPr algn="ctr">
                  <a:lnSpc>
                    <a:spcPts val="3359"/>
                  </a:lnSpc>
                </a:pPr>
                <a:endParaRPr/>
              </a:p>
            </p:txBody>
          </p:sp>
        </p:grpSp>
        <p:grpSp>
          <p:nvGrpSpPr>
            <p:cNvPr id="45" name="Group 45"/>
            <p:cNvGrpSpPr/>
            <p:nvPr/>
          </p:nvGrpSpPr>
          <p:grpSpPr>
            <a:xfrm>
              <a:off x="168789" y="164345"/>
              <a:ext cx="1956223" cy="1956223"/>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B47"/>
              </a:solidFill>
              <a:ln cap="sq">
                <a:noFill/>
                <a:prstDash val="solid"/>
                <a:miter/>
              </a:ln>
            </p:spPr>
          </p:sp>
          <p:sp>
            <p:nvSpPr>
              <p:cNvPr id="47" name="TextBox 47"/>
              <p:cNvSpPr txBox="1"/>
              <p:nvPr/>
            </p:nvSpPr>
            <p:spPr>
              <a:xfrm>
                <a:off x="76200" y="9525"/>
                <a:ext cx="660400" cy="727075"/>
              </a:xfrm>
              <a:prstGeom prst="rect">
                <a:avLst/>
              </a:prstGeom>
            </p:spPr>
            <p:txBody>
              <a:bodyPr lIns="50800" tIns="50800" rIns="50800" bIns="50800" rtlCol="0" anchor="ctr"/>
              <a:lstStyle/>
              <a:p>
                <a:pPr algn="ctr">
                  <a:lnSpc>
                    <a:spcPts val="3359"/>
                  </a:lnSpc>
                </a:pPr>
                <a:endParaRPr/>
              </a:p>
            </p:txBody>
          </p:sp>
        </p:grpSp>
        <p:sp>
          <p:nvSpPr>
            <p:cNvPr id="48" name="TextBox 48"/>
            <p:cNvSpPr txBox="1"/>
            <p:nvPr/>
          </p:nvSpPr>
          <p:spPr>
            <a:xfrm>
              <a:off x="710893" y="-119358"/>
              <a:ext cx="897414" cy="2211323"/>
            </a:xfrm>
            <a:prstGeom prst="rect">
              <a:avLst/>
            </a:prstGeom>
          </p:spPr>
          <p:txBody>
            <a:bodyPr lIns="0" tIns="0" rIns="0" bIns="0" rtlCol="0" anchor="t">
              <a:spAutoFit/>
            </a:bodyPr>
            <a:lstStyle/>
            <a:p>
              <a:pPr algn="ctr">
                <a:lnSpc>
                  <a:spcPts val="14050"/>
                </a:lnSpc>
                <a:spcBef>
                  <a:spcPct val="0"/>
                </a:spcBef>
              </a:pPr>
              <a:r>
                <a:rPr lang="en-US" sz="10035" b="1">
                  <a:solidFill>
                    <a:srgbClr val="37359F"/>
                  </a:solidFill>
                  <a:latin typeface="Source Sans Pro Bold"/>
                  <a:ea typeface="Source Sans Pro Bold"/>
                  <a:cs typeface="Source Sans Pro Bold"/>
                  <a:sym typeface="Source Sans Pro Bold"/>
                </a:rPr>
                <a:t>3</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grpSp>
        <p:nvGrpSpPr>
          <p:cNvPr id="2" name="Group 2"/>
          <p:cNvGrpSpPr/>
          <p:nvPr/>
        </p:nvGrpSpPr>
        <p:grpSpPr>
          <a:xfrm rot="932389">
            <a:off x="697066" y="-2364764"/>
            <a:ext cx="1794326" cy="13828873"/>
            <a:chOff x="0" y="0"/>
            <a:chExt cx="601331" cy="4634456"/>
          </a:xfrm>
        </p:grpSpPr>
        <p:sp>
          <p:nvSpPr>
            <p:cNvPr id="3" name="Freeform 3"/>
            <p:cNvSpPr/>
            <p:nvPr/>
          </p:nvSpPr>
          <p:spPr>
            <a:xfrm>
              <a:off x="0" y="0"/>
              <a:ext cx="601331" cy="4634456"/>
            </a:xfrm>
            <a:custGeom>
              <a:avLst/>
              <a:gdLst/>
              <a:ahLst/>
              <a:cxnLst/>
              <a:rect l="l" t="t" r="r" b="b"/>
              <a:pathLst>
                <a:path w="601331" h="4634456">
                  <a:moveTo>
                    <a:pt x="0" y="0"/>
                  </a:moveTo>
                  <a:lnTo>
                    <a:pt x="601331" y="0"/>
                  </a:lnTo>
                  <a:lnTo>
                    <a:pt x="601331" y="4634456"/>
                  </a:lnTo>
                  <a:lnTo>
                    <a:pt x="0" y="4634456"/>
                  </a:lnTo>
                  <a:close/>
                </a:path>
              </a:pathLst>
            </a:custGeom>
            <a:solidFill>
              <a:srgbClr val="888FA1">
                <a:alpha val="15686"/>
              </a:srgbClr>
            </a:solidFill>
            <a:ln cap="sq">
              <a:noFill/>
              <a:prstDash val="solid"/>
              <a:miter/>
            </a:ln>
          </p:spPr>
        </p:sp>
        <p:sp>
          <p:nvSpPr>
            <p:cNvPr id="4" name="TextBox 4"/>
            <p:cNvSpPr txBox="1"/>
            <p:nvPr/>
          </p:nvSpPr>
          <p:spPr>
            <a:xfrm>
              <a:off x="0" y="-47625"/>
              <a:ext cx="601331" cy="4682081"/>
            </a:xfrm>
            <a:prstGeom prst="rect">
              <a:avLst/>
            </a:prstGeom>
          </p:spPr>
          <p:txBody>
            <a:bodyPr lIns="50800" tIns="50800" rIns="50800" bIns="50800" rtlCol="0" anchor="ctr"/>
            <a:lstStyle/>
            <a:p>
              <a:pPr marL="616402" lvl="1" indent="-308201" algn="ctr">
                <a:lnSpc>
                  <a:spcPts val="3997"/>
                </a:lnSpc>
                <a:spcBef>
                  <a:spcPct val="0"/>
                </a:spcBef>
                <a:buFont typeface="Arial"/>
                <a:buChar char="•"/>
              </a:pPr>
              <a:endParaRPr/>
            </a:p>
          </p:txBody>
        </p:sp>
      </p:grpSp>
      <p:grpSp>
        <p:nvGrpSpPr>
          <p:cNvPr id="5" name="Group 5"/>
          <p:cNvGrpSpPr/>
          <p:nvPr/>
        </p:nvGrpSpPr>
        <p:grpSpPr>
          <a:xfrm rot="-2466208">
            <a:off x="9114225" y="-4156696"/>
            <a:ext cx="5118460" cy="18329471"/>
            <a:chOff x="0" y="0"/>
            <a:chExt cx="1715344" cy="6142737"/>
          </a:xfrm>
        </p:grpSpPr>
        <p:sp>
          <p:nvSpPr>
            <p:cNvPr id="6" name="Freeform 6"/>
            <p:cNvSpPr/>
            <p:nvPr/>
          </p:nvSpPr>
          <p:spPr>
            <a:xfrm>
              <a:off x="0" y="0"/>
              <a:ext cx="1715344" cy="6142737"/>
            </a:xfrm>
            <a:custGeom>
              <a:avLst/>
              <a:gdLst/>
              <a:ahLst/>
              <a:cxnLst/>
              <a:rect l="l" t="t" r="r" b="b"/>
              <a:pathLst>
                <a:path w="1715344" h="6142737">
                  <a:moveTo>
                    <a:pt x="0" y="0"/>
                  </a:moveTo>
                  <a:lnTo>
                    <a:pt x="1715344" y="0"/>
                  </a:lnTo>
                  <a:lnTo>
                    <a:pt x="1715344" y="6142737"/>
                  </a:lnTo>
                  <a:lnTo>
                    <a:pt x="0" y="6142737"/>
                  </a:lnTo>
                  <a:close/>
                </a:path>
              </a:pathLst>
            </a:custGeom>
            <a:solidFill>
              <a:srgbClr val="888FA1">
                <a:alpha val="15686"/>
              </a:srgbClr>
            </a:solidFill>
            <a:ln cap="sq">
              <a:noFill/>
              <a:prstDash val="solid"/>
              <a:miter/>
            </a:ln>
          </p:spPr>
        </p:sp>
        <p:sp>
          <p:nvSpPr>
            <p:cNvPr id="7" name="TextBox 7"/>
            <p:cNvSpPr txBox="1"/>
            <p:nvPr/>
          </p:nvSpPr>
          <p:spPr>
            <a:xfrm>
              <a:off x="0" y="-47625"/>
              <a:ext cx="1715344" cy="6190362"/>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986350">
            <a:off x="15675951" y="-1471383"/>
            <a:ext cx="2220985" cy="13828873"/>
            <a:chOff x="0" y="0"/>
            <a:chExt cx="744317" cy="4634456"/>
          </a:xfrm>
        </p:grpSpPr>
        <p:sp>
          <p:nvSpPr>
            <p:cNvPr id="9" name="Freeform 9"/>
            <p:cNvSpPr/>
            <p:nvPr/>
          </p:nvSpPr>
          <p:spPr>
            <a:xfrm>
              <a:off x="0" y="0"/>
              <a:ext cx="744317" cy="4634456"/>
            </a:xfrm>
            <a:custGeom>
              <a:avLst/>
              <a:gdLst/>
              <a:ahLst/>
              <a:cxnLst/>
              <a:rect l="l" t="t" r="r" b="b"/>
              <a:pathLst>
                <a:path w="744317" h="4634456">
                  <a:moveTo>
                    <a:pt x="0" y="0"/>
                  </a:moveTo>
                  <a:lnTo>
                    <a:pt x="744317" y="0"/>
                  </a:lnTo>
                  <a:lnTo>
                    <a:pt x="744317" y="4634456"/>
                  </a:lnTo>
                  <a:lnTo>
                    <a:pt x="0" y="4634456"/>
                  </a:lnTo>
                  <a:close/>
                </a:path>
              </a:pathLst>
            </a:custGeom>
            <a:solidFill>
              <a:srgbClr val="888FA1">
                <a:alpha val="15686"/>
              </a:srgbClr>
            </a:solidFill>
            <a:ln cap="sq">
              <a:noFill/>
              <a:prstDash val="solid"/>
              <a:miter/>
            </a:ln>
          </p:spPr>
        </p:sp>
        <p:sp>
          <p:nvSpPr>
            <p:cNvPr id="10" name="TextBox 10"/>
            <p:cNvSpPr txBox="1"/>
            <p:nvPr/>
          </p:nvSpPr>
          <p:spPr>
            <a:xfrm>
              <a:off x="0" y="-47625"/>
              <a:ext cx="744317" cy="4682081"/>
            </a:xfrm>
            <a:prstGeom prst="rect">
              <a:avLst/>
            </a:prstGeom>
          </p:spPr>
          <p:txBody>
            <a:bodyPr lIns="50800" tIns="50800" rIns="50800" bIns="50800" rtlCol="0" anchor="ctr"/>
            <a:lstStyle/>
            <a:p>
              <a:pPr algn="ctr">
                <a:lnSpc>
                  <a:spcPts val="3359"/>
                </a:lnSpc>
              </a:pPr>
              <a:endParaRPr/>
            </a:p>
          </p:txBody>
        </p:sp>
      </p:grpSp>
      <p:sp>
        <p:nvSpPr>
          <p:cNvPr id="11" name="AutoShape 11"/>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12" name="AutoShape 12"/>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13" name="AutoShape 13"/>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14" name="AutoShape 14"/>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15" name="TextBox 15"/>
          <p:cNvSpPr txBox="1"/>
          <p:nvPr/>
        </p:nvSpPr>
        <p:spPr>
          <a:xfrm>
            <a:off x="1166935" y="5301163"/>
            <a:ext cx="8226701" cy="3028950"/>
          </a:xfrm>
          <a:prstGeom prst="rect">
            <a:avLst/>
          </a:prstGeom>
        </p:spPr>
        <p:txBody>
          <a:bodyPr lIns="0" tIns="0" rIns="0" bIns="0" rtlCol="0" anchor="t">
            <a:spAutoFit/>
          </a:bodyPr>
          <a:lstStyle/>
          <a:p>
            <a:pPr marL="0" lvl="0" indent="0" algn="ctr">
              <a:lnSpc>
                <a:spcPts val="11999"/>
              </a:lnSpc>
              <a:spcBef>
                <a:spcPct val="0"/>
              </a:spcBef>
            </a:pPr>
            <a:r>
              <a:rPr lang="en-US" sz="9999" b="1">
                <a:solidFill>
                  <a:srgbClr val="37359F"/>
                </a:solidFill>
                <a:latin typeface="Flatory Serif Bold"/>
                <a:ea typeface="Flatory Serif Bold"/>
                <a:cs typeface="Flatory Serif Bold"/>
                <a:sym typeface="Flatory Serif Bold"/>
              </a:rPr>
              <a:t>Some basic terms</a:t>
            </a:r>
          </a:p>
        </p:txBody>
      </p:sp>
      <p:sp>
        <p:nvSpPr>
          <p:cNvPr id="16" name="TextBox 16"/>
          <p:cNvSpPr txBox="1"/>
          <p:nvPr/>
        </p:nvSpPr>
        <p:spPr>
          <a:xfrm>
            <a:off x="4846958" y="2240933"/>
            <a:ext cx="866656" cy="2902567"/>
          </a:xfrm>
          <a:prstGeom prst="rect">
            <a:avLst/>
          </a:prstGeom>
        </p:spPr>
        <p:txBody>
          <a:bodyPr lIns="0" tIns="0" rIns="0" bIns="0" rtlCol="0" anchor="t">
            <a:spAutoFit/>
          </a:bodyPr>
          <a:lstStyle/>
          <a:p>
            <a:pPr algn="ctr">
              <a:lnSpc>
                <a:spcPts val="23766"/>
              </a:lnSpc>
              <a:spcBef>
                <a:spcPct val="0"/>
              </a:spcBef>
            </a:pPr>
            <a:r>
              <a:rPr lang="en-US" sz="16975" b="1">
                <a:solidFill>
                  <a:srgbClr val="37359F"/>
                </a:solidFill>
                <a:latin typeface="Flatory Serif Bold"/>
                <a:ea typeface="Flatory Serif Bold"/>
                <a:cs typeface="Flatory Serif Bold"/>
                <a:sym typeface="Flatory Serif Bold"/>
              </a:rPr>
              <a:t>1</a:t>
            </a:r>
          </a:p>
        </p:txBody>
      </p:sp>
      <p:sp>
        <p:nvSpPr>
          <p:cNvPr id="17" name="Freeform 17"/>
          <p:cNvSpPr/>
          <p:nvPr/>
        </p:nvSpPr>
        <p:spPr>
          <a:xfrm rot="5400000" flipV="1">
            <a:off x="6164628" y="1511337"/>
            <a:ext cx="1841009" cy="1841009"/>
          </a:xfrm>
          <a:custGeom>
            <a:avLst/>
            <a:gdLst/>
            <a:ahLst/>
            <a:cxnLst/>
            <a:rect l="l" t="t" r="r" b="b"/>
            <a:pathLst>
              <a:path w="1841009" h="1841009">
                <a:moveTo>
                  <a:pt x="0" y="1841009"/>
                </a:moveTo>
                <a:lnTo>
                  <a:pt x="1841009" y="1841009"/>
                </a:lnTo>
                <a:lnTo>
                  <a:pt x="1841009" y="0"/>
                </a:lnTo>
                <a:lnTo>
                  <a:pt x="0" y="0"/>
                </a:lnTo>
                <a:lnTo>
                  <a:pt x="0" y="184100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5400000" flipV="1">
            <a:off x="912671" y="7984464"/>
            <a:ext cx="1226105" cy="1226105"/>
          </a:xfrm>
          <a:custGeom>
            <a:avLst/>
            <a:gdLst/>
            <a:ahLst/>
            <a:cxnLst/>
            <a:rect l="l" t="t" r="r" b="b"/>
            <a:pathLst>
              <a:path w="1226105" h="1226105">
                <a:moveTo>
                  <a:pt x="0" y="1226105"/>
                </a:moveTo>
                <a:lnTo>
                  <a:pt x="1226105" y="1226105"/>
                </a:lnTo>
                <a:lnTo>
                  <a:pt x="1226105" y="0"/>
                </a:lnTo>
                <a:lnTo>
                  <a:pt x="0" y="0"/>
                </a:lnTo>
                <a:lnTo>
                  <a:pt x="0" y="122610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10282365" y="1794721"/>
            <a:ext cx="9592691" cy="6155531"/>
          </a:xfrm>
          <a:prstGeom prst="rect">
            <a:avLst/>
          </a:prstGeom>
        </p:spPr>
        <p:txBody>
          <a:bodyPr lIns="0" tIns="0" rIns="0" bIns="0" rtlCol="0" anchor="t">
            <a:spAutoFit/>
          </a:bodyPr>
          <a:lstStyle/>
          <a:p>
            <a:pPr marL="616402" lvl="1" indent="-308201" algn="l">
              <a:lnSpc>
                <a:spcPts val="3997"/>
              </a:lnSpc>
              <a:buFont typeface="Arial"/>
              <a:buChar char="•"/>
            </a:pPr>
            <a:r>
              <a:rPr lang="en-US" sz="2855" b="1">
                <a:solidFill>
                  <a:srgbClr val="212223"/>
                </a:solidFill>
                <a:latin typeface="Flatory Serif Bold"/>
                <a:ea typeface="Flatory Serif Bold"/>
                <a:cs typeface="Flatory Serif Bold"/>
                <a:sym typeface="Flatory Serif Bold"/>
              </a:rPr>
              <a:t>High Voltage (HV)</a:t>
            </a:r>
          </a:p>
          <a:p>
            <a:pPr marL="616402" lvl="1" indent="-308201" algn="l">
              <a:lnSpc>
                <a:spcPts val="3997"/>
              </a:lnSpc>
              <a:buFont typeface="Arial"/>
              <a:buChar char="•"/>
            </a:pPr>
            <a:r>
              <a:rPr lang="en-US" sz="2855" b="1">
                <a:solidFill>
                  <a:srgbClr val="212223"/>
                </a:solidFill>
                <a:latin typeface="Flatory Serif Bold"/>
                <a:ea typeface="Flatory Serif Bold"/>
                <a:cs typeface="Flatory Serif Bold"/>
                <a:sym typeface="Flatory Serif Bold"/>
              </a:rPr>
              <a:t>Tractive System</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Tractive System Voltage</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Tractive System Accumulator</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Tractive System Accumulator Container</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HV Rated Cut-Off Switch</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Accumulator Isolation Relay (AIR)</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Low Voltage (LV)</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Ignition/Master Switch</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Kill Switch</a:t>
            </a:r>
          </a:p>
          <a:p>
            <a:pPr marL="616402" lvl="1" indent="-308201" algn="l">
              <a:lnSpc>
                <a:spcPts val="3997"/>
              </a:lnSpc>
              <a:spcBef>
                <a:spcPct val="0"/>
              </a:spcBef>
              <a:buFont typeface="Arial"/>
              <a:buChar char="•"/>
            </a:pPr>
            <a:r>
              <a:rPr lang="en-US" sz="2855" b="1">
                <a:solidFill>
                  <a:srgbClr val="212223"/>
                </a:solidFill>
                <a:latin typeface="Flatory Serif Bold"/>
                <a:ea typeface="Flatory Serif Bold"/>
                <a:cs typeface="Flatory Serif Bold"/>
                <a:sym typeface="Flatory Serif Bold"/>
              </a:rPr>
              <a:t>Tractive System Active Light (TSAL)</a:t>
            </a:r>
          </a:p>
          <a:p>
            <a:pPr algn="ctr">
              <a:lnSpc>
                <a:spcPts val="3997"/>
              </a:lnSpc>
              <a:spcBef>
                <a:spcPct val="0"/>
              </a:spcBef>
            </a:pPr>
            <a:endParaRPr lang="en-US" sz="2855" b="1">
              <a:solidFill>
                <a:srgbClr val="212223"/>
              </a:solidFill>
              <a:latin typeface="Flatory Serif Bold"/>
              <a:ea typeface="Flatory Serif Bold"/>
              <a:cs typeface="Flatory Serif Bold"/>
              <a:sym typeface="Flatory Serif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TextBox 6"/>
          <p:cNvSpPr txBox="1"/>
          <p:nvPr/>
        </p:nvSpPr>
        <p:spPr>
          <a:xfrm>
            <a:off x="428819" y="382599"/>
            <a:ext cx="17430362" cy="10469499"/>
          </a:xfrm>
          <a:prstGeom prst="rect">
            <a:avLst/>
          </a:prstGeom>
        </p:spPr>
        <p:txBody>
          <a:bodyPr lIns="0" tIns="0" rIns="0" bIns="0" rtlCol="0" anchor="t">
            <a:spAutoFit/>
          </a:bodyPr>
          <a:lstStyle/>
          <a:p>
            <a:pPr algn="l">
              <a:lnSpc>
                <a:spcPts val="4128"/>
              </a:lnSpc>
            </a:pPr>
            <a:r>
              <a:rPr lang="en-US" sz="3200" b="1" spc="-163">
                <a:solidFill>
                  <a:srgbClr val="000000"/>
                </a:solidFill>
                <a:latin typeface="Glacial Indifference Bold"/>
                <a:ea typeface="Glacial Indifference Bold"/>
                <a:cs typeface="Glacial Indifference Bold"/>
                <a:sym typeface="Glacial Indifference Bold"/>
              </a:rPr>
              <a:t>1 .HIGH VOLTAGE (HV):</a:t>
            </a:r>
          </a:p>
          <a:p>
            <a:pPr algn="l">
              <a:lnSpc>
                <a:spcPts val="4128"/>
              </a:lnSpc>
            </a:pPr>
            <a:r>
              <a:rPr lang="en-US" sz="3200" spc="-163">
                <a:solidFill>
                  <a:srgbClr val="000000"/>
                </a:solidFill>
                <a:latin typeface="Glacial Indifference"/>
                <a:ea typeface="Glacial Indifference"/>
                <a:cs typeface="Glacial Indifference"/>
                <a:sym typeface="Glacial Indifference"/>
              </a:rPr>
              <a:t> In automotive engineering, “High Voltage” is defined as voltage greater than </a:t>
            </a:r>
            <a:r>
              <a:rPr lang="en-US" sz="3200" spc="-163">
                <a:solidFill>
                  <a:srgbClr val="000000"/>
                </a:solidFill>
                <a:highlight>
                  <a:srgbClr val="FFFF00"/>
                </a:highlight>
                <a:latin typeface="Glacial Indifference"/>
                <a:ea typeface="Glacial Indifference"/>
                <a:cs typeface="Glacial Indifference"/>
                <a:sym typeface="Glacial Indifference"/>
              </a:rPr>
              <a:t>30 VAC </a:t>
            </a:r>
            <a:r>
              <a:rPr lang="en-US" sz="3200" spc="-163">
                <a:solidFill>
                  <a:srgbClr val="000000"/>
                </a:solidFill>
                <a:latin typeface="Glacial Indifference"/>
                <a:ea typeface="Glacial Indifference"/>
                <a:cs typeface="Glacial Indifference"/>
                <a:sym typeface="Glacial Indifference"/>
              </a:rPr>
              <a:t>root mean square (RMS) or </a:t>
            </a:r>
            <a:r>
              <a:rPr lang="en-US" sz="3200" spc="-163">
                <a:solidFill>
                  <a:srgbClr val="000000"/>
                </a:solidFill>
                <a:highlight>
                  <a:srgbClr val="FFFF00"/>
                </a:highlight>
                <a:latin typeface="Glacial Indifference"/>
                <a:ea typeface="Glacial Indifference"/>
                <a:cs typeface="Glacial Indifference"/>
                <a:sym typeface="Glacial Indifference"/>
              </a:rPr>
              <a:t>60 VDC.</a:t>
            </a:r>
          </a:p>
          <a:p>
            <a:pPr algn="l">
              <a:lnSpc>
                <a:spcPts val="4128"/>
              </a:lnSpc>
            </a:pPr>
            <a:r>
              <a:rPr lang="en-US" sz="3200" spc="-163">
                <a:solidFill>
                  <a:srgbClr val="000000"/>
                </a:solidFill>
                <a:latin typeface="Glacial Indifference"/>
                <a:ea typeface="Glacial Indifference"/>
                <a:cs typeface="Glacial Indifference"/>
                <a:sym typeface="Glacial Indifference"/>
              </a:rPr>
              <a:t> </a:t>
            </a:r>
          </a:p>
          <a:p>
            <a:pPr algn="l">
              <a:lnSpc>
                <a:spcPts val="4128"/>
              </a:lnSpc>
            </a:pPr>
            <a:r>
              <a:rPr lang="en-US" sz="3200" spc="-163">
                <a:solidFill>
                  <a:srgbClr val="000000"/>
                </a:solidFill>
                <a:latin typeface="Source Sans Pro"/>
                <a:ea typeface="Source Sans Pro"/>
                <a:cs typeface="Source Sans Pro"/>
                <a:sym typeface="Source Sans Pro"/>
              </a:rPr>
              <a:t> </a:t>
            </a:r>
            <a:r>
              <a:rPr lang="en-US" sz="3200" b="1" spc="-163">
                <a:solidFill>
                  <a:srgbClr val="000000"/>
                </a:solidFill>
                <a:latin typeface="Source Sans Pro Bold"/>
                <a:ea typeface="Source Sans Pro Bold"/>
                <a:cs typeface="Source Sans Pro Bold"/>
                <a:sym typeface="Source Sans Pro Bold"/>
              </a:rPr>
              <a:t>2 .TRACTIVE SYSTEM:</a:t>
            </a:r>
          </a:p>
          <a:p>
            <a:pPr algn="l">
              <a:lnSpc>
                <a:spcPts val="4128"/>
              </a:lnSpc>
            </a:pPr>
            <a:r>
              <a:rPr lang="en-US" sz="3200" spc="-163">
                <a:solidFill>
                  <a:srgbClr val="000000"/>
                </a:solidFill>
                <a:latin typeface="Source Sans Pro"/>
                <a:ea typeface="Source Sans Pro"/>
                <a:cs typeface="Source Sans Pro"/>
                <a:sym typeface="Source Sans Pro"/>
              </a:rPr>
              <a:t> The tractive system of the vehicle is defined as complete electrical system of every part that is electrically connected to the motor(s) and tractive system Accumulator(s).</a:t>
            </a:r>
          </a:p>
          <a:p>
            <a:pPr algn="l">
              <a:lnSpc>
                <a:spcPts val="4128"/>
              </a:lnSpc>
            </a:pPr>
            <a:endParaRPr lang="en-US" sz="3200" spc="-163">
              <a:solidFill>
                <a:srgbClr val="000000"/>
              </a:solidFill>
              <a:latin typeface="Source Sans Pro"/>
              <a:ea typeface="Source Sans Pro"/>
              <a:cs typeface="Source Sans Pro"/>
              <a:sym typeface="Source Sans Pro"/>
            </a:endParaRPr>
          </a:p>
          <a:p>
            <a:pPr algn="l">
              <a:lnSpc>
                <a:spcPts val="4128"/>
              </a:lnSpc>
            </a:pPr>
            <a:r>
              <a:rPr lang="en-US" sz="3200" spc="-163">
                <a:solidFill>
                  <a:srgbClr val="000000"/>
                </a:solidFill>
                <a:latin typeface="Source Sans Pro"/>
                <a:ea typeface="Source Sans Pro"/>
                <a:cs typeface="Source Sans Pro"/>
                <a:sym typeface="Source Sans Pro"/>
              </a:rPr>
              <a:t> </a:t>
            </a:r>
            <a:r>
              <a:rPr lang="en-US" sz="3200" b="1" spc="-163">
                <a:solidFill>
                  <a:srgbClr val="000000"/>
                </a:solidFill>
                <a:latin typeface="Source Sans Pro Bold"/>
                <a:ea typeface="Source Sans Pro Bold"/>
                <a:cs typeface="Source Sans Pro Bold"/>
                <a:sym typeface="Source Sans Pro Bold"/>
              </a:rPr>
              <a:t>3 .TRACTIVE SYSTEM VOLTAGE: </a:t>
            </a:r>
          </a:p>
          <a:p>
            <a:pPr algn="l">
              <a:lnSpc>
                <a:spcPts val="4128"/>
              </a:lnSpc>
            </a:pPr>
            <a:r>
              <a:rPr lang="en-US" sz="3200" spc="-163">
                <a:solidFill>
                  <a:srgbClr val="000000"/>
                </a:solidFill>
                <a:latin typeface="Source Sans Pro"/>
                <a:ea typeface="Source Sans Pro"/>
                <a:cs typeface="Source Sans Pro"/>
                <a:sym typeface="Source Sans Pro"/>
              </a:rPr>
              <a:t>The Voltage between any two terminals of the tractive system. The tractive system voltage shall not exceed 60V DC in any condition.</a:t>
            </a:r>
          </a:p>
          <a:p>
            <a:pPr algn="l">
              <a:lnSpc>
                <a:spcPts val="4128"/>
              </a:lnSpc>
            </a:pPr>
            <a:endParaRPr lang="en-US" sz="3200" spc="-163">
              <a:solidFill>
                <a:srgbClr val="000000"/>
              </a:solidFill>
              <a:latin typeface="Source Sans Pro"/>
              <a:ea typeface="Source Sans Pro"/>
              <a:cs typeface="Source Sans Pro"/>
              <a:sym typeface="Source Sans Pro"/>
            </a:endParaRPr>
          </a:p>
          <a:p>
            <a:pPr algn="l">
              <a:lnSpc>
                <a:spcPts val="4128"/>
              </a:lnSpc>
            </a:pPr>
            <a:r>
              <a:rPr lang="en-US" sz="3200" spc="-163">
                <a:solidFill>
                  <a:srgbClr val="000000"/>
                </a:solidFill>
                <a:latin typeface="Source Sans Pro"/>
                <a:ea typeface="Source Sans Pro"/>
                <a:cs typeface="Source Sans Pro"/>
                <a:sym typeface="Source Sans Pro"/>
              </a:rPr>
              <a:t> </a:t>
            </a:r>
            <a:r>
              <a:rPr lang="en-US" sz="3200" b="1" spc="-163">
                <a:solidFill>
                  <a:srgbClr val="000000"/>
                </a:solidFill>
                <a:latin typeface="Source Sans Pro Bold"/>
                <a:ea typeface="Source Sans Pro Bold"/>
                <a:cs typeface="Source Sans Pro Bold"/>
                <a:sym typeface="Source Sans Pro Bold"/>
              </a:rPr>
              <a:t>4 .TRACTIVE SYSTEM ACCUMULATOR:</a:t>
            </a:r>
          </a:p>
          <a:p>
            <a:pPr algn="l">
              <a:lnSpc>
                <a:spcPts val="4128"/>
              </a:lnSpc>
            </a:pPr>
            <a:r>
              <a:rPr lang="en-US" sz="3200" spc="-163">
                <a:solidFill>
                  <a:srgbClr val="000000"/>
                </a:solidFill>
                <a:latin typeface="Source Sans Pro"/>
                <a:ea typeface="Source Sans Pro"/>
                <a:cs typeface="Source Sans Pro"/>
                <a:sym typeface="Source Sans Pro"/>
              </a:rPr>
              <a:t> The tractive system Accumulator(s) is defined as complete assembly / pack of all the </a:t>
            </a:r>
            <a:r>
              <a:rPr lang="en-US" sz="3200" spc="-163">
                <a:solidFill>
                  <a:srgbClr val="000000"/>
                </a:solidFill>
                <a:highlight>
                  <a:srgbClr val="FFFF00"/>
                </a:highlight>
                <a:latin typeface="Source Sans Pro"/>
                <a:ea typeface="Source Sans Pro"/>
                <a:cs typeface="Source Sans Pro"/>
                <a:sym typeface="Source Sans Pro"/>
              </a:rPr>
              <a:t>battery cells</a:t>
            </a:r>
            <a:r>
              <a:rPr lang="en-US" sz="3200" spc="-163">
                <a:solidFill>
                  <a:srgbClr val="000000"/>
                </a:solidFill>
                <a:latin typeface="Source Sans Pro"/>
                <a:ea typeface="Source Sans Pro"/>
                <a:cs typeface="Source Sans Pro"/>
                <a:sym typeface="Source Sans Pro"/>
              </a:rPr>
              <a:t> that store the electrical energy to be used by the tractive system along with the corresponding contactor, </a:t>
            </a:r>
            <a:r>
              <a:rPr lang="en-US" sz="3200" spc="-163">
                <a:solidFill>
                  <a:srgbClr val="000000"/>
                </a:solidFill>
                <a:highlight>
                  <a:srgbClr val="FFFF00"/>
                </a:highlight>
                <a:latin typeface="Source Sans Pro"/>
                <a:ea typeface="Source Sans Pro"/>
                <a:cs typeface="Source Sans Pro"/>
                <a:sym typeface="Source Sans Pro"/>
              </a:rPr>
              <a:t>fuse, and battery management systems/solutions.</a:t>
            </a:r>
          </a:p>
          <a:p>
            <a:pPr algn="l">
              <a:lnSpc>
                <a:spcPts val="4128"/>
              </a:lnSpc>
            </a:pPr>
            <a:endParaRPr lang="en-US" sz="3200" spc="-163">
              <a:solidFill>
                <a:srgbClr val="000000"/>
              </a:solidFill>
              <a:latin typeface="Source Sans Pro"/>
              <a:ea typeface="Source Sans Pro"/>
              <a:cs typeface="Source Sans Pro"/>
              <a:sym typeface="Source Sans Pro"/>
            </a:endParaRPr>
          </a:p>
          <a:p>
            <a:pPr algn="l">
              <a:lnSpc>
                <a:spcPts val="4128"/>
              </a:lnSpc>
            </a:pPr>
            <a:endParaRPr lang="en-US" sz="3200" spc="-163">
              <a:solidFill>
                <a:srgbClr val="000000"/>
              </a:solidFill>
              <a:latin typeface="Source Sans Pro"/>
              <a:ea typeface="Source Sans Pro"/>
              <a:cs typeface="Source Sans Pro"/>
              <a:sym typeface="Source Sans Pro"/>
            </a:endParaRPr>
          </a:p>
          <a:p>
            <a:pPr algn="l">
              <a:lnSpc>
                <a:spcPts val="4128"/>
              </a:lnSpc>
            </a:pPr>
            <a:endParaRPr lang="en-US" sz="3200" spc="-163">
              <a:solidFill>
                <a:srgbClr val="000000"/>
              </a:solidFill>
              <a:latin typeface="Source Sans Pro"/>
              <a:ea typeface="Source Sans Pro"/>
              <a:cs typeface="Source Sans Pro"/>
              <a:sym typeface="Source Sans Pro"/>
            </a:endParaRPr>
          </a:p>
          <a:p>
            <a:pPr algn="l">
              <a:lnSpc>
                <a:spcPts val="4128"/>
              </a:lnSpc>
            </a:pPr>
            <a:r>
              <a:rPr lang="en-US" sz="3200" spc="-163">
                <a:solidFill>
                  <a:srgbClr val="000000"/>
                </a:solidFill>
                <a:latin typeface="Source Sans Pro"/>
                <a:ea typeface="Source Sans Pro"/>
                <a:cs typeface="Source Sans Pro"/>
                <a:sym typeface="Source Sans Pro"/>
              </a:rPr>
              <a:t> </a:t>
            </a:r>
          </a:p>
        </p:txBody>
      </p:sp>
      <mc:AlternateContent xmlns:mc="http://schemas.openxmlformats.org/markup-compatibility/2006">
        <mc:Choice xmlns:p14="http://schemas.microsoft.com/office/powerpoint/2010/main" Requires="p14">
          <p:contentPart p14:bwMode="auto" r:id="rId2">
            <p14:nvContentPartPr>
              <p14:cNvPr id="12" name="Ink 11">
                <a:extLst>
                  <a:ext uri="{FF2B5EF4-FFF2-40B4-BE49-F238E27FC236}">
                    <a16:creationId xmlns:a16="http://schemas.microsoft.com/office/drawing/2014/main" id="{D12D25CA-6663-FDA5-C75F-394060D30A50}"/>
                  </a:ext>
                </a:extLst>
              </p14:cNvPr>
              <p14:cNvContentPartPr/>
              <p14:nvPr/>
            </p14:nvContentPartPr>
            <p14:xfrm>
              <a:off x="516397" y="1671480"/>
              <a:ext cx="1184400" cy="15840"/>
            </p14:xfrm>
          </p:contentPart>
        </mc:Choice>
        <mc:Fallback>
          <p:pic>
            <p:nvPicPr>
              <p:cNvPr id="12" name="Ink 11">
                <a:extLst>
                  <a:ext uri="{FF2B5EF4-FFF2-40B4-BE49-F238E27FC236}">
                    <a16:creationId xmlns:a16="http://schemas.microsoft.com/office/drawing/2014/main" id="{D12D25CA-6663-FDA5-C75F-394060D30A50}"/>
                  </a:ext>
                </a:extLst>
              </p:cNvPr>
              <p:cNvPicPr/>
              <p:nvPr/>
            </p:nvPicPr>
            <p:blipFill>
              <a:blip r:embed="rId3"/>
              <a:stretch>
                <a:fillRect/>
              </a:stretch>
            </p:blipFill>
            <p:spPr>
              <a:xfrm>
                <a:off x="462397" y="1560968"/>
                <a:ext cx="1292040" cy="236495"/>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B1B00201-B80F-6F4D-9FC5-7E5423F8F80B}"/>
                  </a:ext>
                </a:extLst>
              </p14:cNvPr>
              <p14:cNvContentPartPr/>
              <p14:nvPr/>
            </p14:nvContentPartPr>
            <p14:xfrm>
              <a:off x="515677" y="1785600"/>
              <a:ext cx="1113480" cy="15840"/>
            </p14:xfrm>
          </p:contentPart>
        </mc:Choice>
        <mc:Fallback>
          <p:pic>
            <p:nvPicPr>
              <p:cNvPr id="13" name="Ink 12">
                <a:extLst>
                  <a:ext uri="{FF2B5EF4-FFF2-40B4-BE49-F238E27FC236}">
                    <a16:creationId xmlns:a16="http://schemas.microsoft.com/office/drawing/2014/main" id="{B1B00201-B80F-6F4D-9FC5-7E5423F8F80B}"/>
                  </a:ext>
                </a:extLst>
              </p:cNvPr>
              <p:cNvPicPr/>
              <p:nvPr/>
            </p:nvPicPr>
            <p:blipFill>
              <a:blip r:embed="rId5"/>
              <a:stretch>
                <a:fillRect/>
              </a:stretch>
            </p:blipFill>
            <p:spPr>
              <a:xfrm>
                <a:off x="461677" y="1675088"/>
                <a:ext cx="1221120" cy="236495"/>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TextBox 6"/>
          <p:cNvSpPr txBox="1"/>
          <p:nvPr/>
        </p:nvSpPr>
        <p:spPr>
          <a:xfrm>
            <a:off x="386635" y="354024"/>
            <a:ext cx="17901365" cy="8939948"/>
          </a:xfrm>
          <a:prstGeom prst="rect">
            <a:avLst/>
          </a:prstGeom>
        </p:spPr>
        <p:txBody>
          <a:bodyPr lIns="0" tIns="0" rIns="0" bIns="0" rtlCol="0" anchor="t">
            <a:spAutoFit/>
          </a:bodyPr>
          <a:lstStyle/>
          <a:p>
            <a:pPr algn="just">
              <a:lnSpc>
                <a:spcPts val="4366"/>
              </a:lnSpc>
            </a:pPr>
            <a:r>
              <a:rPr lang="en-US" sz="3118" b="1">
                <a:solidFill>
                  <a:srgbClr val="000000"/>
                </a:solidFill>
                <a:latin typeface="Source Sans Pro Bold"/>
                <a:ea typeface="Source Sans Pro Bold"/>
                <a:cs typeface="Source Sans Pro Bold"/>
                <a:sym typeface="Source Sans Pro Bold"/>
              </a:rPr>
              <a:t>  5 .TRACTIVE SYSTEM ACCUMULATOR CONTAINER:</a:t>
            </a:r>
          </a:p>
          <a:p>
            <a:pPr algn="just">
              <a:lnSpc>
                <a:spcPts val="4366"/>
              </a:lnSpc>
            </a:pPr>
            <a:r>
              <a:rPr lang="en-US" sz="3118">
                <a:solidFill>
                  <a:srgbClr val="000000"/>
                </a:solidFill>
                <a:latin typeface="Source Sans Pro"/>
                <a:ea typeface="Source Sans Pro"/>
                <a:cs typeface="Source Sans Pro"/>
                <a:sym typeface="Source Sans Pro"/>
              </a:rPr>
              <a:t> It is an enclosure/housing for the Tractive System Accumulator. </a:t>
            </a:r>
          </a:p>
          <a:p>
            <a:pPr algn="just">
              <a:lnSpc>
                <a:spcPts val="4366"/>
              </a:lnSpc>
            </a:pPr>
            <a:endParaRPr lang="en-US" sz="3118">
              <a:solidFill>
                <a:srgbClr val="000000"/>
              </a:solidFill>
              <a:latin typeface="Source Sans Pro"/>
              <a:ea typeface="Source Sans Pro"/>
              <a:cs typeface="Source Sans Pro"/>
              <a:sym typeface="Source Sans Pro"/>
            </a:endParaRPr>
          </a:p>
          <a:p>
            <a:pPr algn="just">
              <a:lnSpc>
                <a:spcPts val="4366"/>
              </a:lnSpc>
            </a:pPr>
            <a:r>
              <a:rPr lang="en-US" sz="3118" b="1">
                <a:solidFill>
                  <a:srgbClr val="000000"/>
                </a:solidFill>
                <a:latin typeface="Source Sans Pro Bold"/>
                <a:ea typeface="Source Sans Pro Bold"/>
                <a:cs typeface="Source Sans Pro Bold"/>
                <a:sym typeface="Source Sans Pro Bold"/>
              </a:rPr>
              <a:t>  6. HV RATED CUT-OFF SWITCH: </a:t>
            </a:r>
          </a:p>
          <a:p>
            <a:pPr algn="just">
              <a:lnSpc>
                <a:spcPts val="4366"/>
              </a:lnSpc>
            </a:pPr>
            <a:r>
              <a:rPr lang="en-US" sz="3118">
                <a:solidFill>
                  <a:srgbClr val="000000"/>
                </a:solidFill>
                <a:latin typeface="Source Sans Pro"/>
                <a:ea typeface="Source Sans Pro"/>
                <a:cs typeface="Source Sans Pro"/>
                <a:sym typeface="Source Sans Pro"/>
              </a:rPr>
              <a:t>The HV rated cut-off switch shall operate on Tractive system voltage. When turned off, the Tractive System Accumulator shall not power the DC-DC Converter. The HV rated cut-off switch must be mounted behind the firewall.</a:t>
            </a:r>
          </a:p>
          <a:p>
            <a:pPr algn="just">
              <a:lnSpc>
                <a:spcPts val="4366"/>
              </a:lnSpc>
            </a:pPr>
            <a:endParaRPr lang="en-US" sz="3118">
              <a:solidFill>
                <a:srgbClr val="000000"/>
              </a:solidFill>
              <a:latin typeface="Source Sans Pro"/>
              <a:ea typeface="Source Sans Pro"/>
              <a:cs typeface="Source Sans Pro"/>
              <a:sym typeface="Source Sans Pro"/>
            </a:endParaRPr>
          </a:p>
          <a:p>
            <a:pPr algn="just">
              <a:lnSpc>
                <a:spcPts val="4366"/>
              </a:lnSpc>
            </a:pPr>
            <a:r>
              <a:rPr lang="en-US" sz="3118">
                <a:solidFill>
                  <a:srgbClr val="000000"/>
                </a:solidFill>
                <a:latin typeface="Source Sans Pro"/>
                <a:ea typeface="Source Sans Pro"/>
                <a:cs typeface="Source Sans Pro"/>
                <a:sym typeface="Source Sans Pro"/>
              </a:rPr>
              <a:t>  </a:t>
            </a:r>
            <a:r>
              <a:rPr lang="en-US" sz="3118" b="1">
                <a:solidFill>
                  <a:srgbClr val="000000"/>
                </a:solidFill>
                <a:latin typeface="Source Sans Pro Bold"/>
                <a:ea typeface="Source Sans Pro Bold"/>
                <a:cs typeface="Source Sans Pro"/>
                <a:sym typeface="Source Sans Pro Bold"/>
              </a:rPr>
              <a:t>7</a:t>
            </a:r>
            <a:r>
              <a:rPr lang="en-US" sz="3118" b="1">
                <a:solidFill>
                  <a:srgbClr val="000000"/>
                </a:solidFill>
                <a:latin typeface="Source Sans Pro Bold"/>
                <a:ea typeface="Source Sans Pro Bold"/>
                <a:cs typeface="Source Sans Pro Bold"/>
                <a:sym typeface="Source Sans Pro Bold"/>
              </a:rPr>
              <a:t>. ACCUMULATOR ISOLATION RELAY (AIR):</a:t>
            </a:r>
          </a:p>
          <a:p>
            <a:pPr algn="just">
              <a:lnSpc>
                <a:spcPts val="4366"/>
              </a:lnSpc>
              <a:spcBef>
                <a:spcPct val="0"/>
              </a:spcBef>
            </a:pPr>
            <a:r>
              <a:rPr lang="en-US" sz="3118">
                <a:solidFill>
                  <a:srgbClr val="000000"/>
                </a:solidFill>
                <a:latin typeface="Source Sans Pro"/>
                <a:ea typeface="Source Sans Pro"/>
                <a:cs typeface="Source Sans Pro"/>
                <a:sym typeface="Source Sans Pro"/>
              </a:rPr>
              <a:t> The Accumulator isolation relay should isolate the Accumulator from the tractive system.</a:t>
            </a:r>
          </a:p>
          <a:p>
            <a:pPr algn="just">
              <a:lnSpc>
                <a:spcPts val="4366"/>
              </a:lnSpc>
              <a:spcBef>
                <a:spcPct val="0"/>
              </a:spcBef>
            </a:pPr>
            <a:endParaRPr lang="en-US" sz="3118">
              <a:solidFill>
                <a:srgbClr val="000000"/>
              </a:solidFill>
              <a:latin typeface="Source Sans Pro"/>
              <a:ea typeface="Source Sans Pro"/>
              <a:cs typeface="Source Sans Pro"/>
              <a:sym typeface="Source Sans Pro"/>
            </a:endParaRPr>
          </a:p>
          <a:p>
            <a:pPr algn="just">
              <a:lnSpc>
                <a:spcPts val="4326"/>
              </a:lnSpc>
            </a:pPr>
            <a:r>
              <a:rPr lang="en-US" sz="3200" b="1">
                <a:solidFill>
                  <a:srgbClr val="000000"/>
                </a:solidFill>
                <a:latin typeface="Source Sans Pro Bold"/>
                <a:ea typeface="Source Sans Pro Bold"/>
                <a:cs typeface="Source Sans Pro Bold"/>
                <a:sym typeface="Source Sans Pro Bold"/>
              </a:rPr>
              <a:t>  8 .LOW VOLTAGE: </a:t>
            </a:r>
          </a:p>
          <a:p>
            <a:pPr algn="just">
              <a:lnSpc>
                <a:spcPts val="4326"/>
              </a:lnSpc>
            </a:pPr>
            <a:r>
              <a:rPr lang="en-US" sz="3200">
                <a:solidFill>
                  <a:srgbClr val="000000"/>
                </a:solidFill>
                <a:latin typeface="Source Sans Pro"/>
                <a:ea typeface="Source Sans Pro"/>
                <a:cs typeface="Source Sans Pro"/>
                <a:sym typeface="Source Sans Pro"/>
              </a:rPr>
              <a:t>The low voltage (LV) system of the vehicle is defined as complete electrical system of every part that is not part of the tractive system. The Voltage between any two terminals of the Low Voltage system in the vehicle shall not exceed 15V DC in any condition. </a:t>
            </a:r>
          </a:p>
          <a:p>
            <a:pPr algn="just">
              <a:lnSpc>
                <a:spcPts val="4366"/>
              </a:lnSpc>
              <a:spcBef>
                <a:spcPct val="0"/>
              </a:spcBef>
            </a:pPr>
            <a:endParaRPr lang="en-US" sz="3118">
              <a:solidFill>
                <a:srgbClr val="000000"/>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TextBox 6"/>
          <p:cNvSpPr txBox="1"/>
          <p:nvPr/>
        </p:nvSpPr>
        <p:spPr>
          <a:xfrm>
            <a:off x="462021" y="507243"/>
            <a:ext cx="17214654" cy="7134069"/>
          </a:xfrm>
          <a:prstGeom prst="rect">
            <a:avLst/>
          </a:prstGeom>
        </p:spPr>
        <p:txBody>
          <a:bodyPr lIns="0" tIns="0" rIns="0" bIns="0" rtlCol="0" anchor="t">
            <a:spAutoFit/>
          </a:bodyPr>
          <a:lstStyle/>
          <a:p>
            <a:pPr algn="just">
              <a:lnSpc>
                <a:spcPts val="4326"/>
              </a:lnSpc>
            </a:pPr>
            <a:endParaRPr lang="en-US" sz="3090">
              <a:solidFill>
                <a:srgbClr val="000000"/>
              </a:solidFill>
              <a:latin typeface="Source Sans Pro"/>
              <a:ea typeface="Source Sans Pro"/>
              <a:cs typeface="Source Sans Pro"/>
              <a:sym typeface="Source Sans Pro"/>
            </a:endParaRPr>
          </a:p>
          <a:p>
            <a:pPr algn="just">
              <a:lnSpc>
                <a:spcPts val="4326"/>
              </a:lnSpc>
            </a:pPr>
            <a:r>
              <a:rPr lang="en-US" sz="3090" b="1">
                <a:solidFill>
                  <a:srgbClr val="000000"/>
                </a:solidFill>
                <a:latin typeface="Source Sans Pro Bold"/>
                <a:ea typeface="Source Sans Pro Bold"/>
                <a:cs typeface="Source Sans Pro Bold"/>
                <a:sym typeface="Source Sans Pro Bold"/>
              </a:rPr>
              <a:t>9. IGNITION/MASTER SWITCH: </a:t>
            </a:r>
          </a:p>
          <a:p>
            <a:pPr algn="just">
              <a:lnSpc>
                <a:spcPts val="4326"/>
              </a:lnSpc>
            </a:pPr>
            <a:r>
              <a:rPr lang="en-US" sz="3090">
                <a:solidFill>
                  <a:srgbClr val="000000"/>
                </a:solidFill>
                <a:latin typeface="Source Sans Pro"/>
                <a:ea typeface="Source Sans Pro"/>
                <a:cs typeface="Source Sans Pro"/>
                <a:sym typeface="Source Sans Pro"/>
              </a:rPr>
              <a:t>The Ignition switch shall operate on </a:t>
            </a:r>
            <a:r>
              <a:rPr lang="en-US" sz="3090">
                <a:solidFill>
                  <a:srgbClr val="000000"/>
                </a:solidFill>
                <a:highlight>
                  <a:srgbClr val="FFFF00"/>
                </a:highlight>
                <a:latin typeface="Source Sans Pro"/>
                <a:ea typeface="Source Sans Pro"/>
                <a:cs typeface="Source Sans Pro"/>
                <a:sym typeface="Source Sans Pro"/>
              </a:rPr>
              <a:t>&lt;=15V DC. </a:t>
            </a:r>
            <a:r>
              <a:rPr lang="en-US" sz="3090">
                <a:solidFill>
                  <a:srgbClr val="000000"/>
                </a:solidFill>
                <a:latin typeface="Source Sans Pro"/>
                <a:ea typeface="Source Sans Pro"/>
                <a:cs typeface="Source Sans Pro"/>
                <a:sym typeface="Source Sans Pro"/>
              </a:rPr>
              <a:t>When turned off, the LV Power source should not power any LV components.</a:t>
            </a:r>
          </a:p>
          <a:p>
            <a:pPr algn="just">
              <a:lnSpc>
                <a:spcPts val="4326"/>
              </a:lnSpc>
            </a:pPr>
            <a:endParaRPr lang="en-US" sz="3090">
              <a:solidFill>
                <a:srgbClr val="000000"/>
              </a:solidFill>
              <a:latin typeface="Source Sans Pro"/>
              <a:ea typeface="Source Sans Pro"/>
              <a:cs typeface="Source Sans Pro"/>
              <a:sym typeface="Source Sans Pro"/>
            </a:endParaRPr>
          </a:p>
          <a:p>
            <a:pPr algn="just">
              <a:lnSpc>
                <a:spcPts val="4326"/>
              </a:lnSpc>
            </a:pPr>
            <a:r>
              <a:rPr lang="en-US" sz="3090" b="1">
                <a:solidFill>
                  <a:srgbClr val="000000"/>
                </a:solidFill>
                <a:latin typeface="Source Sans Pro Bold"/>
                <a:ea typeface="Source Sans Pro Bold"/>
                <a:cs typeface="Source Sans Pro Bold"/>
                <a:sym typeface="Source Sans Pro Bold"/>
              </a:rPr>
              <a:t> 10. KILL SWITCH:</a:t>
            </a:r>
            <a:r>
              <a:rPr lang="en-US" sz="3090">
                <a:solidFill>
                  <a:srgbClr val="000000"/>
                </a:solidFill>
                <a:latin typeface="Source Sans Pro"/>
                <a:ea typeface="Source Sans Pro"/>
                <a:cs typeface="Source Sans Pro"/>
                <a:sym typeface="Source Sans Pro"/>
              </a:rPr>
              <a:t> </a:t>
            </a:r>
          </a:p>
          <a:p>
            <a:pPr algn="just">
              <a:lnSpc>
                <a:spcPts val="4326"/>
              </a:lnSpc>
            </a:pPr>
            <a:r>
              <a:rPr lang="en-US" sz="3090">
                <a:solidFill>
                  <a:srgbClr val="000000"/>
                </a:solidFill>
                <a:latin typeface="Source Sans Pro"/>
                <a:ea typeface="Source Sans Pro"/>
                <a:cs typeface="Source Sans Pro"/>
                <a:sym typeface="Source Sans Pro"/>
              </a:rPr>
              <a:t>The Kill switch shall operate on </a:t>
            </a:r>
            <a:r>
              <a:rPr lang="en-US" sz="3090">
                <a:solidFill>
                  <a:srgbClr val="000000"/>
                </a:solidFill>
                <a:highlight>
                  <a:srgbClr val="FFFF00"/>
                </a:highlight>
                <a:latin typeface="Source Sans Pro"/>
                <a:ea typeface="Source Sans Pro"/>
                <a:cs typeface="Source Sans Pro"/>
                <a:sym typeface="Source Sans Pro"/>
              </a:rPr>
              <a:t>&lt;=15V DC. Kill </a:t>
            </a:r>
            <a:r>
              <a:rPr lang="en-US" sz="3090">
                <a:solidFill>
                  <a:srgbClr val="000000"/>
                </a:solidFill>
                <a:latin typeface="Source Sans Pro"/>
                <a:ea typeface="Source Sans Pro"/>
                <a:cs typeface="Source Sans Pro"/>
                <a:sym typeface="Source Sans Pro"/>
              </a:rPr>
              <a:t>switch must de-energize the Tractive system, AIR, and TSAL, may de-energize the reverse light, and reverse alarm but shall not </a:t>
            </a:r>
            <a:r>
              <a:rPr lang="en-US" sz="3090">
                <a:solidFill>
                  <a:srgbClr val="000000"/>
                </a:solidFill>
                <a:highlight>
                  <a:srgbClr val="FFFF00"/>
                </a:highlight>
                <a:latin typeface="Source Sans Pro"/>
                <a:ea typeface="Source Sans Pro"/>
                <a:cs typeface="Source Sans Pro"/>
                <a:sym typeface="Source Sans Pro"/>
              </a:rPr>
              <a:t>de-energize the Brake Light when brake pedal is pressed.</a:t>
            </a:r>
          </a:p>
          <a:p>
            <a:pPr algn="just">
              <a:lnSpc>
                <a:spcPts val="4326"/>
              </a:lnSpc>
            </a:pPr>
            <a:endParaRPr lang="en-US" sz="3090">
              <a:solidFill>
                <a:srgbClr val="000000"/>
              </a:solidFill>
              <a:latin typeface="Source Sans Pro"/>
              <a:ea typeface="Source Sans Pro"/>
              <a:cs typeface="Source Sans Pro"/>
              <a:sym typeface="Source Sans Pro"/>
            </a:endParaRPr>
          </a:p>
          <a:p>
            <a:pPr algn="just">
              <a:lnSpc>
                <a:spcPts val="4326"/>
              </a:lnSpc>
            </a:pPr>
            <a:r>
              <a:rPr lang="en-US" sz="3090" b="1">
                <a:solidFill>
                  <a:srgbClr val="000000"/>
                </a:solidFill>
                <a:latin typeface="Source Sans Pro Bold"/>
                <a:ea typeface="Source Sans Pro Bold"/>
                <a:cs typeface="Source Sans Pro Bold"/>
                <a:sym typeface="Source Sans Pro Bold"/>
              </a:rPr>
              <a:t> 11 .TRACTIVE SYSTEM ACTIVE LIGHT (TSAL): </a:t>
            </a:r>
          </a:p>
          <a:p>
            <a:pPr algn="just">
              <a:lnSpc>
                <a:spcPts val="4326"/>
              </a:lnSpc>
              <a:spcBef>
                <a:spcPct val="0"/>
              </a:spcBef>
            </a:pPr>
            <a:r>
              <a:rPr lang="en-US" sz="3090">
                <a:solidFill>
                  <a:srgbClr val="000000"/>
                </a:solidFill>
                <a:latin typeface="Source Sans Pro"/>
                <a:ea typeface="Source Sans Pro"/>
                <a:cs typeface="Source Sans Pro"/>
                <a:sym typeface="Source Sans Pro"/>
              </a:rPr>
              <a:t>The TSAL shall operate on Low Voltage. TSAL should be continuously flashing/blinking with a frequency of 2Hz to 5Hz when the tractive system is active. </a:t>
            </a: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232EDF45-D88F-3CA5-BBB6-3D97B87C0F15}"/>
                  </a:ext>
                </a:extLst>
              </p14:cNvPr>
              <p14:cNvContentPartPr/>
              <p14:nvPr/>
            </p14:nvContentPartPr>
            <p14:xfrm>
              <a:off x="6606790" y="3984099"/>
              <a:ext cx="1486080" cy="28800"/>
            </p14:xfrm>
          </p:contentPart>
        </mc:Choice>
        <mc:Fallback>
          <p:pic>
            <p:nvPicPr>
              <p:cNvPr id="9" name="Ink 8">
                <a:extLst>
                  <a:ext uri="{FF2B5EF4-FFF2-40B4-BE49-F238E27FC236}">
                    <a16:creationId xmlns:a16="http://schemas.microsoft.com/office/drawing/2014/main" id="{232EDF45-D88F-3CA5-BBB6-3D97B87C0F15}"/>
                  </a:ext>
                </a:extLst>
              </p:cNvPr>
              <p:cNvPicPr/>
              <p:nvPr/>
            </p:nvPicPr>
            <p:blipFill>
              <a:blip r:embed="rId3"/>
              <a:stretch>
                <a:fillRect/>
              </a:stretch>
            </p:blipFill>
            <p:spPr>
              <a:xfrm>
                <a:off x="6552790" y="3874732"/>
                <a:ext cx="1593720" cy="24717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grpSp>
        <p:nvGrpSpPr>
          <p:cNvPr id="2" name="Group 2"/>
          <p:cNvGrpSpPr/>
          <p:nvPr/>
        </p:nvGrpSpPr>
        <p:grpSpPr>
          <a:xfrm rot="2784433">
            <a:off x="13556832" y="-333422"/>
            <a:ext cx="2638100" cy="14870025"/>
            <a:chOff x="0" y="0"/>
            <a:chExt cx="884104" cy="4983376"/>
          </a:xfrm>
        </p:grpSpPr>
        <p:sp>
          <p:nvSpPr>
            <p:cNvPr id="3" name="Freeform 3"/>
            <p:cNvSpPr/>
            <p:nvPr/>
          </p:nvSpPr>
          <p:spPr>
            <a:xfrm>
              <a:off x="0" y="0"/>
              <a:ext cx="884104" cy="4983376"/>
            </a:xfrm>
            <a:custGeom>
              <a:avLst/>
              <a:gdLst/>
              <a:ahLst/>
              <a:cxnLst/>
              <a:rect l="l" t="t" r="r" b="b"/>
              <a:pathLst>
                <a:path w="884104" h="4983376">
                  <a:moveTo>
                    <a:pt x="0" y="0"/>
                  </a:moveTo>
                  <a:lnTo>
                    <a:pt x="884104" y="0"/>
                  </a:lnTo>
                  <a:lnTo>
                    <a:pt x="884104" y="4983376"/>
                  </a:lnTo>
                  <a:lnTo>
                    <a:pt x="0" y="4983376"/>
                  </a:lnTo>
                  <a:close/>
                </a:path>
              </a:pathLst>
            </a:custGeom>
            <a:solidFill>
              <a:srgbClr val="888FA1">
                <a:alpha val="15686"/>
              </a:srgbClr>
            </a:solidFill>
            <a:ln cap="sq">
              <a:noFill/>
              <a:prstDash val="solid"/>
              <a:miter/>
            </a:ln>
          </p:spPr>
        </p:sp>
        <p:sp>
          <p:nvSpPr>
            <p:cNvPr id="4" name="TextBox 4"/>
            <p:cNvSpPr txBox="1"/>
            <p:nvPr/>
          </p:nvSpPr>
          <p:spPr>
            <a:xfrm>
              <a:off x="0" y="-47625"/>
              <a:ext cx="884104" cy="5031001"/>
            </a:xfrm>
            <a:prstGeom prst="rect">
              <a:avLst/>
            </a:prstGeom>
          </p:spPr>
          <p:txBody>
            <a:bodyPr lIns="50800" tIns="50800" rIns="50800" bIns="50800" rtlCol="0" anchor="ctr"/>
            <a:lstStyle/>
            <a:p>
              <a:pPr algn="ctr">
                <a:lnSpc>
                  <a:spcPts val="3359"/>
                </a:lnSpc>
              </a:pPr>
              <a:endParaRPr/>
            </a:p>
          </p:txBody>
        </p:sp>
      </p:gr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grpSp>
        <p:nvGrpSpPr>
          <p:cNvPr id="6" name="Group 6"/>
          <p:cNvGrpSpPr/>
          <p:nvPr/>
        </p:nvGrpSpPr>
        <p:grpSpPr>
          <a:xfrm rot="986350">
            <a:off x="1132105" y="-1770937"/>
            <a:ext cx="2220985" cy="13828873"/>
            <a:chOff x="0" y="0"/>
            <a:chExt cx="744317" cy="4634456"/>
          </a:xfrm>
        </p:grpSpPr>
        <p:sp>
          <p:nvSpPr>
            <p:cNvPr id="7" name="Freeform 7"/>
            <p:cNvSpPr/>
            <p:nvPr/>
          </p:nvSpPr>
          <p:spPr>
            <a:xfrm>
              <a:off x="0" y="0"/>
              <a:ext cx="744317" cy="4634456"/>
            </a:xfrm>
            <a:custGeom>
              <a:avLst/>
              <a:gdLst/>
              <a:ahLst/>
              <a:cxnLst/>
              <a:rect l="l" t="t" r="r" b="b"/>
              <a:pathLst>
                <a:path w="744317" h="4634456">
                  <a:moveTo>
                    <a:pt x="0" y="0"/>
                  </a:moveTo>
                  <a:lnTo>
                    <a:pt x="744317" y="0"/>
                  </a:lnTo>
                  <a:lnTo>
                    <a:pt x="744317" y="4634456"/>
                  </a:lnTo>
                  <a:lnTo>
                    <a:pt x="0" y="4634456"/>
                  </a:lnTo>
                  <a:close/>
                </a:path>
              </a:pathLst>
            </a:custGeom>
            <a:solidFill>
              <a:srgbClr val="888FA1">
                <a:alpha val="15686"/>
              </a:srgbClr>
            </a:solidFill>
            <a:ln cap="sq">
              <a:noFill/>
              <a:prstDash val="solid"/>
              <a:miter/>
            </a:ln>
          </p:spPr>
        </p:sp>
        <p:sp>
          <p:nvSpPr>
            <p:cNvPr id="8" name="TextBox 8"/>
            <p:cNvSpPr txBox="1"/>
            <p:nvPr/>
          </p:nvSpPr>
          <p:spPr>
            <a:xfrm>
              <a:off x="0" y="-47625"/>
              <a:ext cx="744317" cy="4682081"/>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rot="-1562716">
            <a:off x="2877050" y="-2040832"/>
            <a:ext cx="5390569" cy="14694997"/>
            <a:chOff x="0" y="0"/>
            <a:chExt cx="1806536" cy="4924720"/>
          </a:xfrm>
        </p:grpSpPr>
        <p:sp>
          <p:nvSpPr>
            <p:cNvPr id="10" name="Freeform 10"/>
            <p:cNvSpPr/>
            <p:nvPr/>
          </p:nvSpPr>
          <p:spPr>
            <a:xfrm>
              <a:off x="0" y="0"/>
              <a:ext cx="1806536" cy="4924720"/>
            </a:xfrm>
            <a:custGeom>
              <a:avLst/>
              <a:gdLst/>
              <a:ahLst/>
              <a:cxnLst/>
              <a:rect l="l" t="t" r="r" b="b"/>
              <a:pathLst>
                <a:path w="1806536" h="4924720">
                  <a:moveTo>
                    <a:pt x="0" y="0"/>
                  </a:moveTo>
                  <a:lnTo>
                    <a:pt x="1806536" y="0"/>
                  </a:lnTo>
                  <a:lnTo>
                    <a:pt x="1806536" y="4924720"/>
                  </a:lnTo>
                  <a:lnTo>
                    <a:pt x="0" y="4924720"/>
                  </a:lnTo>
                  <a:close/>
                </a:path>
              </a:pathLst>
            </a:custGeom>
            <a:solidFill>
              <a:srgbClr val="888FA1">
                <a:alpha val="15686"/>
              </a:srgbClr>
            </a:solidFill>
            <a:ln cap="sq">
              <a:noFill/>
              <a:prstDash val="solid"/>
              <a:miter/>
            </a:ln>
          </p:spPr>
        </p:sp>
        <p:sp>
          <p:nvSpPr>
            <p:cNvPr id="11" name="TextBox 11"/>
            <p:cNvSpPr txBox="1"/>
            <p:nvPr/>
          </p:nvSpPr>
          <p:spPr>
            <a:xfrm>
              <a:off x="0" y="-47625"/>
              <a:ext cx="1806536" cy="4972345"/>
            </a:xfrm>
            <a:prstGeom prst="rect">
              <a:avLst/>
            </a:prstGeom>
          </p:spPr>
          <p:txBody>
            <a:bodyPr lIns="50800" tIns="50800" rIns="50800" bIns="50800" rtlCol="0" anchor="ctr"/>
            <a:lstStyle/>
            <a:p>
              <a:pPr algn="ctr">
                <a:lnSpc>
                  <a:spcPts val="3359"/>
                </a:lnSpc>
              </a:pPr>
              <a:endParaRPr/>
            </a:p>
          </p:txBody>
        </p:sp>
      </p:grpSp>
      <p:sp>
        <p:nvSpPr>
          <p:cNvPr id="12" name="AutoShape 12"/>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13" name="AutoShape 13"/>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14" name="AutoShape 14"/>
          <p:cNvSpPr/>
          <p:nvPr/>
        </p:nvSpPr>
        <p:spPr>
          <a:xfrm>
            <a:off x="386635" y="-882899"/>
            <a:ext cx="0" cy="11478159"/>
          </a:xfrm>
          <a:prstGeom prst="line">
            <a:avLst/>
          </a:prstGeom>
          <a:ln w="38100" cap="flat">
            <a:solidFill>
              <a:srgbClr val="888FA1"/>
            </a:solidFill>
            <a:prstDash val="solid"/>
            <a:headEnd type="none" w="sm" len="sm"/>
            <a:tailEnd type="none" w="sm" len="sm"/>
          </a:ln>
        </p:spPr>
      </p:sp>
      <p:grpSp>
        <p:nvGrpSpPr>
          <p:cNvPr id="15" name="Group 15"/>
          <p:cNvGrpSpPr/>
          <p:nvPr/>
        </p:nvGrpSpPr>
        <p:grpSpPr>
          <a:xfrm>
            <a:off x="1357288" y="1283481"/>
            <a:ext cx="7064397" cy="706439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B47"/>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8" name="TextBox 18"/>
          <p:cNvSpPr txBox="1"/>
          <p:nvPr/>
        </p:nvSpPr>
        <p:spPr>
          <a:xfrm>
            <a:off x="8421685" y="4318074"/>
            <a:ext cx="9395312" cy="3028950"/>
          </a:xfrm>
          <a:prstGeom prst="rect">
            <a:avLst/>
          </a:prstGeom>
        </p:spPr>
        <p:txBody>
          <a:bodyPr lIns="0" tIns="0" rIns="0" bIns="0" rtlCol="0" anchor="t">
            <a:spAutoFit/>
          </a:bodyPr>
          <a:lstStyle/>
          <a:p>
            <a:pPr marL="0" lvl="0" indent="0" algn="ctr">
              <a:lnSpc>
                <a:spcPts val="11999"/>
              </a:lnSpc>
              <a:spcBef>
                <a:spcPct val="0"/>
              </a:spcBef>
            </a:pPr>
            <a:r>
              <a:rPr lang="en-US" sz="9999" b="1">
                <a:solidFill>
                  <a:srgbClr val="37359F"/>
                </a:solidFill>
                <a:latin typeface="Flatory Serif Bold"/>
                <a:ea typeface="Flatory Serif Bold"/>
                <a:cs typeface="Flatory Serif Bold"/>
                <a:sym typeface="Flatory Serif Bold"/>
              </a:rPr>
              <a:t>main electrical components</a:t>
            </a:r>
          </a:p>
        </p:txBody>
      </p:sp>
      <p:sp>
        <p:nvSpPr>
          <p:cNvPr id="19" name="TextBox 19"/>
          <p:cNvSpPr txBox="1"/>
          <p:nvPr/>
        </p:nvSpPr>
        <p:spPr>
          <a:xfrm>
            <a:off x="12114408" y="1583573"/>
            <a:ext cx="1310878" cy="2902567"/>
          </a:xfrm>
          <a:prstGeom prst="rect">
            <a:avLst/>
          </a:prstGeom>
        </p:spPr>
        <p:txBody>
          <a:bodyPr lIns="0" tIns="0" rIns="0" bIns="0" rtlCol="0" anchor="t">
            <a:spAutoFit/>
          </a:bodyPr>
          <a:lstStyle/>
          <a:p>
            <a:pPr algn="ctr">
              <a:lnSpc>
                <a:spcPts val="23766"/>
              </a:lnSpc>
              <a:spcBef>
                <a:spcPct val="0"/>
              </a:spcBef>
            </a:pPr>
            <a:r>
              <a:rPr lang="en-US" sz="16975" b="1">
                <a:solidFill>
                  <a:srgbClr val="37359F"/>
                </a:solidFill>
                <a:latin typeface="Flatory Serif Bold"/>
                <a:ea typeface="Flatory Serif Bold"/>
                <a:cs typeface="Flatory Serif Bold"/>
                <a:sym typeface="Flatory Serif Bold"/>
              </a:rPr>
              <a:t>2</a:t>
            </a:r>
          </a:p>
        </p:txBody>
      </p:sp>
      <p:sp>
        <p:nvSpPr>
          <p:cNvPr id="20" name="Freeform 20"/>
          <p:cNvSpPr/>
          <p:nvPr/>
        </p:nvSpPr>
        <p:spPr>
          <a:xfrm rot="5400000" flipV="1">
            <a:off x="14396163" y="779924"/>
            <a:ext cx="2416858" cy="2416858"/>
          </a:xfrm>
          <a:custGeom>
            <a:avLst/>
            <a:gdLst/>
            <a:ahLst/>
            <a:cxnLst/>
            <a:rect l="l" t="t" r="r" b="b"/>
            <a:pathLst>
              <a:path w="2416858" h="2416858">
                <a:moveTo>
                  <a:pt x="0" y="2416857"/>
                </a:moveTo>
                <a:lnTo>
                  <a:pt x="2416858" y="2416857"/>
                </a:lnTo>
                <a:lnTo>
                  <a:pt x="2416858" y="0"/>
                </a:lnTo>
                <a:lnTo>
                  <a:pt x="0" y="0"/>
                </a:lnTo>
                <a:lnTo>
                  <a:pt x="0" y="241685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rot="5400000" flipV="1">
            <a:off x="1357288" y="1440821"/>
            <a:ext cx="1095063" cy="1095063"/>
          </a:xfrm>
          <a:custGeom>
            <a:avLst/>
            <a:gdLst/>
            <a:ahLst/>
            <a:cxnLst/>
            <a:rect l="l" t="t" r="r" b="b"/>
            <a:pathLst>
              <a:path w="1095063" h="1095063">
                <a:moveTo>
                  <a:pt x="0" y="1095063"/>
                </a:moveTo>
                <a:lnTo>
                  <a:pt x="1095063" y="1095063"/>
                </a:lnTo>
                <a:lnTo>
                  <a:pt x="1095063" y="0"/>
                </a:lnTo>
                <a:lnTo>
                  <a:pt x="0" y="0"/>
                </a:lnTo>
                <a:lnTo>
                  <a:pt x="0" y="109506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rot="-5400000" flipV="1">
            <a:off x="12863705" y="7631892"/>
            <a:ext cx="1095063" cy="1095063"/>
          </a:xfrm>
          <a:custGeom>
            <a:avLst/>
            <a:gdLst/>
            <a:ahLst/>
            <a:cxnLst/>
            <a:rect l="l" t="t" r="r" b="b"/>
            <a:pathLst>
              <a:path w="1095063" h="1095063">
                <a:moveTo>
                  <a:pt x="0" y="1095063"/>
                </a:moveTo>
                <a:lnTo>
                  <a:pt x="1095063" y="1095063"/>
                </a:lnTo>
                <a:lnTo>
                  <a:pt x="1095063" y="0"/>
                </a:lnTo>
                <a:lnTo>
                  <a:pt x="0" y="0"/>
                </a:lnTo>
                <a:lnTo>
                  <a:pt x="0" y="109506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Freeform 23"/>
          <p:cNvSpPr/>
          <p:nvPr/>
        </p:nvSpPr>
        <p:spPr>
          <a:xfrm>
            <a:off x="2102700" y="4288968"/>
            <a:ext cx="1089770" cy="1089770"/>
          </a:xfrm>
          <a:custGeom>
            <a:avLst/>
            <a:gdLst/>
            <a:ahLst/>
            <a:cxnLst/>
            <a:rect l="l" t="t" r="r" b="b"/>
            <a:pathLst>
              <a:path w="1089770" h="1089770">
                <a:moveTo>
                  <a:pt x="0" y="0"/>
                </a:moveTo>
                <a:lnTo>
                  <a:pt x="1089771" y="0"/>
                </a:lnTo>
                <a:lnTo>
                  <a:pt x="1089771" y="1089770"/>
                </a:lnTo>
                <a:lnTo>
                  <a:pt x="0" y="10897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Freeform 24"/>
          <p:cNvSpPr/>
          <p:nvPr/>
        </p:nvSpPr>
        <p:spPr>
          <a:xfrm>
            <a:off x="4359515" y="2182731"/>
            <a:ext cx="1014050" cy="1014050"/>
          </a:xfrm>
          <a:custGeom>
            <a:avLst/>
            <a:gdLst/>
            <a:ahLst/>
            <a:cxnLst/>
            <a:rect l="l" t="t" r="r" b="b"/>
            <a:pathLst>
              <a:path w="1014050" h="1014050">
                <a:moveTo>
                  <a:pt x="0" y="0"/>
                </a:moveTo>
                <a:lnTo>
                  <a:pt x="1014050" y="0"/>
                </a:lnTo>
                <a:lnTo>
                  <a:pt x="1014050" y="1014050"/>
                </a:lnTo>
                <a:lnTo>
                  <a:pt x="0" y="10140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Freeform 25"/>
          <p:cNvSpPr/>
          <p:nvPr/>
        </p:nvSpPr>
        <p:spPr>
          <a:xfrm>
            <a:off x="6773311" y="4175342"/>
            <a:ext cx="968158" cy="968158"/>
          </a:xfrm>
          <a:custGeom>
            <a:avLst/>
            <a:gdLst/>
            <a:ahLst/>
            <a:cxnLst/>
            <a:rect l="l" t="t" r="r" b="b"/>
            <a:pathLst>
              <a:path w="968158" h="968158">
                <a:moveTo>
                  <a:pt x="0" y="0"/>
                </a:moveTo>
                <a:lnTo>
                  <a:pt x="968158" y="0"/>
                </a:lnTo>
                <a:lnTo>
                  <a:pt x="968158" y="968158"/>
                </a:lnTo>
                <a:lnTo>
                  <a:pt x="0" y="96815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6" name="Freeform 26"/>
          <p:cNvSpPr/>
          <p:nvPr/>
        </p:nvSpPr>
        <p:spPr>
          <a:xfrm>
            <a:off x="4301968" y="4246335"/>
            <a:ext cx="1175037" cy="1175037"/>
          </a:xfrm>
          <a:custGeom>
            <a:avLst/>
            <a:gdLst/>
            <a:ahLst/>
            <a:cxnLst/>
            <a:rect l="l" t="t" r="r" b="b"/>
            <a:pathLst>
              <a:path w="1175037" h="1175037">
                <a:moveTo>
                  <a:pt x="0" y="0"/>
                </a:moveTo>
                <a:lnTo>
                  <a:pt x="1175036" y="0"/>
                </a:lnTo>
                <a:lnTo>
                  <a:pt x="1175036" y="1175036"/>
                </a:lnTo>
                <a:lnTo>
                  <a:pt x="0" y="117503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7" name="Freeform 27"/>
          <p:cNvSpPr/>
          <p:nvPr/>
        </p:nvSpPr>
        <p:spPr>
          <a:xfrm>
            <a:off x="4375860" y="6319772"/>
            <a:ext cx="1027252" cy="1027252"/>
          </a:xfrm>
          <a:custGeom>
            <a:avLst/>
            <a:gdLst/>
            <a:ahLst/>
            <a:cxnLst/>
            <a:rect l="l" t="t" r="r" b="b"/>
            <a:pathLst>
              <a:path w="1027252" h="1027252">
                <a:moveTo>
                  <a:pt x="0" y="0"/>
                </a:moveTo>
                <a:lnTo>
                  <a:pt x="1027252" y="0"/>
                </a:lnTo>
                <a:lnTo>
                  <a:pt x="1027252" y="1027252"/>
                </a:lnTo>
                <a:lnTo>
                  <a:pt x="0" y="102725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8" name="Freeform 28"/>
          <p:cNvSpPr/>
          <p:nvPr/>
        </p:nvSpPr>
        <p:spPr>
          <a:xfrm>
            <a:off x="12805599" y="7573786"/>
            <a:ext cx="1153169" cy="1153169"/>
          </a:xfrm>
          <a:custGeom>
            <a:avLst/>
            <a:gdLst/>
            <a:ahLst/>
            <a:cxnLst/>
            <a:rect l="l" t="t" r="r" b="b"/>
            <a:pathLst>
              <a:path w="1153169" h="1153169">
                <a:moveTo>
                  <a:pt x="0" y="0"/>
                </a:moveTo>
                <a:lnTo>
                  <a:pt x="1153169" y="0"/>
                </a:lnTo>
                <a:lnTo>
                  <a:pt x="1153169" y="1153169"/>
                </a:lnTo>
                <a:lnTo>
                  <a:pt x="0" y="115316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8704212" y="-856505"/>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AFA"/>
            </a:solidFill>
          </p:spPr>
        </p:sp>
      </p:grpSp>
      <p:grpSp>
        <p:nvGrpSpPr>
          <p:cNvPr id="4" name="Group 4"/>
          <p:cNvGrpSpPr/>
          <p:nvPr/>
        </p:nvGrpSpPr>
        <p:grpSpPr>
          <a:xfrm>
            <a:off x="-1905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992238" y="846535"/>
            <a:ext cx="9584680" cy="1071848"/>
            <a:chOff x="0" y="0"/>
            <a:chExt cx="12779573" cy="1429131"/>
          </a:xfrm>
        </p:grpSpPr>
        <p:sp>
          <p:nvSpPr>
            <p:cNvPr id="7" name="Freeform 7"/>
            <p:cNvSpPr/>
            <p:nvPr/>
          </p:nvSpPr>
          <p:spPr>
            <a:xfrm>
              <a:off x="0" y="0"/>
              <a:ext cx="12779573" cy="1429131"/>
            </a:xfrm>
            <a:custGeom>
              <a:avLst/>
              <a:gdLst/>
              <a:ahLst/>
              <a:cxnLst/>
              <a:rect l="l" t="t" r="r" b="b"/>
              <a:pathLst>
                <a:path w="12779573" h="1429131">
                  <a:moveTo>
                    <a:pt x="0" y="0"/>
                  </a:moveTo>
                  <a:lnTo>
                    <a:pt x="12779573" y="0"/>
                  </a:lnTo>
                  <a:lnTo>
                    <a:pt x="12779573" y="1429131"/>
                  </a:lnTo>
                  <a:lnTo>
                    <a:pt x="0" y="1429131"/>
                  </a:lnTo>
                  <a:close/>
                </a:path>
              </a:pathLst>
            </a:custGeom>
            <a:solidFill>
              <a:srgbClr val="000000">
                <a:alpha val="0"/>
              </a:srgbClr>
            </a:solidFill>
          </p:spPr>
        </p:sp>
        <p:sp>
          <p:nvSpPr>
            <p:cNvPr id="8" name="TextBox 8"/>
            <p:cNvSpPr txBox="1"/>
            <p:nvPr/>
          </p:nvSpPr>
          <p:spPr>
            <a:xfrm>
              <a:off x="0" y="-28575"/>
              <a:ext cx="12779573" cy="1457706"/>
            </a:xfrm>
            <a:prstGeom prst="rect">
              <a:avLst/>
            </a:prstGeom>
          </p:spPr>
          <p:txBody>
            <a:bodyPr lIns="0" tIns="0" rIns="0" bIns="0" rtlCol="0" anchor="t"/>
            <a:lstStyle/>
            <a:p>
              <a:pPr algn="l">
                <a:lnSpc>
                  <a:spcPts val="6937"/>
                </a:lnSpc>
              </a:pPr>
              <a:r>
                <a:rPr lang="en-US" sz="5562">
                  <a:solidFill>
                    <a:srgbClr val="020202"/>
                  </a:solidFill>
                  <a:latin typeface="Source Sans Pro"/>
                  <a:ea typeface="Source Sans Pro"/>
                  <a:cs typeface="Source Sans Pro"/>
                  <a:sym typeface="Source Sans Pro"/>
                </a:rPr>
                <a:t>Power and Voltage Limitations</a:t>
              </a:r>
            </a:p>
          </p:txBody>
        </p:sp>
      </p:grpSp>
      <p:grpSp>
        <p:nvGrpSpPr>
          <p:cNvPr id="9" name="Group 9"/>
          <p:cNvGrpSpPr/>
          <p:nvPr/>
        </p:nvGrpSpPr>
        <p:grpSpPr>
          <a:xfrm>
            <a:off x="9124950" y="2268885"/>
            <a:ext cx="38100" cy="4713386"/>
            <a:chOff x="0" y="0"/>
            <a:chExt cx="50800" cy="6284515"/>
          </a:xfrm>
        </p:grpSpPr>
        <p:sp>
          <p:nvSpPr>
            <p:cNvPr id="10" name="Freeform 10"/>
            <p:cNvSpPr/>
            <p:nvPr/>
          </p:nvSpPr>
          <p:spPr>
            <a:xfrm>
              <a:off x="0" y="0"/>
              <a:ext cx="50800" cy="6284468"/>
            </a:xfrm>
            <a:custGeom>
              <a:avLst/>
              <a:gdLst/>
              <a:ahLst/>
              <a:cxnLst/>
              <a:rect l="l" t="t" r="r" b="b"/>
              <a:pathLst>
                <a:path w="50800" h="6284468">
                  <a:moveTo>
                    <a:pt x="0" y="25400"/>
                  </a:moveTo>
                  <a:cubicBezTo>
                    <a:pt x="0" y="11430"/>
                    <a:pt x="11430" y="0"/>
                    <a:pt x="25400" y="0"/>
                  </a:cubicBezTo>
                  <a:cubicBezTo>
                    <a:pt x="39370" y="0"/>
                    <a:pt x="50800" y="11430"/>
                    <a:pt x="50800" y="25400"/>
                  </a:cubicBezTo>
                  <a:lnTo>
                    <a:pt x="50800" y="6259068"/>
                  </a:lnTo>
                  <a:cubicBezTo>
                    <a:pt x="50800" y="6273038"/>
                    <a:pt x="39370" y="6284468"/>
                    <a:pt x="25400" y="6284468"/>
                  </a:cubicBezTo>
                  <a:cubicBezTo>
                    <a:pt x="11430" y="6284468"/>
                    <a:pt x="0" y="6273038"/>
                    <a:pt x="0" y="6259068"/>
                  </a:cubicBezTo>
                  <a:close/>
                </a:path>
              </a:pathLst>
            </a:custGeom>
            <a:solidFill>
              <a:srgbClr val="D9D9D9"/>
            </a:solidFill>
          </p:spPr>
        </p:sp>
      </p:grpSp>
      <p:grpSp>
        <p:nvGrpSpPr>
          <p:cNvPr id="11" name="Group 11"/>
          <p:cNvGrpSpPr/>
          <p:nvPr/>
        </p:nvGrpSpPr>
        <p:grpSpPr>
          <a:xfrm>
            <a:off x="7936409" y="2855862"/>
            <a:ext cx="942677" cy="38100"/>
            <a:chOff x="0" y="0"/>
            <a:chExt cx="1256903" cy="50800"/>
          </a:xfrm>
        </p:grpSpPr>
        <p:sp>
          <p:nvSpPr>
            <p:cNvPr id="12" name="Freeform 12"/>
            <p:cNvSpPr/>
            <p:nvPr/>
          </p:nvSpPr>
          <p:spPr>
            <a:xfrm>
              <a:off x="0" y="0"/>
              <a:ext cx="1256919" cy="50800"/>
            </a:xfrm>
            <a:custGeom>
              <a:avLst/>
              <a:gdLst/>
              <a:ahLst/>
              <a:cxnLst/>
              <a:rect l="l" t="t" r="r" b="b"/>
              <a:pathLst>
                <a:path w="1256919" h="50800">
                  <a:moveTo>
                    <a:pt x="0" y="25400"/>
                  </a:moveTo>
                  <a:cubicBezTo>
                    <a:pt x="0" y="11430"/>
                    <a:pt x="11430" y="0"/>
                    <a:pt x="25400" y="0"/>
                  </a:cubicBezTo>
                  <a:lnTo>
                    <a:pt x="1231519" y="0"/>
                  </a:lnTo>
                  <a:cubicBezTo>
                    <a:pt x="1245489" y="0"/>
                    <a:pt x="1256919" y="11430"/>
                    <a:pt x="1256919" y="25400"/>
                  </a:cubicBezTo>
                  <a:cubicBezTo>
                    <a:pt x="1256919" y="39370"/>
                    <a:pt x="1245489" y="50800"/>
                    <a:pt x="1231519" y="50800"/>
                  </a:cubicBezTo>
                  <a:lnTo>
                    <a:pt x="25400" y="50800"/>
                  </a:lnTo>
                  <a:cubicBezTo>
                    <a:pt x="11430" y="50800"/>
                    <a:pt x="0" y="39370"/>
                    <a:pt x="0" y="25400"/>
                  </a:cubicBezTo>
                  <a:close/>
                </a:path>
              </a:pathLst>
            </a:custGeom>
            <a:solidFill>
              <a:srgbClr val="D9D9D9"/>
            </a:solidFill>
          </p:spPr>
        </p:sp>
      </p:grpSp>
      <p:grpSp>
        <p:nvGrpSpPr>
          <p:cNvPr id="13" name="Group 13"/>
          <p:cNvGrpSpPr/>
          <p:nvPr/>
        </p:nvGrpSpPr>
        <p:grpSpPr>
          <a:xfrm>
            <a:off x="8865136" y="2552848"/>
            <a:ext cx="606029" cy="606029"/>
            <a:chOff x="0" y="0"/>
            <a:chExt cx="808038" cy="808038"/>
          </a:xfrm>
        </p:grpSpPr>
        <p:sp>
          <p:nvSpPr>
            <p:cNvPr id="14" name="Freeform 14"/>
            <p:cNvSpPr/>
            <p:nvPr/>
          </p:nvSpPr>
          <p:spPr>
            <a:xfrm>
              <a:off x="0" y="0"/>
              <a:ext cx="807974" cy="808101"/>
            </a:xfrm>
            <a:custGeom>
              <a:avLst/>
              <a:gdLst/>
              <a:ahLst/>
              <a:cxnLst/>
              <a:rect l="l" t="t" r="r" b="b"/>
              <a:pathLst>
                <a:path w="807974" h="808101">
                  <a:moveTo>
                    <a:pt x="0" y="53848"/>
                  </a:moveTo>
                  <a:cubicBezTo>
                    <a:pt x="0" y="24130"/>
                    <a:pt x="24130" y="0"/>
                    <a:pt x="53848" y="0"/>
                  </a:cubicBezTo>
                  <a:lnTo>
                    <a:pt x="754126" y="0"/>
                  </a:lnTo>
                  <a:cubicBezTo>
                    <a:pt x="783844" y="0"/>
                    <a:pt x="807974" y="24130"/>
                    <a:pt x="807974" y="53848"/>
                  </a:cubicBezTo>
                  <a:lnTo>
                    <a:pt x="807974" y="754126"/>
                  </a:lnTo>
                  <a:cubicBezTo>
                    <a:pt x="807974" y="783844"/>
                    <a:pt x="783844" y="807974"/>
                    <a:pt x="754126" y="807974"/>
                  </a:cubicBezTo>
                  <a:lnTo>
                    <a:pt x="53848" y="807974"/>
                  </a:lnTo>
                  <a:cubicBezTo>
                    <a:pt x="24130" y="808101"/>
                    <a:pt x="0" y="783971"/>
                    <a:pt x="0" y="754126"/>
                  </a:cubicBezTo>
                  <a:close/>
                </a:path>
              </a:pathLst>
            </a:custGeom>
            <a:solidFill>
              <a:srgbClr val="D9D9D9"/>
            </a:solidFill>
          </p:spPr>
        </p:sp>
      </p:grpSp>
      <p:grpSp>
        <p:nvGrpSpPr>
          <p:cNvPr id="15" name="Group 15"/>
          <p:cNvGrpSpPr/>
          <p:nvPr/>
        </p:nvGrpSpPr>
        <p:grpSpPr>
          <a:xfrm>
            <a:off x="8996000" y="2576959"/>
            <a:ext cx="344299" cy="646212"/>
            <a:chOff x="0" y="0"/>
            <a:chExt cx="301427" cy="565745"/>
          </a:xfrm>
        </p:grpSpPr>
        <p:sp>
          <p:nvSpPr>
            <p:cNvPr id="16" name="Freeform 16"/>
            <p:cNvSpPr/>
            <p:nvPr/>
          </p:nvSpPr>
          <p:spPr>
            <a:xfrm>
              <a:off x="0" y="0"/>
              <a:ext cx="301427" cy="565745"/>
            </a:xfrm>
            <a:custGeom>
              <a:avLst/>
              <a:gdLst/>
              <a:ahLst/>
              <a:cxnLst/>
              <a:rect l="l" t="t" r="r" b="b"/>
              <a:pathLst>
                <a:path w="301427" h="565745">
                  <a:moveTo>
                    <a:pt x="0" y="0"/>
                  </a:moveTo>
                  <a:lnTo>
                    <a:pt x="301427" y="0"/>
                  </a:lnTo>
                  <a:lnTo>
                    <a:pt x="301427" y="565745"/>
                  </a:lnTo>
                  <a:lnTo>
                    <a:pt x="0" y="565745"/>
                  </a:lnTo>
                  <a:close/>
                </a:path>
              </a:pathLst>
            </a:custGeom>
            <a:solidFill>
              <a:srgbClr val="000000">
                <a:alpha val="0"/>
              </a:srgbClr>
            </a:solidFill>
          </p:spPr>
        </p:sp>
        <p:sp>
          <p:nvSpPr>
            <p:cNvPr id="17" name="TextBox 17"/>
            <p:cNvSpPr txBox="1"/>
            <p:nvPr/>
          </p:nvSpPr>
          <p:spPr>
            <a:xfrm>
              <a:off x="0" y="57150"/>
              <a:ext cx="301427" cy="508595"/>
            </a:xfrm>
            <a:prstGeom prst="rect">
              <a:avLst/>
            </a:prstGeom>
          </p:spPr>
          <p:txBody>
            <a:bodyPr lIns="0" tIns="0" rIns="0" bIns="0" rtlCol="0" anchor="t"/>
            <a:lstStyle/>
            <a:p>
              <a:pPr algn="ctr">
                <a:lnSpc>
                  <a:spcPts val="3312"/>
                </a:lnSpc>
              </a:pPr>
              <a:r>
                <a:rPr lang="en-US" sz="3312">
                  <a:solidFill>
                    <a:srgbClr val="383838"/>
                  </a:solidFill>
                  <a:latin typeface="PT Serif"/>
                  <a:ea typeface="PT Serif"/>
                  <a:cs typeface="PT Serif"/>
                  <a:sym typeface="PT Serif"/>
                </a:rPr>
                <a:t>1</a:t>
              </a:r>
            </a:p>
          </p:txBody>
        </p:sp>
      </p:grpSp>
      <p:grpSp>
        <p:nvGrpSpPr>
          <p:cNvPr id="18" name="Group 18"/>
          <p:cNvGrpSpPr/>
          <p:nvPr/>
        </p:nvGrpSpPr>
        <p:grpSpPr>
          <a:xfrm>
            <a:off x="4127301" y="2538115"/>
            <a:ext cx="3535264" cy="524320"/>
            <a:chOff x="0" y="0"/>
            <a:chExt cx="4713685" cy="699093"/>
          </a:xfrm>
        </p:grpSpPr>
        <p:sp>
          <p:nvSpPr>
            <p:cNvPr id="19" name="Freeform 19"/>
            <p:cNvSpPr/>
            <p:nvPr/>
          </p:nvSpPr>
          <p:spPr>
            <a:xfrm>
              <a:off x="0" y="0"/>
              <a:ext cx="4713685" cy="699093"/>
            </a:xfrm>
            <a:custGeom>
              <a:avLst/>
              <a:gdLst/>
              <a:ahLst/>
              <a:cxnLst/>
              <a:rect l="l" t="t" r="r" b="b"/>
              <a:pathLst>
                <a:path w="4713685" h="699093">
                  <a:moveTo>
                    <a:pt x="0" y="0"/>
                  </a:moveTo>
                  <a:lnTo>
                    <a:pt x="4713685" y="0"/>
                  </a:lnTo>
                  <a:lnTo>
                    <a:pt x="4713685" y="699093"/>
                  </a:lnTo>
                  <a:lnTo>
                    <a:pt x="0" y="699093"/>
                  </a:lnTo>
                  <a:close/>
                </a:path>
              </a:pathLst>
            </a:custGeom>
            <a:solidFill>
              <a:srgbClr val="000000">
                <a:alpha val="0"/>
              </a:srgbClr>
            </a:solidFill>
          </p:spPr>
        </p:sp>
        <p:sp>
          <p:nvSpPr>
            <p:cNvPr id="20" name="TextBox 20"/>
            <p:cNvSpPr txBox="1"/>
            <p:nvPr/>
          </p:nvSpPr>
          <p:spPr>
            <a:xfrm>
              <a:off x="0" y="-9525"/>
              <a:ext cx="4713685" cy="708618"/>
            </a:xfrm>
            <a:prstGeom prst="rect">
              <a:avLst/>
            </a:prstGeom>
          </p:spPr>
          <p:txBody>
            <a:bodyPr lIns="0" tIns="0" rIns="0" bIns="0" rtlCol="0" anchor="t"/>
            <a:lstStyle/>
            <a:p>
              <a:pPr algn="r">
                <a:lnSpc>
                  <a:spcPts val="3437"/>
                </a:lnSpc>
              </a:pPr>
              <a:r>
                <a:rPr lang="en-US" sz="2750">
                  <a:solidFill>
                    <a:srgbClr val="383838"/>
                  </a:solidFill>
                  <a:latin typeface="Source Sans Pro"/>
                  <a:ea typeface="Source Sans Pro"/>
                  <a:cs typeface="Source Sans Pro"/>
                  <a:sym typeface="Source Sans Pro"/>
                </a:rPr>
                <a:t>Voltage Limit</a:t>
              </a:r>
            </a:p>
          </p:txBody>
        </p:sp>
      </p:grpSp>
      <p:grpSp>
        <p:nvGrpSpPr>
          <p:cNvPr id="21" name="Group 21"/>
          <p:cNvGrpSpPr/>
          <p:nvPr/>
        </p:nvGrpSpPr>
        <p:grpSpPr>
          <a:xfrm>
            <a:off x="992237" y="3141315"/>
            <a:ext cx="6670327" cy="862012"/>
            <a:chOff x="0" y="0"/>
            <a:chExt cx="8893770" cy="1149350"/>
          </a:xfrm>
        </p:grpSpPr>
        <p:sp>
          <p:nvSpPr>
            <p:cNvPr id="22" name="Freeform 22"/>
            <p:cNvSpPr/>
            <p:nvPr/>
          </p:nvSpPr>
          <p:spPr>
            <a:xfrm>
              <a:off x="0" y="0"/>
              <a:ext cx="8893770" cy="1149350"/>
            </a:xfrm>
            <a:custGeom>
              <a:avLst/>
              <a:gdLst/>
              <a:ahLst/>
              <a:cxnLst/>
              <a:rect l="l" t="t" r="r" b="b"/>
              <a:pathLst>
                <a:path w="8893770" h="1149350">
                  <a:moveTo>
                    <a:pt x="0" y="0"/>
                  </a:moveTo>
                  <a:lnTo>
                    <a:pt x="8893770" y="0"/>
                  </a:lnTo>
                  <a:lnTo>
                    <a:pt x="8893770" y="1149350"/>
                  </a:lnTo>
                  <a:lnTo>
                    <a:pt x="0" y="1149350"/>
                  </a:lnTo>
                  <a:close/>
                </a:path>
              </a:pathLst>
            </a:custGeom>
            <a:solidFill>
              <a:srgbClr val="000000">
                <a:alpha val="0"/>
              </a:srgbClr>
            </a:solidFill>
          </p:spPr>
        </p:sp>
        <p:sp>
          <p:nvSpPr>
            <p:cNvPr id="23" name="TextBox 23"/>
            <p:cNvSpPr txBox="1"/>
            <p:nvPr/>
          </p:nvSpPr>
          <p:spPr>
            <a:xfrm>
              <a:off x="0" y="-85725"/>
              <a:ext cx="8893770" cy="1235075"/>
            </a:xfrm>
            <a:prstGeom prst="rect">
              <a:avLst/>
            </a:prstGeom>
          </p:spPr>
          <p:txBody>
            <a:bodyPr lIns="0" tIns="0" rIns="0" bIns="0" rtlCol="0" anchor="t"/>
            <a:lstStyle/>
            <a:p>
              <a:pPr algn="r">
                <a:lnSpc>
                  <a:spcPts val="3374"/>
                </a:lnSpc>
              </a:pPr>
              <a:r>
                <a:rPr lang="en-US" sz="2062">
                  <a:solidFill>
                    <a:srgbClr val="383838"/>
                  </a:solidFill>
                  <a:latin typeface="Source Sans Pro"/>
                  <a:ea typeface="Source Sans Pro"/>
                  <a:cs typeface="Source Sans Pro"/>
                  <a:sym typeface="Source Sans Pro"/>
                </a:rPr>
                <a:t>Maximum 60V in the tractive system; violation leads to disqualification.</a:t>
              </a:r>
            </a:p>
          </p:txBody>
        </p:sp>
      </p:grpSp>
      <p:grpSp>
        <p:nvGrpSpPr>
          <p:cNvPr id="24" name="Group 24"/>
          <p:cNvGrpSpPr/>
          <p:nvPr/>
        </p:nvGrpSpPr>
        <p:grpSpPr>
          <a:xfrm>
            <a:off x="9408914" y="4202460"/>
            <a:ext cx="942678" cy="38100"/>
            <a:chOff x="0" y="0"/>
            <a:chExt cx="1256903" cy="50800"/>
          </a:xfrm>
        </p:grpSpPr>
        <p:sp>
          <p:nvSpPr>
            <p:cNvPr id="25" name="Freeform 25"/>
            <p:cNvSpPr/>
            <p:nvPr/>
          </p:nvSpPr>
          <p:spPr>
            <a:xfrm>
              <a:off x="0" y="0"/>
              <a:ext cx="1256919" cy="50800"/>
            </a:xfrm>
            <a:custGeom>
              <a:avLst/>
              <a:gdLst/>
              <a:ahLst/>
              <a:cxnLst/>
              <a:rect l="l" t="t" r="r" b="b"/>
              <a:pathLst>
                <a:path w="1256919" h="50800">
                  <a:moveTo>
                    <a:pt x="0" y="25400"/>
                  </a:moveTo>
                  <a:cubicBezTo>
                    <a:pt x="0" y="11430"/>
                    <a:pt x="11430" y="0"/>
                    <a:pt x="25400" y="0"/>
                  </a:cubicBezTo>
                  <a:lnTo>
                    <a:pt x="1231519" y="0"/>
                  </a:lnTo>
                  <a:cubicBezTo>
                    <a:pt x="1245489" y="0"/>
                    <a:pt x="1256919" y="11430"/>
                    <a:pt x="1256919" y="25400"/>
                  </a:cubicBezTo>
                  <a:cubicBezTo>
                    <a:pt x="1256919" y="39370"/>
                    <a:pt x="1245489" y="50800"/>
                    <a:pt x="1231519" y="50800"/>
                  </a:cubicBezTo>
                  <a:lnTo>
                    <a:pt x="25400" y="50800"/>
                  </a:lnTo>
                  <a:cubicBezTo>
                    <a:pt x="11430" y="50800"/>
                    <a:pt x="0" y="39370"/>
                    <a:pt x="0" y="25400"/>
                  </a:cubicBezTo>
                  <a:close/>
                </a:path>
              </a:pathLst>
            </a:custGeom>
            <a:solidFill>
              <a:srgbClr val="D9D9D9"/>
            </a:solidFill>
          </p:spPr>
        </p:sp>
      </p:grpSp>
      <p:grpSp>
        <p:nvGrpSpPr>
          <p:cNvPr id="26" name="Group 26"/>
          <p:cNvGrpSpPr/>
          <p:nvPr/>
        </p:nvGrpSpPr>
        <p:grpSpPr>
          <a:xfrm>
            <a:off x="8840986" y="3918496"/>
            <a:ext cx="606029" cy="606029"/>
            <a:chOff x="0" y="0"/>
            <a:chExt cx="808038" cy="808038"/>
          </a:xfrm>
        </p:grpSpPr>
        <p:sp>
          <p:nvSpPr>
            <p:cNvPr id="27" name="Freeform 27"/>
            <p:cNvSpPr/>
            <p:nvPr/>
          </p:nvSpPr>
          <p:spPr>
            <a:xfrm>
              <a:off x="0" y="0"/>
              <a:ext cx="807974" cy="808101"/>
            </a:xfrm>
            <a:custGeom>
              <a:avLst/>
              <a:gdLst/>
              <a:ahLst/>
              <a:cxnLst/>
              <a:rect l="l" t="t" r="r" b="b"/>
              <a:pathLst>
                <a:path w="807974" h="808101">
                  <a:moveTo>
                    <a:pt x="0" y="53848"/>
                  </a:moveTo>
                  <a:cubicBezTo>
                    <a:pt x="0" y="24130"/>
                    <a:pt x="24130" y="0"/>
                    <a:pt x="53848" y="0"/>
                  </a:cubicBezTo>
                  <a:lnTo>
                    <a:pt x="754126" y="0"/>
                  </a:lnTo>
                  <a:cubicBezTo>
                    <a:pt x="783844" y="0"/>
                    <a:pt x="807974" y="24130"/>
                    <a:pt x="807974" y="53848"/>
                  </a:cubicBezTo>
                  <a:lnTo>
                    <a:pt x="807974" y="754126"/>
                  </a:lnTo>
                  <a:cubicBezTo>
                    <a:pt x="807974" y="783844"/>
                    <a:pt x="783844" y="807974"/>
                    <a:pt x="754126" y="807974"/>
                  </a:cubicBezTo>
                  <a:lnTo>
                    <a:pt x="53848" y="807974"/>
                  </a:lnTo>
                  <a:cubicBezTo>
                    <a:pt x="24130" y="808101"/>
                    <a:pt x="0" y="783971"/>
                    <a:pt x="0" y="754126"/>
                  </a:cubicBezTo>
                  <a:close/>
                </a:path>
              </a:pathLst>
            </a:custGeom>
            <a:solidFill>
              <a:srgbClr val="D9D9D9"/>
            </a:solidFill>
          </p:spPr>
        </p:sp>
      </p:grpSp>
      <p:grpSp>
        <p:nvGrpSpPr>
          <p:cNvPr id="28" name="Group 28"/>
          <p:cNvGrpSpPr/>
          <p:nvPr/>
        </p:nvGrpSpPr>
        <p:grpSpPr>
          <a:xfrm>
            <a:off x="9030890" y="3918496"/>
            <a:ext cx="274520" cy="515244"/>
            <a:chOff x="0" y="0"/>
            <a:chExt cx="301427" cy="565745"/>
          </a:xfrm>
        </p:grpSpPr>
        <p:sp>
          <p:nvSpPr>
            <p:cNvPr id="29" name="Freeform 29"/>
            <p:cNvSpPr/>
            <p:nvPr/>
          </p:nvSpPr>
          <p:spPr>
            <a:xfrm>
              <a:off x="0" y="0"/>
              <a:ext cx="301427" cy="565745"/>
            </a:xfrm>
            <a:custGeom>
              <a:avLst/>
              <a:gdLst/>
              <a:ahLst/>
              <a:cxnLst/>
              <a:rect l="l" t="t" r="r" b="b"/>
              <a:pathLst>
                <a:path w="301427" h="565745">
                  <a:moveTo>
                    <a:pt x="0" y="0"/>
                  </a:moveTo>
                  <a:lnTo>
                    <a:pt x="301427" y="0"/>
                  </a:lnTo>
                  <a:lnTo>
                    <a:pt x="301427" y="565745"/>
                  </a:lnTo>
                  <a:lnTo>
                    <a:pt x="0" y="565745"/>
                  </a:lnTo>
                  <a:close/>
                </a:path>
              </a:pathLst>
            </a:custGeom>
            <a:solidFill>
              <a:srgbClr val="000000">
                <a:alpha val="0"/>
              </a:srgbClr>
            </a:solidFill>
          </p:spPr>
        </p:sp>
        <p:sp>
          <p:nvSpPr>
            <p:cNvPr id="30" name="TextBox 30"/>
            <p:cNvSpPr txBox="1"/>
            <p:nvPr/>
          </p:nvSpPr>
          <p:spPr>
            <a:xfrm>
              <a:off x="0" y="57150"/>
              <a:ext cx="301427" cy="508595"/>
            </a:xfrm>
            <a:prstGeom prst="rect">
              <a:avLst/>
            </a:prstGeom>
          </p:spPr>
          <p:txBody>
            <a:bodyPr lIns="0" tIns="0" rIns="0" bIns="0" rtlCol="0" anchor="t"/>
            <a:lstStyle/>
            <a:p>
              <a:pPr algn="ctr">
                <a:lnSpc>
                  <a:spcPts val="3312"/>
                </a:lnSpc>
              </a:pPr>
              <a:r>
                <a:rPr lang="en-US" sz="3312">
                  <a:solidFill>
                    <a:srgbClr val="383838"/>
                  </a:solidFill>
                  <a:latin typeface="PT Serif"/>
                  <a:ea typeface="PT Serif"/>
                  <a:cs typeface="PT Serif"/>
                  <a:sym typeface="PT Serif"/>
                </a:rPr>
                <a:t>2</a:t>
              </a:r>
            </a:p>
          </p:txBody>
        </p:sp>
      </p:grpSp>
      <p:grpSp>
        <p:nvGrpSpPr>
          <p:cNvPr id="31" name="Group 31"/>
          <p:cNvGrpSpPr/>
          <p:nvPr/>
        </p:nvGrpSpPr>
        <p:grpSpPr>
          <a:xfrm>
            <a:off x="10625435" y="3884711"/>
            <a:ext cx="3535264" cy="524320"/>
            <a:chOff x="0" y="0"/>
            <a:chExt cx="4713685" cy="699093"/>
          </a:xfrm>
        </p:grpSpPr>
        <p:sp>
          <p:nvSpPr>
            <p:cNvPr id="32" name="Freeform 32"/>
            <p:cNvSpPr/>
            <p:nvPr/>
          </p:nvSpPr>
          <p:spPr>
            <a:xfrm>
              <a:off x="0" y="0"/>
              <a:ext cx="4713685" cy="699093"/>
            </a:xfrm>
            <a:custGeom>
              <a:avLst/>
              <a:gdLst/>
              <a:ahLst/>
              <a:cxnLst/>
              <a:rect l="l" t="t" r="r" b="b"/>
              <a:pathLst>
                <a:path w="4713685" h="699093">
                  <a:moveTo>
                    <a:pt x="0" y="0"/>
                  </a:moveTo>
                  <a:lnTo>
                    <a:pt x="4713685" y="0"/>
                  </a:lnTo>
                  <a:lnTo>
                    <a:pt x="4713685" y="699093"/>
                  </a:lnTo>
                  <a:lnTo>
                    <a:pt x="0" y="699093"/>
                  </a:lnTo>
                  <a:close/>
                </a:path>
              </a:pathLst>
            </a:custGeom>
            <a:solidFill>
              <a:srgbClr val="000000">
                <a:alpha val="0"/>
              </a:srgbClr>
            </a:solidFill>
          </p:spPr>
        </p:sp>
        <p:sp>
          <p:nvSpPr>
            <p:cNvPr id="33" name="TextBox 33"/>
            <p:cNvSpPr txBox="1"/>
            <p:nvPr/>
          </p:nvSpPr>
          <p:spPr>
            <a:xfrm>
              <a:off x="0" y="-9525"/>
              <a:ext cx="4713685" cy="708618"/>
            </a:xfrm>
            <a:prstGeom prst="rect">
              <a:avLst/>
            </a:prstGeom>
          </p:spPr>
          <p:txBody>
            <a:bodyPr lIns="0" tIns="0" rIns="0" bIns="0" rtlCol="0" anchor="t"/>
            <a:lstStyle/>
            <a:p>
              <a:pPr algn="l">
                <a:lnSpc>
                  <a:spcPts val="3437"/>
                </a:lnSpc>
              </a:pPr>
              <a:r>
                <a:rPr lang="en-US" sz="2750">
                  <a:solidFill>
                    <a:srgbClr val="383838"/>
                  </a:solidFill>
                  <a:latin typeface="Source Sans Pro"/>
                  <a:ea typeface="Source Sans Pro"/>
                  <a:cs typeface="Source Sans Pro"/>
                  <a:sym typeface="Source Sans Pro"/>
                </a:rPr>
                <a:t>Power Limit</a:t>
              </a:r>
            </a:p>
          </p:txBody>
        </p:sp>
      </p:grpSp>
      <p:grpSp>
        <p:nvGrpSpPr>
          <p:cNvPr id="34" name="Group 34"/>
          <p:cNvGrpSpPr/>
          <p:nvPr/>
        </p:nvGrpSpPr>
        <p:grpSpPr>
          <a:xfrm>
            <a:off x="10625435" y="4487912"/>
            <a:ext cx="6670327" cy="862012"/>
            <a:chOff x="0" y="0"/>
            <a:chExt cx="8893770" cy="1149350"/>
          </a:xfrm>
        </p:grpSpPr>
        <p:sp>
          <p:nvSpPr>
            <p:cNvPr id="35" name="Freeform 35"/>
            <p:cNvSpPr/>
            <p:nvPr/>
          </p:nvSpPr>
          <p:spPr>
            <a:xfrm>
              <a:off x="0" y="0"/>
              <a:ext cx="8893770" cy="1149350"/>
            </a:xfrm>
            <a:custGeom>
              <a:avLst/>
              <a:gdLst/>
              <a:ahLst/>
              <a:cxnLst/>
              <a:rect l="l" t="t" r="r" b="b"/>
              <a:pathLst>
                <a:path w="8893770" h="1149350">
                  <a:moveTo>
                    <a:pt x="0" y="0"/>
                  </a:moveTo>
                  <a:lnTo>
                    <a:pt x="8893770" y="0"/>
                  </a:lnTo>
                  <a:lnTo>
                    <a:pt x="8893770" y="1149350"/>
                  </a:lnTo>
                  <a:lnTo>
                    <a:pt x="0" y="1149350"/>
                  </a:lnTo>
                  <a:close/>
                </a:path>
              </a:pathLst>
            </a:custGeom>
            <a:solidFill>
              <a:srgbClr val="000000">
                <a:alpha val="0"/>
              </a:srgbClr>
            </a:solidFill>
          </p:spPr>
        </p:sp>
        <p:sp>
          <p:nvSpPr>
            <p:cNvPr id="36" name="TextBox 36"/>
            <p:cNvSpPr txBox="1"/>
            <p:nvPr/>
          </p:nvSpPr>
          <p:spPr>
            <a:xfrm>
              <a:off x="0" y="-85725"/>
              <a:ext cx="8893770" cy="1235075"/>
            </a:xfrm>
            <a:prstGeom prst="rect">
              <a:avLst/>
            </a:prstGeom>
          </p:spPr>
          <p:txBody>
            <a:bodyPr lIns="0" tIns="0" rIns="0" bIns="0" rtlCol="0" anchor="t"/>
            <a:lstStyle/>
            <a:p>
              <a:pPr algn="l">
                <a:lnSpc>
                  <a:spcPts val="3374"/>
                </a:lnSpc>
              </a:pPr>
              <a:r>
                <a:rPr lang="en-US" sz="2062">
                  <a:solidFill>
                    <a:srgbClr val="383838"/>
                  </a:solidFill>
                  <a:latin typeface="Source Sans Pro"/>
                  <a:ea typeface="Source Sans Pro"/>
                  <a:cs typeface="Source Sans Pro"/>
                  <a:sym typeface="Source Sans Pro"/>
                </a:rPr>
                <a:t>Maximum 9kW, measured at the battery terminals or MCU; violation leads to disqualification.</a:t>
              </a:r>
            </a:p>
          </p:txBody>
        </p:sp>
      </p:grpSp>
      <p:grpSp>
        <p:nvGrpSpPr>
          <p:cNvPr id="37" name="Group 37"/>
          <p:cNvGrpSpPr/>
          <p:nvPr/>
        </p:nvGrpSpPr>
        <p:grpSpPr>
          <a:xfrm>
            <a:off x="7936409" y="5414368"/>
            <a:ext cx="942677" cy="38100"/>
            <a:chOff x="0" y="0"/>
            <a:chExt cx="1256903" cy="50800"/>
          </a:xfrm>
        </p:grpSpPr>
        <p:sp>
          <p:nvSpPr>
            <p:cNvPr id="38" name="Freeform 38"/>
            <p:cNvSpPr/>
            <p:nvPr/>
          </p:nvSpPr>
          <p:spPr>
            <a:xfrm>
              <a:off x="0" y="0"/>
              <a:ext cx="1256919" cy="50800"/>
            </a:xfrm>
            <a:custGeom>
              <a:avLst/>
              <a:gdLst/>
              <a:ahLst/>
              <a:cxnLst/>
              <a:rect l="l" t="t" r="r" b="b"/>
              <a:pathLst>
                <a:path w="1256919" h="50800">
                  <a:moveTo>
                    <a:pt x="0" y="25400"/>
                  </a:moveTo>
                  <a:cubicBezTo>
                    <a:pt x="0" y="11430"/>
                    <a:pt x="11430" y="0"/>
                    <a:pt x="25400" y="0"/>
                  </a:cubicBezTo>
                  <a:lnTo>
                    <a:pt x="1231519" y="0"/>
                  </a:lnTo>
                  <a:cubicBezTo>
                    <a:pt x="1245489" y="0"/>
                    <a:pt x="1256919" y="11430"/>
                    <a:pt x="1256919" y="25400"/>
                  </a:cubicBezTo>
                  <a:cubicBezTo>
                    <a:pt x="1256919" y="39370"/>
                    <a:pt x="1245489" y="50800"/>
                    <a:pt x="1231519" y="50800"/>
                  </a:cubicBezTo>
                  <a:lnTo>
                    <a:pt x="25400" y="50800"/>
                  </a:lnTo>
                  <a:cubicBezTo>
                    <a:pt x="11430" y="50800"/>
                    <a:pt x="0" y="39370"/>
                    <a:pt x="0" y="25400"/>
                  </a:cubicBezTo>
                  <a:close/>
                </a:path>
              </a:pathLst>
            </a:custGeom>
            <a:solidFill>
              <a:srgbClr val="D9D9D9"/>
            </a:solidFill>
          </p:spPr>
        </p:sp>
      </p:grpSp>
      <p:grpSp>
        <p:nvGrpSpPr>
          <p:cNvPr id="39" name="Group 39"/>
          <p:cNvGrpSpPr/>
          <p:nvPr/>
        </p:nvGrpSpPr>
        <p:grpSpPr>
          <a:xfrm>
            <a:off x="8840986" y="5130404"/>
            <a:ext cx="606029" cy="606029"/>
            <a:chOff x="0" y="0"/>
            <a:chExt cx="808038" cy="808038"/>
          </a:xfrm>
        </p:grpSpPr>
        <p:sp>
          <p:nvSpPr>
            <p:cNvPr id="40" name="Freeform 40"/>
            <p:cNvSpPr/>
            <p:nvPr/>
          </p:nvSpPr>
          <p:spPr>
            <a:xfrm>
              <a:off x="0" y="0"/>
              <a:ext cx="807974" cy="808101"/>
            </a:xfrm>
            <a:custGeom>
              <a:avLst/>
              <a:gdLst/>
              <a:ahLst/>
              <a:cxnLst/>
              <a:rect l="l" t="t" r="r" b="b"/>
              <a:pathLst>
                <a:path w="807974" h="808101">
                  <a:moveTo>
                    <a:pt x="0" y="53848"/>
                  </a:moveTo>
                  <a:cubicBezTo>
                    <a:pt x="0" y="24130"/>
                    <a:pt x="24130" y="0"/>
                    <a:pt x="53848" y="0"/>
                  </a:cubicBezTo>
                  <a:lnTo>
                    <a:pt x="754126" y="0"/>
                  </a:lnTo>
                  <a:cubicBezTo>
                    <a:pt x="783844" y="0"/>
                    <a:pt x="807974" y="24130"/>
                    <a:pt x="807974" y="53848"/>
                  </a:cubicBezTo>
                  <a:lnTo>
                    <a:pt x="807974" y="754126"/>
                  </a:lnTo>
                  <a:cubicBezTo>
                    <a:pt x="807974" y="783844"/>
                    <a:pt x="783844" y="807974"/>
                    <a:pt x="754126" y="807974"/>
                  </a:cubicBezTo>
                  <a:lnTo>
                    <a:pt x="53848" y="807974"/>
                  </a:lnTo>
                  <a:cubicBezTo>
                    <a:pt x="24130" y="808101"/>
                    <a:pt x="0" y="783971"/>
                    <a:pt x="0" y="754126"/>
                  </a:cubicBezTo>
                  <a:close/>
                </a:path>
              </a:pathLst>
            </a:custGeom>
            <a:solidFill>
              <a:srgbClr val="D9D9D9"/>
            </a:solidFill>
          </p:spPr>
        </p:sp>
      </p:grpSp>
      <p:grpSp>
        <p:nvGrpSpPr>
          <p:cNvPr id="41" name="Group 41"/>
          <p:cNvGrpSpPr/>
          <p:nvPr/>
        </p:nvGrpSpPr>
        <p:grpSpPr>
          <a:xfrm>
            <a:off x="9030890" y="5130404"/>
            <a:ext cx="274520" cy="515244"/>
            <a:chOff x="0" y="0"/>
            <a:chExt cx="301427" cy="565745"/>
          </a:xfrm>
        </p:grpSpPr>
        <p:sp>
          <p:nvSpPr>
            <p:cNvPr id="42" name="Freeform 42"/>
            <p:cNvSpPr/>
            <p:nvPr/>
          </p:nvSpPr>
          <p:spPr>
            <a:xfrm>
              <a:off x="0" y="0"/>
              <a:ext cx="301427" cy="565745"/>
            </a:xfrm>
            <a:custGeom>
              <a:avLst/>
              <a:gdLst/>
              <a:ahLst/>
              <a:cxnLst/>
              <a:rect l="l" t="t" r="r" b="b"/>
              <a:pathLst>
                <a:path w="301427" h="565745">
                  <a:moveTo>
                    <a:pt x="0" y="0"/>
                  </a:moveTo>
                  <a:lnTo>
                    <a:pt x="301427" y="0"/>
                  </a:lnTo>
                  <a:lnTo>
                    <a:pt x="301427" y="565745"/>
                  </a:lnTo>
                  <a:lnTo>
                    <a:pt x="0" y="565745"/>
                  </a:lnTo>
                  <a:close/>
                </a:path>
              </a:pathLst>
            </a:custGeom>
            <a:solidFill>
              <a:srgbClr val="000000">
                <a:alpha val="0"/>
              </a:srgbClr>
            </a:solidFill>
          </p:spPr>
        </p:sp>
        <p:sp>
          <p:nvSpPr>
            <p:cNvPr id="43" name="TextBox 43"/>
            <p:cNvSpPr txBox="1"/>
            <p:nvPr/>
          </p:nvSpPr>
          <p:spPr>
            <a:xfrm>
              <a:off x="0" y="57150"/>
              <a:ext cx="301427" cy="508595"/>
            </a:xfrm>
            <a:prstGeom prst="rect">
              <a:avLst/>
            </a:prstGeom>
          </p:spPr>
          <p:txBody>
            <a:bodyPr lIns="0" tIns="0" rIns="0" bIns="0" rtlCol="0" anchor="t"/>
            <a:lstStyle/>
            <a:p>
              <a:pPr algn="ctr">
                <a:lnSpc>
                  <a:spcPts val="3312"/>
                </a:lnSpc>
              </a:pPr>
              <a:r>
                <a:rPr lang="en-US" sz="3312">
                  <a:solidFill>
                    <a:srgbClr val="383838"/>
                  </a:solidFill>
                  <a:latin typeface="PT Serif"/>
                  <a:ea typeface="PT Serif"/>
                  <a:cs typeface="PT Serif"/>
                  <a:sym typeface="PT Serif"/>
                </a:rPr>
                <a:t>3</a:t>
              </a:r>
            </a:p>
          </p:txBody>
        </p:sp>
      </p:grpSp>
      <p:grpSp>
        <p:nvGrpSpPr>
          <p:cNvPr id="44" name="Group 44"/>
          <p:cNvGrpSpPr/>
          <p:nvPr/>
        </p:nvGrpSpPr>
        <p:grpSpPr>
          <a:xfrm>
            <a:off x="4127301" y="5096619"/>
            <a:ext cx="3535264" cy="524320"/>
            <a:chOff x="0" y="0"/>
            <a:chExt cx="4713685" cy="699093"/>
          </a:xfrm>
        </p:grpSpPr>
        <p:sp>
          <p:nvSpPr>
            <p:cNvPr id="45" name="Freeform 45"/>
            <p:cNvSpPr/>
            <p:nvPr/>
          </p:nvSpPr>
          <p:spPr>
            <a:xfrm>
              <a:off x="0" y="0"/>
              <a:ext cx="4713685" cy="699093"/>
            </a:xfrm>
            <a:custGeom>
              <a:avLst/>
              <a:gdLst/>
              <a:ahLst/>
              <a:cxnLst/>
              <a:rect l="l" t="t" r="r" b="b"/>
              <a:pathLst>
                <a:path w="4713685" h="699093">
                  <a:moveTo>
                    <a:pt x="0" y="0"/>
                  </a:moveTo>
                  <a:lnTo>
                    <a:pt x="4713685" y="0"/>
                  </a:lnTo>
                  <a:lnTo>
                    <a:pt x="4713685" y="699093"/>
                  </a:lnTo>
                  <a:lnTo>
                    <a:pt x="0" y="699093"/>
                  </a:lnTo>
                  <a:close/>
                </a:path>
              </a:pathLst>
            </a:custGeom>
            <a:solidFill>
              <a:srgbClr val="000000">
                <a:alpha val="0"/>
              </a:srgbClr>
            </a:solidFill>
          </p:spPr>
        </p:sp>
        <p:sp>
          <p:nvSpPr>
            <p:cNvPr id="46" name="TextBox 46"/>
            <p:cNvSpPr txBox="1"/>
            <p:nvPr/>
          </p:nvSpPr>
          <p:spPr>
            <a:xfrm>
              <a:off x="0" y="-9525"/>
              <a:ext cx="4713685" cy="708618"/>
            </a:xfrm>
            <a:prstGeom prst="rect">
              <a:avLst/>
            </a:prstGeom>
          </p:spPr>
          <p:txBody>
            <a:bodyPr lIns="0" tIns="0" rIns="0" bIns="0" rtlCol="0" anchor="t"/>
            <a:lstStyle/>
            <a:p>
              <a:pPr algn="r">
                <a:lnSpc>
                  <a:spcPts val="3437"/>
                </a:lnSpc>
              </a:pPr>
              <a:r>
                <a:rPr lang="en-US" sz="2750">
                  <a:solidFill>
                    <a:srgbClr val="383838"/>
                  </a:solidFill>
                  <a:latin typeface="Source Sans Pro"/>
                  <a:ea typeface="Source Sans Pro"/>
                  <a:cs typeface="Source Sans Pro"/>
                  <a:sym typeface="Source Sans Pro"/>
                </a:rPr>
                <a:t>Fuse Enforcement</a:t>
              </a:r>
            </a:p>
          </p:txBody>
        </p:sp>
      </p:grpSp>
      <p:grpSp>
        <p:nvGrpSpPr>
          <p:cNvPr id="47" name="Group 47"/>
          <p:cNvGrpSpPr/>
          <p:nvPr/>
        </p:nvGrpSpPr>
        <p:grpSpPr>
          <a:xfrm>
            <a:off x="992237" y="5699820"/>
            <a:ext cx="6670327" cy="862012"/>
            <a:chOff x="0" y="0"/>
            <a:chExt cx="8893770" cy="1149350"/>
          </a:xfrm>
        </p:grpSpPr>
        <p:sp>
          <p:nvSpPr>
            <p:cNvPr id="48" name="Freeform 48"/>
            <p:cNvSpPr/>
            <p:nvPr/>
          </p:nvSpPr>
          <p:spPr>
            <a:xfrm>
              <a:off x="0" y="0"/>
              <a:ext cx="8893770" cy="1149350"/>
            </a:xfrm>
            <a:custGeom>
              <a:avLst/>
              <a:gdLst/>
              <a:ahLst/>
              <a:cxnLst/>
              <a:rect l="l" t="t" r="r" b="b"/>
              <a:pathLst>
                <a:path w="8893770" h="1149350">
                  <a:moveTo>
                    <a:pt x="0" y="0"/>
                  </a:moveTo>
                  <a:lnTo>
                    <a:pt x="8893770" y="0"/>
                  </a:lnTo>
                  <a:lnTo>
                    <a:pt x="8893770" y="1149350"/>
                  </a:lnTo>
                  <a:lnTo>
                    <a:pt x="0" y="1149350"/>
                  </a:lnTo>
                  <a:close/>
                </a:path>
              </a:pathLst>
            </a:custGeom>
            <a:solidFill>
              <a:srgbClr val="000000">
                <a:alpha val="0"/>
              </a:srgbClr>
            </a:solidFill>
          </p:spPr>
        </p:sp>
        <p:sp>
          <p:nvSpPr>
            <p:cNvPr id="49" name="TextBox 49"/>
            <p:cNvSpPr txBox="1"/>
            <p:nvPr/>
          </p:nvSpPr>
          <p:spPr>
            <a:xfrm>
              <a:off x="0" y="-85725"/>
              <a:ext cx="8893770" cy="1235075"/>
            </a:xfrm>
            <a:prstGeom prst="rect">
              <a:avLst/>
            </a:prstGeom>
          </p:spPr>
          <p:txBody>
            <a:bodyPr lIns="0" tIns="0" rIns="0" bIns="0" rtlCol="0" anchor="t"/>
            <a:lstStyle/>
            <a:p>
              <a:pPr algn="r">
                <a:lnSpc>
                  <a:spcPts val="3374"/>
                </a:lnSpc>
              </a:pPr>
              <a:r>
                <a:rPr lang="en-US" sz="2062">
                  <a:solidFill>
                    <a:srgbClr val="383838"/>
                  </a:solidFill>
                  <a:latin typeface="Source Sans Pro"/>
                  <a:ea typeface="Source Sans Pro"/>
                  <a:cs typeface="Source Sans Pro"/>
                  <a:sym typeface="Source Sans Pro"/>
                </a:rPr>
                <a:t>EV-grade instant fuse/DC MCB with appropriate voltage and current rating.</a:t>
              </a:r>
            </a:p>
          </p:txBody>
        </p:sp>
      </p:grpSp>
      <p:grpSp>
        <p:nvGrpSpPr>
          <p:cNvPr id="50" name="Group 50"/>
          <p:cNvGrpSpPr/>
          <p:nvPr/>
        </p:nvGrpSpPr>
        <p:grpSpPr>
          <a:xfrm>
            <a:off x="1011287" y="7468046"/>
            <a:ext cx="16303526" cy="2155031"/>
            <a:chOff x="0" y="0"/>
            <a:chExt cx="21738035" cy="2873375"/>
          </a:xfrm>
        </p:grpSpPr>
        <p:sp>
          <p:nvSpPr>
            <p:cNvPr id="51" name="Freeform 51"/>
            <p:cNvSpPr/>
            <p:nvPr/>
          </p:nvSpPr>
          <p:spPr>
            <a:xfrm>
              <a:off x="0" y="0"/>
              <a:ext cx="21738034" cy="2873375"/>
            </a:xfrm>
            <a:custGeom>
              <a:avLst/>
              <a:gdLst/>
              <a:ahLst/>
              <a:cxnLst/>
              <a:rect l="l" t="t" r="r" b="b"/>
              <a:pathLst>
                <a:path w="21738034" h="2873375">
                  <a:moveTo>
                    <a:pt x="0" y="0"/>
                  </a:moveTo>
                  <a:lnTo>
                    <a:pt x="21738034" y="0"/>
                  </a:lnTo>
                  <a:lnTo>
                    <a:pt x="21738034" y="2873375"/>
                  </a:lnTo>
                  <a:lnTo>
                    <a:pt x="0" y="2873375"/>
                  </a:lnTo>
                  <a:close/>
                </a:path>
              </a:pathLst>
            </a:custGeom>
            <a:solidFill>
              <a:srgbClr val="000000">
                <a:alpha val="0"/>
              </a:srgbClr>
            </a:solidFill>
          </p:spPr>
        </p:sp>
        <p:sp>
          <p:nvSpPr>
            <p:cNvPr id="52" name="TextBox 52"/>
            <p:cNvSpPr txBox="1"/>
            <p:nvPr/>
          </p:nvSpPr>
          <p:spPr>
            <a:xfrm>
              <a:off x="0" y="-85725"/>
              <a:ext cx="21738035" cy="2959100"/>
            </a:xfrm>
            <a:prstGeom prst="rect">
              <a:avLst/>
            </a:prstGeom>
          </p:spPr>
          <p:txBody>
            <a:bodyPr lIns="0" tIns="0" rIns="0" bIns="0" rtlCol="0" anchor="t"/>
            <a:lstStyle/>
            <a:p>
              <a:pPr algn="l">
                <a:lnSpc>
                  <a:spcPts val="3374"/>
                </a:lnSpc>
              </a:pPr>
              <a:r>
                <a:rPr lang="en-US" sz="2062">
                  <a:solidFill>
                    <a:srgbClr val="383838"/>
                  </a:solidFill>
                  <a:latin typeface="Source Sans Pro"/>
                  <a:ea typeface="Source Sans Pro"/>
                  <a:cs typeface="Source Sans Pro"/>
                  <a:sym typeface="Source Sans Pro"/>
                </a:rPr>
                <a:t>Strict power and voltage limitations are enforced to ensure safety and fair competition. The maximum voltage in the tractive system must not exceed 60V, and the maximum power must not exceed 9kW at any instant. Power limits are enforced using an EV-grade instant fuse/DC MCB with a DC voltage rating greater than or equal to the tractive system voltage. Violating these limits will result in disqualification, emphasizing the importance of careful monitoring and compliance. Teams must make sure their electrical systems are not overloaded.</a:t>
              </a:r>
            </a:p>
          </p:txBody>
        </p:sp>
      </p:grpSp>
      <p:sp>
        <p:nvSpPr>
          <p:cNvPr id="53" name="AutoShape 53"/>
          <p:cNvSpPr/>
          <p:nvPr/>
        </p:nvSpPr>
        <p:spPr>
          <a:xfrm>
            <a:off x="-477292" y="475060"/>
            <a:ext cx="20036326" cy="0"/>
          </a:xfrm>
          <a:prstGeom prst="line">
            <a:avLst/>
          </a:prstGeom>
          <a:ln w="38100" cap="flat">
            <a:solidFill>
              <a:srgbClr val="000000"/>
            </a:solidFill>
            <a:prstDash val="solid"/>
            <a:headEnd type="none" w="sm" len="sm"/>
            <a:tailEnd type="none" w="sm" len="sm"/>
          </a:ln>
        </p:spPr>
      </p:sp>
      <p:sp>
        <p:nvSpPr>
          <p:cNvPr id="54" name="AutoShape 54"/>
          <p:cNvSpPr/>
          <p:nvPr/>
        </p:nvSpPr>
        <p:spPr>
          <a:xfrm flipV="1">
            <a:off x="439787" y="-381445"/>
            <a:ext cx="0" cy="10668445"/>
          </a:xfrm>
          <a:prstGeom prst="line">
            <a:avLst/>
          </a:prstGeom>
          <a:ln w="38100" cap="flat">
            <a:solidFill>
              <a:srgbClr val="000000"/>
            </a:solidFill>
            <a:prstDash val="solid"/>
            <a:headEnd type="none" w="sm" len="sm"/>
            <a:tailEnd type="none" w="sm" len="sm"/>
          </a:ln>
        </p:spPr>
      </p:sp>
      <p:sp>
        <p:nvSpPr>
          <p:cNvPr id="55" name="AutoShape 55"/>
          <p:cNvSpPr/>
          <p:nvPr/>
        </p:nvSpPr>
        <p:spPr>
          <a:xfrm>
            <a:off x="-324892" y="9727852"/>
            <a:ext cx="20036326" cy="0"/>
          </a:xfrm>
          <a:prstGeom prst="line">
            <a:avLst/>
          </a:prstGeom>
          <a:ln w="38100" cap="flat">
            <a:solidFill>
              <a:srgbClr val="000000"/>
            </a:solidFill>
            <a:prstDash val="solid"/>
            <a:headEnd type="none" w="sm" len="sm"/>
            <a:tailEnd type="none" w="sm" len="sm"/>
          </a:ln>
        </p:spPr>
      </p:sp>
      <p:sp>
        <p:nvSpPr>
          <p:cNvPr id="56" name="AutoShape 56"/>
          <p:cNvSpPr/>
          <p:nvPr/>
        </p:nvSpPr>
        <p:spPr>
          <a:xfrm flipV="1">
            <a:off x="17810113" y="-229045"/>
            <a:ext cx="0" cy="10668445"/>
          </a:xfrm>
          <a:prstGeom prst="line">
            <a:avLst/>
          </a:prstGeom>
          <a:ln w="38100" cap="flat">
            <a:solidFill>
              <a:srgbClr val="000000"/>
            </a:solidFill>
            <a:prstDash val="solid"/>
            <a:headEnd type="none" w="sm" len="sm"/>
            <a:tailEnd type="none" w="sm" len="sm"/>
          </a:ln>
        </p:spPr>
      </p:sp>
      <mc:AlternateContent xmlns:mc="http://schemas.openxmlformats.org/markup-compatibility/2006">
        <mc:Choice xmlns:p14="http://schemas.microsoft.com/office/powerpoint/2010/main" Requires="p14">
          <p:contentPart p14:bwMode="auto" r:id="rId2">
            <p14:nvContentPartPr>
              <p14:cNvPr id="57" name="Ink 56">
                <a:extLst>
                  <a:ext uri="{FF2B5EF4-FFF2-40B4-BE49-F238E27FC236}">
                    <a16:creationId xmlns:a16="http://schemas.microsoft.com/office/drawing/2014/main" id="{D09961FE-B7E8-FF47-F03F-2F2CF55BB0D0}"/>
                  </a:ext>
                </a:extLst>
              </p14:cNvPr>
              <p14:cNvContentPartPr/>
              <p14:nvPr/>
            </p14:nvContentPartPr>
            <p14:xfrm>
              <a:off x="11788492" y="4685895"/>
              <a:ext cx="384480" cy="29880"/>
            </p14:xfrm>
          </p:contentPart>
        </mc:Choice>
        <mc:Fallback>
          <p:pic>
            <p:nvPicPr>
              <p:cNvPr id="57" name="Ink 56">
                <a:extLst>
                  <a:ext uri="{FF2B5EF4-FFF2-40B4-BE49-F238E27FC236}">
                    <a16:creationId xmlns:a16="http://schemas.microsoft.com/office/drawing/2014/main" id="{D09961FE-B7E8-FF47-F03F-2F2CF55BB0D0}"/>
                  </a:ext>
                </a:extLst>
              </p:cNvPr>
              <p:cNvPicPr/>
              <p:nvPr/>
            </p:nvPicPr>
            <p:blipFill>
              <a:blip r:embed="rId3"/>
              <a:stretch>
                <a:fillRect/>
              </a:stretch>
            </p:blipFill>
            <p:spPr>
              <a:xfrm>
                <a:off x="11734492" y="4577895"/>
                <a:ext cx="49212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8" name="Ink 57">
                <a:extLst>
                  <a:ext uri="{FF2B5EF4-FFF2-40B4-BE49-F238E27FC236}">
                    <a16:creationId xmlns:a16="http://schemas.microsoft.com/office/drawing/2014/main" id="{7FF37F8F-9246-B40B-315F-6EDD86EBAE74}"/>
                  </a:ext>
                </a:extLst>
              </p14:cNvPr>
              <p14:cNvContentPartPr/>
              <p14:nvPr/>
            </p14:nvContentPartPr>
            <p14:xfrm>
              <a:off x="2916292" y="3343095"/>
              <a:ext cx="327240" cy="360"/>
            </p14:xfrm>
          </p:contentPart>
        </mc:Choice>
        <mc:Fallback>
          <p:pic>
            <p:nvPicPr>
              <p:cNvPr id="58" name="Ink 57">
                <a:extLst>
                  <a:ext uri="{FF2B5EF4-FFF2-40B4-BE49-F238E27FC236}">
                    <a16:creationId xmlns:a16="http://schemas.microsoft.com/office/drawing/2014/main" id="{7FF37F8F-9246-B40B-315F-6EDD86EBAE74}"/>
                  </a:ext>
                </a:extLst>
              </p:cNvPr>
              <p:cNvPicPr/>
              <p:nvPr/>
            </p:nvPicPr>
            <p:blipFill>
              <a:blip r:embed="rId5"/>
              <a:stretch>
                <a:fillRect/>
              </a:stretch>
            </p:blipFill>
            <p:spPr>
              <a:xfrm>
                <a:off x="2862292" y="3235095"/>
                <a:ext cx="434880" cy="2160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TextBox 6"/>
          <p:cNvSpPr txBox="1"/>
          <p:nvPr/>
        </p:nvSpPr>
        <p:spPr>
          <a:xfrm>
            <a:off x="0" y="296874"/>
            <a:ext cx="6798522" cy="11353557"/>
          </a:xfrm>
          <a:prstGeom prst="rect">
            <a:avLst/>
          </a:prstGeom>
        </p:spPr>
        <p:txBody>
          <a:bodyPr lIns="0" tIns="0" rIns="0" bIns="0" rtlCol="0" anchor="t">
            <a:spAutoFit/>
          </a:bodyPr>
          <a:lstStyle/>
          <a:p>
            <a:pPr algn="ctr">
              <a:lnSpc>
                <a:spcPts val="7657"/>
              </a:lnSpc>
            </a:pPr>
            <a:r>
              <a:rPr lang="en-US" sz="5469">
                <a:solidFill>
                  <a:srgbClr val="000000"/>
                </a:solidFill>
                <a:latin typeface="Source Sans Pro"/>
                <a:ea typeface="Source Sans Pro"/>
                <a:cs typeface="Source Sans Pro"/>
                <a:sym typeface="Source Sans Pro"/>
              </a:rPr>
              <a:t>Motor :</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any type of motor can used.</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peak voltage: </a:t>
            </a:r>
            <a:r>
              <a:rPr lang="en-US" sz="4158">
                <a:solidFill>
                  <a:srgbClr val="000000"/>
                </a:solidFill>
                <a:highlight>
                  <a:srgbClr val="FFFF00"/>
                </a:highlight>
                <a:latin typeface="Source Sans Pro"/>
                <a:ea typeface="Source Sans Pro"/>
                <a:cs typeface="Source Sans Pro"/>
                <a:sym typeface="Source Sans Pro"/>
              </a:rPr>
              <a:t>60 v DC.</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peak power: </a:t>
            </a:r>
            <a:r>
              <a:rPr lang="en-US" sz="4158">
                <a:solidFill>
                  <a:srgbClr val="000000"/>
                </a:solidFill>
                <a:highlight>
                  <a:srgbClr val="FFFF00"/>
                </a:highlight>
                <a:latin typeface="Source Sans Pro"/>
                <a:ea typeface="Source Sans Pro"/>
                <a:cs typeface="Source Sans Pro"/>
                <a:sym typeface="Source Sans Pro"/>
              </a:rPr>
              <a:t>9kw</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weight as low as possible</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all electrical components must follow </a:t>
            </a:r>
            <a:r>
              <a:rPr lang="en-US" sz="4158">
                <a:solidFill>
                  <a:srgbClr val="000000"/>
                </a:solidFill>
                <a:highlight>
                  <a:srgbClr val="FFFF00"/>
                </a:highlight>
                <a:latin typeface="Source Sans Pro"/>
                <a:ea typeface="Source Sans Pro"/>
                <a:cs typeface="Source Sans Pro"/>
                <a:sym typeface="Source Sans Pro"/>
              </a:rPr>
              <a:t>IP67</a:t>
            </a:r>
            <a:r>
              <a:rPr lang="en-US" sz="4158">
                <a:solidFill>
                  <a:srgbClr val="000000"/>
                </a:solidFill>
                <a:latin typeface="Source Sans Pro"/>
                <a:ea typeface="Source Sans Pro"/>
                <a:cs typeface="Source Sans Pro"/>
                <a:sym typeface="Source Sans Pro"/>
              </a:rPr>
              <a:t> standards. </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we can use BLDC/PMSM motor</a:t>
            </a:r>
          </a:p>
          <a:p>
            <a:pPr algn="l">
              <a:lnSpc>
                <a:spcPts val="5822"/>
              </a:lnSpc>
            </a:pPr>
            <a:endParaRPr lang="en-US" sz="4158">
              <a:solidFill>
                <a:srgbClr val="000000"/>
              </a:solidFill>
              <a:latin typeface="Source Sans Pro"/>
              <a:ea typeface="Source Sans Pro"/>
              <a:cs typeface="Source Sans Pro"/>
              <a:sym typeface="Source Sans Pro"/>
            </a:endParaRPr>
          </a:p>
          <a:p>
            <a:pPr algn="l">
              <a:lnSpc>
                <a:spcPts val="5822"/>
              </a:lnSpc>
            </a:pPr>
            <a:endParaRPr lang="en-US" sz="4158">
              <a:solidFill>
                <a:srgbClr val="000000"/>
              </a:solidFill>
              <a:latin typeface="Source Sans Pro"/>
              <a:ea typeface="Source Sans Pro"/>
              <a:cs typeface="Source Sans Pro"/>
              <a:sym typeface="Source Sans Pro"/>
            </a:endParaRPr>
          </a:p>
          <a:p>
            <a:pPr algn="ctr">
              <a:lnSpc>
                <a:spcPts val="5822"/>
              </a:lnSpc>
            </a:pPr>
            <a:endParaRPr lang="en-US" sz="4158">
              <a:solidFill>
                <a:srgbClr val="000000"/>
              </a:solidFill>
              <a:latin typeface="Source Sans Pro"/>
              <a:ea typeface="Source Sans Pro"/>
              <a:cs typeface="Source Sans Pro"/>
              <a:sym typeface="Source Sans Pro"/>
            </a:endParaRPr>
          </a:p>
          <a:p>
            <a:pPr algn="ctr">
              <a:lnSpc>
                <a:spcPts val="5822"/>
              </a:lnSpc>
              <a:spcBef>
                <a:spcPct val="0"/>
              </a:spcBef>
            </a:pPr>
            <a:endParaRPr lang="en-US" sz="4158">
              <a:solidFill>
                <a:srgbClr val="000000"/>
              </a:solidFill>
              <a:latin typeface="Source Sans Pro"/>
              <a:ea typeface="Source Sans Pro"/>
              <a:cs typeface="Source Sans Pro"/>
              <a:sym typeface="Source Sans Pro"/>
            </a:endParaRPr>
          </a:p>
        </p:txBody>
      </p:sp>
      <p:sp>
        <p:nvSpPr>
          <p:cNvPr id="7" name="TextBox 7"/>
          <p:cNvSpPr txBox="1"/>
          <p:nvPr/>
        </p:nvSpPr>
        <p:spPr>
          <a:xfrm>
            <a:off x="6642012" y="296874"/>
            <a:ext cx="5838005" cy="8140755"/>
          </a:xfrm>
          <a:prstGeom prst="rect">
            <a:avLst/>
          </a:prstGeom>
        </p:spPr>
        <p:txBody>
          <a:bodyPr lIns="0" tIns="0" rIns="0" bIns="0" rtlCol="0" anchor="t">
            <a:spAutoFit/>
          </a:bodyPr>
          <a:lstStyle/>
          <a:p>
            <a:pPr algn="ctr">
              <a:lnSpc>
                <a:spcPts val="7657"/>
              </a:lnSpc>
            </a:pPr>
            <a:r>
              <a:rPr lang="en-US" sz="5469">
                <a:solidFill>
                  <a:srgbClr val="000000"/>
                </a:solidFill>
                <a:latin typeface="Source Sans Pro"/>
                <a:ea typeface="Source Sans Pro"/>
                <a:cs typeface="Source Sans Pro"/>
                <a:sym typeface="Source Sans Pro"/>
              </a:rPr>
              <a:t>Fuse</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Voltage – Matches system voltage.</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Current – Rated for load demand.</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Breaking Capacity – Handles fault currents.</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Type – Fast</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Form –HV fuse.</a:t>
            </a:r>
          </a:p>
          <a:p>
            <a:pPr algn="l">
              <a:lnSpc>
                <a:spcPts val="5133"/>
              </a:lnSpc>
            </a:pPr>
            <a:endParaRPr lang="en-US" sz="3667">
              <a:solidFill>
                <a:srgbClr val="000000"/>
              </a:solidFill>
              <a:latin typeface="Source Sans Pro"/>
              <a:ea typeface="Source Sans Pro"/>
              <a:cs typeface="Source Sans Pro"/>
              <a:sym typeface="Source Sans Pro"/>
            </a:endParaRPr>
          </a:p>
          <a:p>
            <a:pPr algn="ctr">
              <a:lnSpc>
                <a:spcPts val="5133"/>
              </a:lnSpc>
            </a:pPr>
            <a:endParaRPr lang="en-US" sz="3667">
              <a:solidFill>
                <a:srgbClr val="000000"/>
              </a:solidFill>
              <a:latin typeface="Source Sans Pro"/>
              <a:ea typeface="Source Sans Pro"/>
              <a:cs typeface="Source Sans Pro"/>
              <a:sym typeface="Source Sans Pro"/>
            </a:endParaRPr>
          </a:p>
          <a:p>
            <a:pPr algn="ctr">
              <a:lnSpc>
                <a:spcPts val="5133"/>
              </a:lnSpc>
              <a:spcBef>
                <a:spcPct val="0"/>
              </a:spcBef>
            </a:pPr>
            <a:endParaRPr lang="en-US" sz="3667">
              <a:solidFill>
                <a:srgbClr val="000000"/>
              </a:solidFill>
              <a:latin typeface="Source Sans Pro"/>
              <a:ea typeface="Source Sans Pro"/>
              <a:cs typeface="Source Sans Pro"/>
              <a:sym typeface="Source Sans Pro"/>
            </a:endParaRPr>
          </a:p>
        </p:txBody>
      </p:sp>
      <p:sp>
        <p:nvSpPr>
          <p:cNvPr id="8" name="TextBox 8"/>
          <p:cNvSpPr txBox="1"/>
          <p:nvPr/>
        </p:nvSpPr>
        <p:spPr>
          <a:xfrm>
            <a:off x="12546692" y="296874"/>
            <a:ext cx="5184473" cy="9448805"/>
          </a:xfrm>
          <a:prstGeom prst="rect">
            <a:avLst/>
          </a:prstGeom>
        </p:spPr>
        <p:txBody>
          <a:bodyPr lIns="0" tIns="0" rIns="0" bIns="0" rtlCol="0" anchor="t">
            <a:spAutoFit/>
          </a:bodyPr>
          <a:lstStyle/>
          <a:p>
            <a:pPr algn="ctr">
              <a:lnSpc>
                <a:spcPts val="7657"/>
              </a:lnSpc>
            </a:pPr>
            <a:r>
              <a:rPr lang="en-US" sz="5469">
                <a:solidFill>
                  <a:srgbClr val="000000"/>
                </a:solidFill>
                <a:latin typeface="Source Sans Pro"/>
                <a:ea typeface="Source Sans Pro"/>
                <a:cs typeface="Source Sans Pro"/>
                <a:sym typeface="Source Sans Pro"/>
              </a:rPr>
              <a:t>Relay</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Coil Voltage – 12V as required.</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Contact Rating – Matches load specs.</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Switch Type – NO/OFF as per circuit.</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Capacity – Max switching power.</a:t>
            </a:r>
          </a:p>
          <a:p>
            <a:pPr marL="791718" lvl="1" indent="-395859" algn="l">
              <a:lnSpc>
                <a:spcPts val="5133"/>
              </a:lnSpc>
              <a:buFont typeface="Arial"/>
              <a:buChar char="•"/>
            </a:pPr>
            <a:r>
              <a:rPr lang="en-US" sz="4100">
                <a:solidFill>
                  <a:srgbClr val="000000"/>
                </a:solidFill>
                <a:latin typeface="Source Sans Pro"/>
                <a:ea typeface="Source Sans Pro"/>
                <a:cs typeface="Source Sans Pro"/>
                <a:sym typeface="Source Sans Pro"/>
              </a:rPr>
              <a:t>Insulation – High dielectric strength</a:t>
            </a:r>
            <a:r>
              <a:rPr lang="en-US" sz="3667">
                <a:solidFill>
                  <a:srgbClr val="000000"/>
                </a:solidFill>
                <a:latin typeface="Source Sans Pro"/>
                <a:ea typeface="Source Sans Pro"/>
                <a:cs typeface="Source Sans Pro"/>
                <a:sym typeface="Source Sans Pro"/>
              </a:rPr>
              <a:t>.</a:t>
            </a:r>
          </a:p>
          <a:p>
            <a:pPr algn="ctr">
              <a:lnSpc>
                <a:spcPts val="5133"/>
              </a:lnSpc>
            </a:pPr>
            <a:endParaRPr lang="en-US" sz="3667">
              <a:solidFill>
                <a:srgbClr val="000000"/>
              </a:solidFill>
              <a:latin typeface="Source Sans Pro"/>
              <a:ea typeface="Source Sans Pro"/>
              <a:cs typeface="Source Sans Pro"/>
              <a:sym typeface="Source Sans Pro"/>
            </a:endParaRPr>
          </a:p>
          <a:p>
            <a:pPr algn="ctr">
              <a:lnSpc>
                <a:spcPts val="5133"/>
              </a:lnSpc>
              <a:spcBef>
                <a:spcPct val="0"/>
              </a:spcBef>
            </a:pPr>
            <a:endParaRPr lang="en-US" sz="3667">
              <a:solidFill>
                <a:srgbClr val="000000"/>
              </a:solidFill>
              <a:latin typeface="Source Sans Pro"/>
              <a:ea typeface="Source Sans Pro"/>
              <a:cs typeface="Source Sans Pro"/>
              <a:sym typeface="Source Sans Pro"/>
            </a:endParaRPr>
          </a:p>
        </p:txBody>
      </p:sp>
      <p:sp>
        <p:nvSpPr>
          <p:cNvPr id="9" name="AutoShape 9"/>
          <p:cNvSpPr/>
          <p:nvPr/>
        </p:nvSpPr>
        <p:spPr>
          <a:xfrm>
            <a:off x="6713215" y="1279716"/>
            <a:ext cx="0" cy="7149188"/>
          </a:xfrm>
          <a:prstGeom prst="line">
            <a:avLst/>
          </a:prstGeom>
          <a:ln w="38100" cap="flat">
            <a:solidFill>
              <a:srgbClr val="888FA1"/>
            </a:solidFill>
            <a:prstDash val="solid"/>
            <a:headEnd type="none" w="sm" len="sm"/>
            <a:tailEnd type="none" w="sm" len="sm"/>
          </a:ln>
        </p:spPr>
      </p:sp>
      <p:grpSp>
        <p:nvGrpSpPr>
          <p:cNvPr id="10" name="Group 10"/>
          <p:cNvGrpSpPr/>
          <p:nvPr/>
        </p:nvGrpSpPr>
        <p:grpSpPr>
          <a:xfrm>
            <a:off x="6511636" y="810159"/>
            <a:ext cx="381069" cy="469557"/>
            <a:chOff x="0" y="0"/>
            <a:chExt cx="659628" cy="812800"/>
          </a:xfrm>
        </p:grpSpPr>
        <p:sp>
          <p:nvSpPr>
            <p:cNvPr id="11" name="Freeform 11"/>
            <p:cNvSpPr/>
            <p:nvPr/>
          </p:nvSpPr>
          <p:spPr>
            <a:xfrm>
              <a:off x="0" y="0"/>
              <a:ext cx="659628" cy="812800"/>
            </a:xfrm>
            <a:custGeom>
              <a:avLst/>
              <a:gdLst/>
              <a:ahLst/>
              <a:cxnLst/>
              <a:rect l="l" t="t" r="r" b="b"/>
              <a:pathLst>
                <a:path w="659628" h="812800">
                  <a:moveTo>
                    <a:pt x="329814" y="0"/>
                  </a:moveTo>
                  <a:cubicBezTo>
                    <a:pt x="147663" y="0"/>
                    <a:pt x="0" y="181951"/>
                    <a:pt x="0" y="406400"/>
                  </a:cubicBezTo>
                  <a:cubicBezTo>
                    <a:pt x="0" y="630849"/>
                    <a:pt x="147663" y="812800"/>
                    <a:pt x="329814" y="812800"/>
                  </a:cubicBezTo>
                  <a:cubicBezTo>
                    <a:pt x="511965" y="812800"/>
                    <a:pt x="659628" y="630849"/>
                    <a:pt x="659628" y="406400"/>
                  </a:cubicBezTo>
                  <a:cubicBezTo>
                    <a:pt x="659628" y="181951"/>
                    <a:pt x="511965" y="0"/>
                    <a:pt x="329814" y="0"/>
                  </a:cubicBezTo>
                  <a:close/>
                </a:path>
              </a:pathLst>
            </a:custGeom>
            <a:solidFill>
              <a:srgbClr val="37359F"/>
            </a:solidFill>
          </p:spPr>
        </p:sp>
        <p:sp>
          <p:nvSpPr>
            <p:cNvPr id="12" name="TextBox 12"/>
            <p:cNvSpPr txBox="1"/>
            <p:nvPr/>
          </p:nvSpPr>
          <p:spPr>
            <a:xfrm>
              <a:off x="61840" y="28575"/>
              <a:ext cx="535947" cy="708025"/>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6522681" y="8194126"/>
            <a:ext cx="381069" cy="469557"/>
            <a:chOff x="0" y="0"/>
            <a:chExt cx="659628" cy="812800"/>
          </a:xfrm>
        </p:grpSpPr>
        <p:sp>
          <p:nvSpPr>
            <p:cNvPr id="14" name="Freeform 14"/>
            <p:cNvSpPr/>
            <p:nvPr/>
          </p:nvSpPr>
          <p:spPr>
            <a:xfrm>
              <a:off x="0" y="0"/>
              <a:ext cx="659628" cy="812800"/>
            </a:xfrm>
            <a:custGeom>
              <a:avLst/>
              <a:gdLst/>
              <a:ahLst/>
              <a:cxnLst/>
              <a:rect l="l" t="t" r="r" b="b"/>
              <a:pathLst>
                <a:path w="659628" h="812800">
                  <a:moveTo>
                    <a:pt x="329814" y="0"/>
                  </a:moveTo>
                  <a:cubicBezTo>
                    <a:pt x="147663" y="0"/>
                    <a:pt x="0" y="181951"/>
                    <a:pt x="0" y="406400"/>
                  </a:cubicBezTo>
                  <a:cubicBezTo>
                    <a:pt x="0" y="630849"/>
                    <a:pt x="147663" y="812800"/>
                    <a:pt x="329814" y="812800"/>
                  </a:cubicBezTo>
                  <a:cubicBezTo>
                    <a:pt x="511965" y="812800"/>
                    <a:pt x="659628" y="630849"/>
                    <a:pt x="659628" y="406400"/>
                  </a:cubicBezTo>
                  <a:cubicBezTo>
                    <a:pt x="659628" y="181951"/>
                    <a:pt x="511965" y="0"/>
                    <a:pt x="329814" y="0"/>
                  </a:cubicBezTo>
                  <a:close/>
                </a:path>
              </a:pathLst>
            </a:custGeom>
            <a:solidFill>
              <a:srgbClr val="37359F"/>
            </a:solidFill>
          </p:spPr>
        </p:sp>
        <p:sp>
          <p:nvSpPr>
            <p:cNvPr id="15" name="TextBox 15"/>
            <p:cNvSpPr txBox="1"/>
            <p:nvPr/>
          </p:nvSpPr>
          <p:spPr>
            <a:xfrm>
              <a:off x="61840" y="28575"/>
              <a:ext cx="535947" cy="708025"/>
            </a:xfrm>
            <a:prstGeom prst="rect">
              <a:avLst/>
            </a:prstGeom>
          </p:spPr>
          <p:txBody>
            <a:bodyPr lIns="50800" tIns="50800" rIns="50800" bIns="50800" rtlCol="0" anchor="ctr"/>
            <a:lstStyle/>
            <a:p>
              <a:pPr algn="ctr">
                <a:lnSpc>
                  <a:spcPts val="3359"/>
                </a:lnSpc>
              </a:pPr>
              <a:endParaRPr/>
            </a:p>
          </p:txBody>
        </p:sp>
      </p:grpSp>
      <p:sp>
        <p:nvSpPr>
          <p:cNvPr id="16" name="AutoShape 16"/>
          <p:cNvSpPr/>
          <p:nvPr/>
        </p:nvSpPr>
        <p:spPr>
          <a:xfrm>
            <a:off x="12776738" y="1315542"/>
            <a:ext cx="0" cy="7149188"/>
          </a:xfrm>
          <a:prstGeom prst="line">
            <a:avLst/>
          </a:prstGeom>
          <a:ln w="38100" cap="flat">
            <a:solidFill>
              <a:srgbClr val="888FA1"/>
            </a:solidFill>
            <a:prstDash val="solid"/>
            <a:headEnd type="none" w="sm" len="sm"/>
            <a:tailEnd type="none" w="sm" len="sm"/>
          </a:ln>
        </p:spPr>
      </p:sp>
      <p:grpSp>
        <p:nvGrpSpPr>
          <p:cNvPr id="17" name="Group 17"/>
          <p:cNvGrpSpPr/>
          <p:nvPr/>
        </p:nvGrpSpPr>
        <p:grpSpPr>
          <a:xfrm>
            <a:off x="12575159" y="845985"/>
            <a:ext cx="381069" cy="469557"/>
            <a:chOff x="0" y="0"/>
            <a:chExt cx="659628" cy="812800"/>
          </a:xfrm>
        </p:grpSpPr>
        <p:sp>
          <p:nvSpPr>
            <p:cNvPr id="18" name="Freeform 18"/>
            <p:cNvSpPr/>
            <p:nvPr/>
          </p:nvSpPr>
          <p:spPr>
            <a:xfrm>
              <a:off x="0" y="0"/>
              <a:ext cx="659628" cy="812800"/>
            </a:xfrm>
            <a:custGeom>
              <a:avLst/>
              <a:gdLst/>
              <a:ahLst/>
              <a:cxnLst/>
              <a:rect l="l" t="t" r="r" b="b"/>
              <a:pathLst>
                <a:path w="659628" h="812800">
                  <a:moveTo>
                    <a:pt x="329814" y="0"/>
                  </a:moveTo>
                  <a:cubicBezTo>
                    <a:pt x="147663" y="0"/>
                    <a:pt x="0" y="181951"/>
                    <a:pt x="0" y="406400"/>
                  </a:cubicBezTo>
                  <a:cubicBezTo>
                    <a:pt x="0" y="630849"/>
                    <a:pt x="147663" y="812800"/>
                    <a:pt x="329814" y="812800"/>
                  </a:cubicBezTo>
                  <a:cubicBezTo>
                    <a:pt x="511965" y="812800"/>
                    <a:pt x="659628" y="630849"/>
                    <a:pt x="659628" y="406400"/>
                  </a:cubicBezTo>
                  <a:cubicBezTo>
                    <a:pt x="659628" y="181951"/>
                    <a:pt x="511965" y="0"/>
                    <a:pt x="329814" y="0"/>
                  </a:cubicBezTo>
                  <a:close/>
                </a:path>
              </a:pathLst>
            </a:custGeom>
            <a:solidFill>
              <a:srgbClr val="37359F"/>
            </a:solidFill>
          </p:spPr>
        </p:sp>
        <p:sp>
          <p:nvSpPr>
            <p:cNvPr id="19" name="TextBox 19"/>
            <p:cNvSpPr txBox="1"/>
            <p:nvPr/>
          </p:nvSpPr>
          <p:spPr>
            <a:xfrm>
              <a:off x="61840" y="28575"/>
              <a:ext cx="535947" cy="708025"/>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12590619" y="8268052"/>
            <a:ext cx="381069" cy="469557"/>
            <a:chOff x="0" y="0"/>
            <a:chExt cx="659628" cy="812800"/>
          </a:xfrm>
        </p:grpSpPr>
        <p:sp>
          <p:nvSpPr>
            <p:cNvPr id="21" name="Freeform 21"/>
            <p:cNvSpPr/>
            <p:nvPr/>
          </p:nvSpPr>
          <p:spPr>
            <a:xfrm>
              <a:off x="0" y="0"/>
              <a:ext cx="659628" cy="812800"/>
            </a:xfrm>
            <a:custGeom>
              <a:avLst/>
              <a:gdLst/>
              <a:ahLst/>
              <a:cxnLst/>
              <a:rect l="l" t="t" r="r" b="b"/>
              <a:pathLst>
                <a:path w="659628" h="812800">
                  <a:moveTo>
                    <a:pt x="329814" y="0"/>
                  </a:moveTo>
                  <a:cubicBezTo>
                    <a:pt x="147663" y="0"/>
                    <a:pt x="0" y="181951"/>
                    <a:pt x="0" y="406400"/>
                  </a:cubicBezTo>
                  <a:cubicBezTo>
                    <a:pt x="0" y="630849"/>
                    <a:pt x="147663" y="812800"/>
                    <a:pt x="329814" y="812800"/>
                  </a:cubicBezTo>
                  <a:cubicBezTo>
                    <a:pt x="511965" y="812800"/>
                    <a:pt x="659628" y="630849"/>
                    <a:pt x="659628" y="406400"/>
                  </a:cubicBezTo>
                  <a:cubicBezTo>
                    <a:pt x="659628" y="181951"/>
                    <a:pt x="511965" y="0"/>
                    <a:pt x="329814" y="0"/>
                  </a:cubicBezTo>
                  <a:close/>
                </a:path>
              </a:pathLst>
            </a:custGeom>
            <a:solidFill>
              <a:srgbClr val="37359F"/>
            </a:solidFill>
          </p:spPr>
        </p:sp>
        <p:sp>
          <p:nvSpPr>
            <p:cNvPr id="22" name="TextBox 22"/>
            <p:cNvSpPr txBox="1"/>
            <p:nvPr/>
          </p:nvSpPr>
          <p:spPr>
            <a:xfrm>
              <a:off x="61840" y="28575"/>
              <a:ext cx="535947" cy="708025"/>
            </a:xfrm>
            <a:prstGeom prst="rect">
              <a:avLst/>
            </a:prstGeom>
          </p:spPr>
          <p:txBody>
            <a:bodyPr lIns="50800" tIns="50800" rIns="50800" bIns="50800" rtlCol="0" anchor="ctr"/>
            <a:lstStyle/>
            <a:p>
              <a:pPr algn="ctr">
                <a:lnSpc>
                  <a:spcPts val="3359"/>
                </a:lnSpc>
              </a:pPr>
              <a:endParaRPr/>
            </a:p>
          </p:txBody>
        </p:sp>
      </p:grpSp>
      <mc:AlternateContent xmlns:mc="http://schemas.openxmlformats.org/markup-compatibility/2006">
        <mc:Choice xmlns:p14="http://schemas.microsoft.com/office/powerpoint/2010/main" Requires="p14">
          <p:contentPart p14:bwMode="auto" r:id="rId2">
            <p14:nvContentPartPr>
              <p14:cNvPr id="24" name="Ink 23">
                <a:extLst>
                  <a:ext uri="{FF2B5EF4-FFF2-40B4-BE49-F238E27FC236}">
                    <a16:creationId xmlns:a16="http://schemas.microsoft.com/office/drawing/2014/main" id="{285A616F-ED6F-8162-C687-1108DD4F0775}"/>
                  </a:ext>
                </a:extLst>
              </p14:cNvPr>
              <p14:cNvContentPartPr/>
              <p14:nvPr/>
            </p14:nvContentPartPr>
            <p14:xfrm>
              <a:off x="3987790" y="2905818"/>
              <a:ext cx="1498680" cy="343080"/>
            </p14:xfrm>
          </p:contentPart>
        </mc:Choice>
        <mc:Fallback>
          <p:pic>
            <p:nvPicPr>
              <p:cNvPr id="24" name="Ink 23">
                <a:extLst>
                  <a:ext uri="{FF2B5EF4-FFF2-40B4-BE49-F238E27FC236}">
                    <a16:creationId xmlns:a16="http://schemas.microsoft.com/office/drawing/2014/main" id="{285A616F-ED6F-8162-C687-1108DD4F0775}"/>
                  </a:ext>
                </a:extLst>
              </p:cNvPr>
              <p:cNvPicPr/>
              <p:nvPr/>
            </p:nvPicPr>
            <p:blipFill>
              <a:blip r:embed="rId3"/>
              <a:stretch>
                <a:fillRect/>
              </a:stretch>
            </p:blipFill>
            <p:spPr>
              <a:xfrm>
                <a:off x="3933790" y="2797705"/>
                <a:ext cx="1606320" cy="558947"/>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C3BFC7B4-BEC4-50D7-916E-02A1AAA879F5}"/>
                  </a:ext>
                </a:extLst>
              </p14:cNvPr>
              <p14:cNvContentPartPr/>
              <p14:nvPr/>
            </p14:nvContentPartPr>
            <p14:xfrm>
              <a:off x="3798070" y="3683418"/>
              <a:ext cx="815760" cy="302760"/>
            </p14:xfrm>
          </p:contentPart>
        </mc:Choice>
        <mc:Fallback>
          <p:pic>
            <p:nvPicPr>
              <p:cNvPr id="25" name="Ink 24">
                <a:extLst>
                  <a:ext uri="{FF2B5EF4-FFF2-40B4-BE49-F238E27FC236}">
                    <a16:creationId xmlns:a16="http://schemas.microsoft.com/office/drawing/2014/main" id="{C3BFC7B4-BEC4-50D7-916E-02A1AAA879F5}"/>
                  </a:ext>
                </a:extLst>
              </p:cNvPr>
              <p:cNvPicPr/>
              <p:nvPr/>
            </p:nvPicPr>
            <p:blipFill>
              <a:blip r:embed="rId5"/>
              <a:stretch>
                <a:fillRect/>
              </a:stretch>
            </p:blipFill>
            <p:spPr>
              <a:xfrm>
                <a:off x="3744070" y="3575418"/>
                <a:ext cx="923400" cy="518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6" name="Ink 25">
                <a:extLst>
                  <a:ext uri="{FF2B5EF4-FFF2-40B4-BE49-F238E27FC236}">
                    <a16:creationId xmlns:a16="http://schemas.microsoft.com/office/drawing/2014/main" id="{427F5417-B7F8-E170-AA2E-7A191568E73F}"/>
                  </a:ext>
                </a:extLst>
              </p14:cNvPr>
              <p14:cNvContentPartPr/>
              <p14:nvPr/>
            </p14:nvContentPartPr>
            <p14:xfrm>
              <a:off x="3700150" y="5962659"/>
              <a:ext cx="858600" cy="56160"/>
            </p14:xfrm>
          </p:contentPart>
        </mc:Choice>
        <mc:Fallback>
          <p:pic>
            <p:nvPicPr>
              <p:cNvPr id="26" name="Ink 25">
                <a:extLst>
                  <a:ext uri="{FF2B5EF4-FFF2-40B4-BE49-F238E27FC236}">
                    <a16:creationId xmlns:a16="http://schemas.microsoft.com/office/drawing/2014/main" id="{427F5417-B7F8-E170-AA2E-7A191568E73F}"/>
                  </a:ext>
                </a:extLst>
              </p:cNvPr>
              <p:cNvPicPr/>
              <p:nvPr/>
            </p:nvPicPr>
            <p:blipFill>
              <a:blip r:embed="rId7"/>
              <a:stretch>
                <a:fillRect/>
              </a:stretch>
            </p:blipFill>
            <p:spPr>
              <a:xfrm>
                <a:off x="3646150" y="5854659"/>
                <a:ext cx="96624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7" name="Ink 26">
                <a:extLst>
                  <a:ext uri="{FF2B5EF4-FFF2-40B4-BE49-F238E27FC236}">
                    <a16:creationId xmlns:a16="http://schemas.microsoft.com/office/drawing/2014/main" id="{C0AD782C-749E-62DC-8338-3CFECA444551}"/>
                  </a:ext>
                </a:extLst>
              </p14:cNvPr>
              <p14:cNvContentPartPr/>
              <p14:nvPr/>
            </p14:nvContentPartPr>
            <p14:xfrm>
              <a:off x="3566950" y="6003699"/>
              <a:ext cx="964800" cy="247320"/>
            </p14:xfrm>
          </p:contentPart>
        </mc:Choice>
        <mc:Fallback>
          <p:pic>
            <p:nvPicPr>
              <p:cNvPr id="27" name="Ink 26">
                <a:extLst>
                  <a:ext uri="{FF2B5EF4-FFF2-40B4-BE49-F238E27FC236}">
                    <a16:creationId xmlns:a16="http://schemas.microsoft.com/office/drawing/2014/main" id="{C0AD782C-749E-62DC-8338-3CFECA444551}"/>
                  </a:ext>
                </a:extLst>
              </p:cNvPr>
              <p:cNvPicPr/>
              <p:nvPr/>
            </p:nvPicPr>
            <p:blipFill>
              <a:blip r:embed="rId9"/>
              <a:stretch>
                <a:fillRect/>
              </a:stretch>
            </p:blipFill>
            <p:spPr>
              <a:xfrm>
                <a:off x="3512950" y="5895699"/>
                <a:ext cx="1072440" cy="4629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TextBox 6"/>
          <p:cNvSpPr txBox="1"/>
          <p:nvPr/>
        </p:nvSpPr>
        <p:spPr>
          <a:xfrm>
            <a:off x="9492081" y="506594"/>
            <a:ext cx="7962238" cy="5681735"/>
          </a:xfrm>
          <a:prstGeom prst="rect">
            <a:avLst/>
          </a:prstGeom>
        </p:spPr>
        <p:txBody>
          <a:bodyPr lIns="0" tIns="0" rIns="0" bIns="0" rtlCol="0" anchor="t">
            <a:spAutoFit/>
          </a:bodyPr>
          <a:lstStyle/>
          <a:p>
            <a:pPr algn="ctr">
              <a:lnSpc>
                <a:spcPts val="7662"/>
              </a:lnSpc>
            </a:pPr>
            <a:r>
              <a:rPr lang="en-US" sz="5472" b="1">
                <a:solidFill>
                  <a:srgbClr val="000000"/>
                </a:solidFill>
                <a:latin typeface="Glacial Indifference Bold"/>
                <a:ea typeface="Glacial Indifference Bold"/>
                <a:cs typeface="Glacial Indifference Bold"/>
                <a:sym typeface="Glacial Indifference Bold"/>
              </a:rPr>
              <a:t>BMS Protection Features</a:t>
            </a:r>
          </a:p>
          <a:p>
            <a:pPr marL="898145" lvl="1" indent="-449072" algn="l">
              <a:lnSpc>
                <a:spcPts val="5824"/>
              </a:lnSpc>
              <a:buFont typeface="Arial"/>
              <a:buChar char="•"/>
            </a:pPr>
            <a:r>
              <a:rPr lang="en-US" sz="4160">
                <a:solidFill>
                  <a:srgbClr val="000000"/>
                </a:solidFill>
                <a:latin typeface="Glacial Indifference"/>
                <a:ea typeface="Glacial Indifference"/>
                <a:cs typeface="Glacial Indifference"/>
                <a:sym typeface="Glacial Indifference"/>
              </a:rPr>
              <a:t>Overvoltage &amp; Undervoltage Protection</a:t>
            </a:r>
          </a:p>
          <a:p>
            <a:pPr marL="898145" lvl="1" indent="-449072" algn="l">
              <a:lnSpc>
                <a:spcPts val="5824"/>
              </a:lnSpc>
              <a:buFont typeface="Arial"/>
              <a:buChar char="•"/>
            </a:pPr>
            <a:r>
              <a:rPr lang="en-US" sz="4160">
                <a:solidFill>
                  <a:srgbClr val="000000"/>
                </a:solidFill>
                <a:latin typeface="Glacial Indifference"/>
                <a:ea typeface="Glacial Indifference"/>
                <a:cs typeface="Glacial Indifference"/>
                <a:sym typeface="Glacial Indifference"/>
              </a:rPr>
              <a:t>Overcurrent Protection</a:t>
            </a:r>
          </a:p>
          <a:p>
            <a:pPr marL="898145" lvl="1" indent="-449072" algn="l">
              <a:lnSpc>
                <a:spcPts val="5824"/>
              </a:lnSpc>
              <a:buFont typeface="Arial"/>
              <a:buChar char="•"/>
            </a:pPr>
            <a:r>
              <a:rPr lang="en-US" sz="4160">
                <a:solidFill>
                  <a:srgbClr val="000000"/>
                </a:solidFill>
                <a:latin typeface="Glacial Indifference"/>
                <a:ea typeface="Glacial Indifference"/>
                <a:cs typeface="Glacial Indifference"/>
                <a:sym typeface="Glacial Indifference"/>
              </a:rPr>
              <a:t>Thermal Protection</a:t>
            </a:r>
          </a:p>
          <a:p>
            <a:pPr marL="898145" lvl="1" indent="-449072" algn="l">
              <a:lnSpc>
                <a:spcPts val="5824"/>
              </a:lnSpc>
              <a:buFont typeface="Arial"/>
              <a:buChar char="•"/>
            </a:pPr>
            <a:r>
              <a:rPr lang="en-US" sz="4160">
                <a:solidFill>
                  <a:srgbClr val="000000"/>
                </a:solidFill>
                <a:latin typeface="Glacial Indifference"/>
                <a:ea typeface="Glacial Indifference"/>
                <a:cs typeface="Glacial Indifference"/>
                <a:sym typeface="Glacial Indifference"/>
              </a:rPr>
              <a:t>Short Circuit Protection</a:t>
            </a:r>
          </a:p>
          <a:p>
            <a:pPr marL="898145" lvl="1" indent="-449072" algn="l">
              <a:lnSpc>
                <a:spcPts val="5824"/>
              </a:lnSpc>
              <a:buFont typeface="Arial"/>
              <a:buChar char="•"/>
            </a:pPr>
            <a:r>
              <a:rPr lang="en-US" sz="4160">
                <a:solidFill>
                  <a:srgbClr val="000000"/>
                </a:solidFill>
                <a:latin typeface="Glacial Indifference"/>
                <a:ea typeface="Glacial Indifference"/>
                <a:cs typeface="Glacial Indifference"/>
                <a:sym typeface="Glacial Indifference"/>
              </a:rPr>
              <a:t>Isolation Fault Detection</a:t>
            </a:r>
          </a:p>
          <a:p>
            <a:pPr algn="l">
              <a:lnSpc>
                <a:spcPts val="2304"/>
              </a:lnSpc>
              <a:spcBef>
                <a:spcPct val="0"/>
              </a:spcBef>
            </a:pPr>
            <a:endParaRPr lang="en-US" sz="4160">
              <a:solidFill>
                <a:srgbClr val="000000"/>
              </a:solidFill>
              <a:latin typeface="Glacial Indifference"/>
              <a:ea typeface="Glacial Indifference"/>
              <a:cs typeface="Glacial Indifference"/>
              <a:sym typeface="Glacial Indifference"/>
            </a:endParaRPr>
          </a:p>
        </p:txBody>
      </p:sp>
      <p:sp>
        <p:nvSpPr>
          <p:cNvPr id="7" name="TextBox 7"/>
          <p:cNvSpPr txBox="1"/>
          <p:nvPr/>
        </p:nvSpPr>
        <p:spPr>
          <a:xfrm>
            <a:off x="386635" y="296874"/>
            <a:ext cx="9105446" cy="9365834"/>
          </a:xfrm>
          <a:prstGeom prst="rect">
            <a:avLst/>
          </a:prstGeom>
        </p:spPr>
        <p:txBody>
          <a:bodyPr lIns="0" tIns="0" rIns="0" bIns="0" rtlCol="0" anchor="t">
            <a:spAutoFit/>
          </a:bodyPr>
          <a:lstStyle/>
          <a:p>
            <a:pPr algn="ctr">
              <a:lnSpc>
                <a:spcPts val="7657"/>
              </a:lnSpc>
            </a:pPr>
            <a:r>
              <a:rPr lang="en-US" sz="5469" b="1">
                <a:solidFill>
                  <a:srgbClr val="000000"/>
                </a:solidFill>
                <a:latin typeface="Source Sans Pro Bold"/>
                <a:ea typeface="Source Sans Pro Bold"/>
                <a:cs typeface="Source Sans Pro Bold"/>
                <a:sym typeface="Source Sans Pro Bold"/>
              </a:rPr>
              <a:t>TRACTIVE SYSTEM ACCUMULATOR:</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capacity:</a:t>
            </a:r>
            <a:r>
              <a:rPr lang="en-US" sz="4158">
                <a:solidFill>
                  <a:srgbClr val="000000"/>
                </a:solidFill>
                <a:highlight>
                  <a:srgbClr val="FFFF00"/>
                </a:highlight>
                <a:latin typeface="Source Sans Pro"/>
                <a:ea typeface="Source Sans Pro"/>
                <a:cs typeface="Source Sans Pro"/>
                <a:sym typeface="Source Sans Pro"/>
              </a:rPr>
              <a:t>120 Ah.</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peak voltage: </a:t>
            </a:r>
            <a:r>
              <a:rPr lang="en-US" sz="4158">
                <a:solidFill>
                  <a:srgbClr val="000000"/>
                </a:solidFill>
                <a:highlight>
                  <a:srgbClr val="FFFF00"/>
                </a:highlight>
                <a:latin typeface="Source Sans Pro"/>
                <a:ea typeface="Source Sans Pro"/>
                <a:cs typeface="Source Sans Pro"/>
                <a:sym typeface="Source Sans Pro"/>
              </a:rPr>
              <a:t>60 v DC.</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all electrical components must follow IP67 standards. </a:t>
            </a:r>
          </a:p>
          <a:p>
            <a:pPr marL="897916" lvl="1" indent="-448958" algn="l">
              <a:lnSpc>
                <a:spcPts val="5822"/>
              </a:lnSpc>
              <a:buFont typeface="Arial"/>
              <a:buChar char="•"/>
            </a:pPr>
            <a:r>
              <a:rPr lang="en-US" sz="4158">
                <a:solidFill>
                  <a:srgbClr val="000000"/>
                </a:solidFill>
                <a:latin typeface="Source Sans Pro"/>
                <a:ea typeface="Source Sans Pro"/>
                <a:cs typeface="Source Sans Pro"/>
                <a:sym typeface="Source Sans Pro"/>
              </a:rPr>
              <a:t> Battery must be of  Lithium ion chemistry.</a:t>
            </a:r>
          </a:p>
          <a:p>
            <a:pPr algn="l">
              <a:lnSpc>
                <a:spcPts val="5822"/>
              </a:lnSpc>
            </a:pPr>
            <a:endParaRPr lang="en-US" sz="4158">
              <a:solidFill>
                <a:srgbClr val="000000"/>
              </a:solidFill>
              <a:latin typeface="Source Sans Pro"/>
              <a:ea typeface="Source Sans Pro"/>
              <a:cs typeface="Source Sans Pro"/>
              <a:sym typeface="Source Sans Pro"/>
            </a:endParaRPr>
          </a:p>
          <a:p>
            <a:pPr algn="l">
              <a:lnSpc>
                <a:spcPts val="5822"/>
              </a:lnSpc>
            </a:pPr>
            <a:endParaRPr lang="en-US" sz="4158">
              <a:solidFill>
                <a:srgbClr val="000000"/>
              </a:solidFill>
              <a:latin typeface="Source Sans Pro"/>
              <a:ea typeface="Source Sans Pro"/>
              <a:cs typeface="Source Sans Pro"/>
              <a:sym typeface="Source Sans Pro"/>
            </a:endParaRPr>
          </a:p>
          <a:p>
            <a:pPr algn="ctr">
              <a:lnSpc>
                <a:spcPts val="5822"/>
              </a:lnSpc>
            </a:pPr>
            <a:endParaRPr lang="en-US" sz="4158">
              <a:solidFill>
                <a:srgbClr val="000000"/>
              </a:solidFill>
              <a:latin typeface="Source Sans Pro"/>
              <a:ea typeface="Source Sans Pro"/>
              <a:cs typeface="Source Sans Pro"/>
              <a:sym typeface="Source Sans Pro"/>
            </a:endParaRPr>
          </a:p>
          <a:p>
            <a:pPr algn="ctr">
              <a:lnSpc>
                <a:spcPts val="5822"/>
              </a:lnSpc>
              <a:spcBef>
                <a:spcPct val="0"/>
              </a:spcBef>
            </a:pPr>
            <a:endParaRPr lang="en-US" sz="4158">
              <a:solidFill>
                <a:srgbClr val="000000"/>
              </a:solidFill>
              <a:latin typeface="Source Sans Pro"/>
              <a:ea typeface="Source Sans Pro"/>
              <a:cs typeface="Source Sans Pro"/>
              <a:sym typeface="Source Sans Pro"/>
            </a:endParaRPr>
          </a:p>
        </p:txBody>
      </p:sp>
      <p:sp>
        <p:nvSpPr>
          <p:cNvPr id="8" name="AutoShape 8"/>
          <p:cNvSpPr/>
          <p:nvPr/>
        </p:nvSpPr>
        <p:spPr>
          <a:xfrm>
            <a:off x="8954231" y="1090451"/>
            <a:ext cx="0" cy="7149188"/>
          </a:xfrm>
          <a:prstGeom prst="line">
            <a:avLst/>
          </a:prstGeom>
          <a:ln w="38100" cap="flat">
            <a:solidFill>
              <a:srgbClr val="888FA1"/>
            </a:solidFill>
            <a:prstDash val="solid"/>
            <a:headEnd type="none" w="sm" len="sm"/>
            <a:tailEnd type="none" w="sm" len="sm"/>
          </a:ln>
        </p:spPr>
      </p:sp>
      <p:grpSp>
        <p:nvGrpSpPr>
          <p:cNvPr id="9" name="Group 9"/>
          <p:cNvGrpSpPr/>
          <p:nvPr/>
        </p:nvGrpSpPr>
        <p:grpSpPr>
          <a:xfrm>
            <a:off x="8752652" y="620894"/>
            <a:ext cx="381069" cy="469557"/>
            <a:chOff x="0" y="0"/>
            <a:chExt cx="659628" cy="812800"/>
          </a:xfrm>
        </p:grpSpPr>
        <p:sp>
          <p:nvSpPr>
            <p:cNvPr id="10" name="Freeform 10"/>
            <p:cNvSpPr/>
            <p:nvPr/>
          </p:nvSpPr>
          <p:spPr>
            <a:xfrm>
              <a:off x="0" y="0"/>
              <a:ext cx="659628" cy="812800"/>
            </a:xfrm>
            <a:custGeom>
              <a:avLst/>
              <a:gdLst/>
              <a:ahLst/>
              <a:cxnLst/>
              <a:rect l="l" t="t" r="r" b="b"/>
              <a:pathLst>
                <a:path w="659628" h="812800">
                  <a:moveTo>
                    <a:pt x="329814" y="0"/>
                  </a:moveTo>
                  <a:cubicBezTo>
                    <a:pt x="147663" y="0"/>
                    <a:pt x="0" y="181951"/>
                    <a:pt x="0" y="406400"/>
                  </a:cubicBezTo>
                  <a:cubicBezTo>
                    <a:pt x="0" y="630849"/>
                    <a:pt x="147663" y="812800"/>
                    <a:pt x="329814" y="812800"/>
                  </a:cubicBezTo>
                  <a:cubicBezTo>
                    <a:pt x="511965" y="812800"/>
                    <a:pt x="659628" y="630849"/>
                    <a:pt x="659628" y="406400"/>
                  </a:cubicBezTo>
                  <a:cubicBezTo>
                    <a:pt x="659628" y="181951"/>
                    <a:pt x="511965" y="0"/>
                    <a:pt x="329814" y="0"/>
                  </a:cubicBezTo>
                  <a:close/>
                </a:path>
              </a:pathLst>
            </a:custGeom>
            <a:solidFill>
              <a:srgbClr val="37359F"/>
            </a:solidFill>
          </p:spPr>
        </p:sp>
        <p:sp>
          <p:nvSpPr>
            <p:cNvPr id="11" name="TextBox 11"/>
            <p:cNvSpPr txBox="1"/>
            <p:nvPr/>
          </p:nvSpPr>
          <p:spPr>
            <a:xfrm>
              <a:off x="61840" y="28575"/>
              <a:ext cx="535947" cy="708025"/>
            </a:xfrm>
            <a:prstGeom prst="rect">
              <a:avLst/>
            </a:prstGeom>
          </p:spPr>
          <p:txBody>
            <a:bodyPr lIns="50800" tIns="50800" rIns="50800" bIns="50800" rtlCol="0" anchor="ctr"/>
            <a:lstStyle/>
            <a:p>
              <a:pPr algn="ctr">
                <a:lnSpc>
                  <a:spcPts val="3359"/>
                </a:lnSpc>
              </a:pPr>
              <a:endParaRPr/>
            </a:p>
          </p:txBody>
        </p:sp>
      </p:grpSp>
      <p:grpSp>
        <p:nvGrpSpPr>
          <p:cNvPr id="12" name="Group 12"/>
          <p:cNvGrpSpPr/>
          <p:nvPr/>
        </p:nvGrpSpPr>
        <p:grpSpPr>
          <a:xfrm>
            <a:off x="8768112" y="8042961"/>
            <a:ext cx="381069" cy="469557"/>
            <a:chOff x="0" y="0"/>
            <a:chExt cx="659628" cy="812800"/>
          </a:xfrm>
        </p:grpSpPr>
        <p:sp>
          <p:nvSpPr>
            <p:cNvPr id="13" name="Freeform 13"/>
            <p:cNvSpPr/>
            <p:nvPr/>
          </p:nvSpPr>
          <p:spPr>
            <a:xfrm>
              <a:off x="0" y="0"/>
              <a:ext cx="659628" cy="812800"/>
            </a:xfrm>
            <a:custGeom>
              <a:avLst/>
              <a:gdLst/>
              <a:ahLst/>
              <a:cxnLst/>
              <a:rect l="l" t="t" r="r" b="b"/>
              <a:pathLst>
                <a:path w="659628" h="812800">
                  <a:moveTo>
                    <a:pt x="329814" y="0"/>
                  </a:moveTo>
                  <a:cubicBezTo>
                    <a:pt x="147663" y="0"/>
                    <a:pt x="0" y="181951"/>
                    <a:pt x="0" y="406400"/>
                  </a:cubicBezTo>
                  <a:cubicBezTo>
                    <a:pt x="0" y="630849"/>
                    <a:pt x="147663" y="812800"/>
                    <a:pt x="329814" y="812800"/>
                  </a:cubicBezTo>
                  <a:cubicBezTo>
                    <a:pt x="511965" y="812800"/>
                    <a:pt x="659628" y="630849"/>
                    <a:pt x="659628" y="406400"/>
                  </a:cubicBezTo>
                  <a:cubicBezTo>
                    <a:pt x="659628" y="181951"/>
                    <a:pt x="511965" y="0"/>
                    <a:pt x="329814" y="0"/>
                  </a:cubicBezTo>
                  <a:close/>
                </a:path>
              </a:pathLst>
            </a:custGeom>
            <a:solidFill>
              <a:srgbClr val="37359F"/>
            </a:solidFill>
          </p:spPr>
        </p:sp>
        <p:sp>
          <p:nvSpPr>
            <p:cNvPr id="14" name="TextBox 14"/>
            <p:cNvSpPr txBox="1"/>
            <p:nvPr/>
          </p:nvSpPr>
          <p:spPr>
            <a:xfrm>
              <a:off x="61840" y="28575"/>
              <a:ext cx="535947" cy="708025"/>
            </a:xfrm>
            <a:prstGeom prst="rect">
              <a:avLst/>
            </a:prstGeom>
          </p:spPr>
          <p:txBody>
            <a:bodyPr lIns="50800" tIns="50800" rIns="50800" bIns="50800" rtlCol="0" anchor="ctr"/>
            <a:lstStyle/>
            <a:p>
              <a:pPr algn="ctr">
                <a:lnSpc>
                  <a:spcPts val="3359"/>
                </a:lnSpc>
              </a:pPr>
              <a:endParaRPr/>
            </a:p>
          </p:txBody>
        </p:sp>
      </p:grpSp>
      <mc:AlternateContent xmlns:mc="http://schemas.openxmlformats.org/markup-compatibility/2006">
        <mc:Choice xmlns:p14="http://schemas.microsoft.com/office/powerpoint/2010/main" Requires="p14">
          <p:contentPart p14:bwMode="auto" r:id="rId2">
            <p14:nvContentPartPr>
              <p14:cNvPr id="15" name="Ink 14">
                <a:extLst>
                  <a:ext uri="{FF2B5EF4-FFF2-40B4-BE49-F238E27FC236}">
                    <a16:creationId xmlns:a16="http://schemas.microsoft.com/office/drawing/2014/main" id="{FD09BE7E-D751-A317-BCBE-90C7BB2C23BD}"/>
                  </a:ext>
                </a:extLst>
              </p14:cNvPr>
              <p14:cNvContentPartPr/>
              <p14:nvPr/>
            </p14:nvContentPartPr>
            <p14:xfrm>
              <a:off x="3399550" y="2428179"/>
              <a:ext cx="1401120" cy="291240"/>
            </p14:xfrm>
          </p:contentPart>
        </mc:Choice>
        <mc:Fallback>
          <p:pic>
            <p:nvPicPr>
              <p:cNvPr id="15" name="Ink 14">
                <a:extLst>
                  <a:ext uri="{FF2B5EF4-FFF2-40B4-BE49-F238E27FC236}">
                    <a16:creationId xmlns:a16="http://schemas.microsoft.com/office/drawing/2014/main" id="{FD09BE7E-D751-A317-BCBE-90C7BB2C23BD}"/>
                  </a:ext>
                </a:extLst>
              </p:cNvPr>
              <p:cNvPicPr/>
              <p:nvPr/>
            </p:nvPicPr>
            <p:blipFill>
              <a:blip r:embed="rId3"/>
              <a:stretch>
                <a:fillRect/>
              </a:stretch>
            </p:blipFill>
            <p:spPr>
              <a:xfrm>
                <a:off x="3345536" y="2320045"/>
                <a:ext cx="1508788" cy="507147"/>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6" name="Ink 15">
                <a:extLst>
                  <a:ext uri="{FF2B5EF4-FFF2-40B4-BE49-F238E27FC236}">
                    <a16:creationId xmlns:a16="http://schemas.microsoft.com/office/drawing/2014/main" id="{AFB3497E-CDCC-FF99-4390-E7E78794DCAA}"/>
                  </a:ext>
                </a:extLst>
              </p14:cNvPr>
              <p14:cNvContentPartPr/>
              <p14:nvPr/>
            </p14:nvContentPartPr>
            <p14:xfrm>
              <a:off x="4453990" y="3288219"/>
              <a:ext cx="1443240" cy="187920"/>
            </p14:xfrm>
          </p:contentPart>
        </mc:Choice>
        <mc:Fallback>
          <p:pic>
            <p:nvPicPr>
              <p:cNvPr id="16" name="Ink 15">
                <a:extLst>
                  <a:ext uri="{FF2B5EF4-FFF2-40B4-BE49-F238E27FC236}">
                    <a16:creationId xmlns:a16="http://schemas.microsoft.com/office/drawing/2014/main" id="{AFB3497E-CDCC-FF99-4390-E7E78794DCAA}"/>
                  </a:ext>
                </a:extLst>
              </p:cNvPr>
              <p:cNvPicPr/>
              <p:nvPr/>
            </p:nvPicPr>
            <p:blipFill>
              <a:blip r:embed="rId5"/>
              <a:stretch>
                <a:fillRect/>
              </a:stretch>
            </p:blipFill>
            <p:spPr>
              <a:xfrm>
                <a:off x="4399990" y="3180012"/>
                <a:ext cx="1550880" cy="403974"/>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TextBox 6"/>
          <p:cNvSpPr txBox="1"/>
          <p:nvPr/>
        </p:nvSpPr>
        <p:spPr>
          <a:xfrm>
            <a:off x="386635" y="923925"/>
            <a:ext cx="8757365" cy="8083552"/>
          </a:xfrm>
          <a:prstGeom prst="rect">
            <a:avLst/>
          </a:prstGeom>
        </p:spPr>
        <p:txBody>
          <a:bodyPr lIns="0" tIns="0" rIns="0" bIns="0" rtlCol="0" anchor="t">
            <a:spAutoFit/>
          </a:bodyPr>
          <a:lstStyle/>
          <a:p>
            <a:pPr algn="ctr">
              <a:lnSpc>
                <a:spcPts val="8399"/>
              </a:lnSpc>
            </a:pPr>
            <a:r>
              <a:rPr lang="en-US" sz="5999" b="1">
                <a:solidFill>
                  <a:srgbClr val="000000"/>
                </a:solidFill>
                <a:latin typeface="Source Sans Pro Bold"/>
                <a:ea typeface="Source Sans Pro Bold"/>
                <a:cs typeface="Source Sans Pro Bold"/>
                <a:sym typeface="Source Sans Pro Bold"/>
              </a:rPr>
              <a:t>DC-DC Converter</a:t>
            </a:r>
          </a:p>
          <a:p>
            <a:pPr marL="863591" lvl="1" indent="-431796" algn="l">
              <a:lnSpc>
                <a:spcPts val="5599"/>
              </a:lnSpc>
              <a:buFont typeface="Arial"/>
              <a:buChar char="•"/>
            </a:pPr>
            <a:r>
              <a:rPr lang="en-US" sz="3999">
                <a:solidFill>
                  <a:srgbClr val="000000"/>
                </a:solidFill>
                <a:latin typeface="Source Sans Pro"/>
                <a:ea typeface="Source Sans Pro"/>
                <a:cs typeface="Source Sans Pro"/>
                <a:sym typeface="Source Sans Pro"/>
              </a:rPr>
              <a:t>Converts HV to LV DC.</a:t>
            </a:r>
          </a:p>
          <a:p>
            <a:pPr marL="863591" lvl="1" indent="-431796" algn="l">
              <a:lnSpc>
                <a:spcPts val="5599"/>
              </a:lnSpc>
              <a:buFont typeface="Arial"/>
              <a:buChar char="•"/>
            </a:pPr>
            <a:r>
              <a:rPr lang="en-US" sz="3999">
                <a:solidFill>
                  <a:srgbClr val="000000"/>
                </a:solidFill>
                <a:latin typeface="Source Sans Pro"/>
                <a:ea typeface="Source Sans Pro"/>
                <a:cs typeface="Source Sans Pro"/>
                <a:sym typeface="Source Sans Pro"/>
              </a:rPr>
              <a:t>Ensures HV-LV electrical isolation.</a:t>
            </a:r>
          </a:p>
          <a:p>
            <a:pPr marL="863591" lvl="1" indent="-431796" algn="l">
              <a:lnSpc>
                <a:spcPts val="5599"/>
              </a:lnSpc>
              <a:buFont typeface="Arial"/>
              <a:buChar char="•"/>
            </a:pPr>
            <a:r>
              <a:rPr lang="en-US" sz="3999">
                <a:solidFill>
                  <a:srgbClr val="000000"/>
                </a:solidFill>
                <a:latin typeface="Source Sans Pro"/>
                <a:ea typeface="Source Sans Pro"/>
                <a:cs typeface="Source Sans Pro"/>
                <a:sym typeface="Source Sans Pro"/>
              </a:rPr>
              <a:t>Matches LV load requirements.</a:t>
            </a:r>
          </a:p>
          <a:p>
            <a:pPr marL="863591" lvl="1" indent="-431796" algn="l">
              <a:lnSpc>
                <a:spcPts val="5599"/>
              </a:lnSpc>
              <a:buFont typeface="Arial"/>
              <a:buChar char="•"/>
            </a:pPr>
            <a:r>
              <a:rPr lang="en-US" sz="3999">
                <a:solidFill>
                  <a:srgbClr val="000000"/>
                </a:solidFill>
                <a:latin typeface="Source Sans Pro"/>
                <a:ea typeface="Source Sans Pro"/>
                <a:cs typeface="Source Sans Pro"/>
                <a:sym typeface="Source Sans Pro"/>
              </a:rPr>
              <a:t>Requires efficient thermal management.</a:t>
            </a:r>
          </a:p>
          <a:p>
            <a:pPr marL="863591" lvl="1" indent="-431796" algn="l">
              <a:lnSpc>
                <a:spcPts val="5599"/>
              </a:lnSpc>
              <a:buFont typeface="Arial"/>
              <a:buChar char="•"/>
            </a:pPr>
            <a:r>
              <a:rPr lang="en-US" sz="3999">
                <a:solidFill>
                  <a:srgbClr val="000000"/>
                </a:solidFill>
                <a:latin typeface="Source Sans Pro"/>
                <a:ea typeface="Source Sans Pro"/>
                <a:cs typeface="Source Sans Pro"/>
                <a:sym typeface="Source Sans Pro"/>
              </a:rPr>
              <a:t>Secure, vibration-resistant mounting.</a:t>
            </a:r>
          </a:p>
          <a:p>
            <a:pPr algn="l">
              <a:lnSpc>
                <a:spcPts val="5599"/>
              </a:lnSpc>
            </a:pPr>
            <a:endParaRPr lang="en-US" sz="3999">
              <a:solidFill>
                <a:srgbClr val="000000"/>
              </a:solidFill>
              <a:latin typeface="Source Sans Pro"/>
              <a:ea typeface="Source Sans Pro"/>
              <a:cs typeface="Source Sans Pro"/>
              <a:sym typeface="Source Sans Pro"/>
            </a:endParaRPr>
          </a:p>
          <a:p>
            <a:pPr algn="ctr">
              <a:lnSpc>
                <a:spcPts val="5599"/>
              </a:lnSpc>
            </a:pPr>
            <a:endParaRPr lang="en-US" sz="3999">
              <a:solidFill>
                <a:srgbClr val="000000"/>
              </a:solidFill>
              <a:latin typeface="Source Sans Pro"/>
              <a:ea typeface="Source Sans Pro"/>
              <a:cs typeface="Source Sans Pro"/>
              <a:sym typeface="Source Sans Pro"/>
            </a:endParaRPr>
          </a:p>
          <a:p>
            <a:pPr algn="ctr">
              <a:lnSpc>
                <a:spcPts val="5599"/>
              </a:lnSpc>
              <a:spcBef>
                <a:spcPct val="0"/>
              </a:spcBef>
            </a:pPr>
            <a:endParaRPr lang="en-US" sz="3999">
              <a:solidFill>
                <a:srgbClr val="000000"/>
              </a:solidFill>
              <a:latin typeface="Source Sans Pro"/>
              <a:ea typeface="Source Sans Pro"/>
              <a:cs typeface="Source Sans Pro"/>
              <a:sym typeface="Source Sans Pro"/>
            </a:endParaRPr>
          </a:p>
        </p:txBody>
      </p:sp>
      <p:sp>
        <p:nvSpPr>
          <p:cNvPr id="7" name="TextBox 7"/>
          <p:cNvSpPr txBox="1"/>
          <p:nvPr/>
        </p:nvSpPr>
        <p:spPr>
          <a:xfrm>
            <a:off x="9144000" y="923925"/>
            <a:ext cx="7491664" cy="8788402"/>
          </a:xfrm>
          <a:prstGeom prst="rect">
            <a:avLst/>
          </a:prstGeom>
        </p:spPr>
        <p:txBody>
          <a:bodyPr lIns="0" tIns="0" rIns="0" bIns="0" rtlCol="0" anchor="t">
            <a:spAutoFit/>
          </a:bodyPr>
          <a:lstStyle/>
          <a:p>
            <a:pPr algn="ctr">
              <a:lnSpc>
                <a:spcPts val="7522"/>
              </a:lnSpc>
            </a:pPr>
            <a:r>
              <a:rPr lang="en-US" sz="5373" b="1">
                <a:solidFill>
                  <a:srgbClr val="000000"/>
                </a:solidFill>
                <a:latin typeface="Glacial Indifference Bold"/>
                <a:ea typeface="Glacial Indifference Bold"/>
                <a:cs typeface="Glacial Indifference Bold"/>
                <a:sym typeface="Glacial Indifference Bold"/>
              </a:rPr>
              <a:t>Auxiliary Battery</a:t>
            </a:r>
          </a:p>
          <a:p>
            <a:pPr marL="830007" lvl="1" indent="-415003" algn="ctr">
              <a:lnSpc>
                <a:spcPts val="5382"/>
              </a:lnSpc>
              <a:buFont typeface="Arial"/>
              <a:buChar char="•"/>
            </a:pPr>
            <a:r>
              <a:rPr lang="en-US" sz="3844">
                <a:solidFill>
                  <a:srgbClr val="000000"/>
                </a:solidFill>
                <a:latin typeface="Glacial Indifference"/>
                <a:ea typeface="Glacial Indifference"/>
                <a:cs typeface="Glacial Indifference"/>
                <a:sym typeface="Glacial Indifference"/>
              </a:rPr>
              <a:t>Provides LV power backup.</a:t>
            </a:r>
          </a:p>
          <a:p>
            <a:pPr marL="830007" lvl="1" indent="-415003" algn="ctr">
              <a:lnSpc>
                <a:spcPts val="5382"/>
              </a:lnSpc>
              <a:buFont typeface="Arial"/>
              <a:buChar char="•"/>
            </a:pPr>
            <a:r>
              <a:rPr lang="en-US" sz="3844">
                <a:solidFill>
                  <a:srgbClr val="000000"/>
                </a:solidFill>
                <a:latin typeface="Glacial Indifference"/>
                <a:ea typeface="Glacial Indifference"/>
                <a:cs typeface="Glacial Indifference"/>
                <a:sym typeface="Glacial Indifference"/>
              </a:rPr>
              <a:t>Must be sealed, maintenance-free.</a:t>
            </a:r>
          </a:p>
          <a:p>
            <a:pPr marL="830007" lvl="1" indent="-415003" algn="ctr">
              <a:lnSpc>
                <a:spcPts val="5382"/>
              </a:lnSpc>
              <a:buFont typeface="Arial"/>
              <a:buChar char="•"/>
            </a:pPr>
            <a:r>
              <a:rPr lang="en-US" sz="3844">
                <a:solidFill>
                  <a:srgbClr val="000000"/>
                </a:solidFill>
                <a:latin typeface="Glacial Indifference"/>
                <a:ea typeface="Glacial Indifference"/>
                <a:cs typeface="Glacial Indifference"/>
                <a:sym typeface="Glacial Indifference"/>
              </a:rPr>
              <a:t>Requires proper voltage regulation.</a:t>
            </a:r>
          </a:p>
          <a:p>
            <a:pPr marL="830007" lvl="1" indent="-415003" algn="ctr">
              <a:lnSpc>
                <a:spcPts val="5382"/>
              </a:lnSpc>
              <a:buFont typeface="Arial"/>
              <a:buChar char="•"/>
            </a:pPr>
            <a:r>
              <a:rPr lang="en-US" sz="3844">
                <a:solidFill>
                  <a:srgbClr val="000000"/>
                </a:solidFill>
                <a:latin typeface="Glacial Indifference"/>
                <a:ea typeface="Glacial Indifference"/>
                <a:cs typeface="Glacial Indifference"/>
                <a:sym typeface="Glacial Indifference"/>
              </a:rPr>
              <a:t>Needs isolation and fault protection.</a:t>
            </a:r>
          </a:p>
          <a:p>
            <a:pPr marL="830007" lvl="1" indent="-415003" algn="ctr">
              <a:lnSpc>
                <a:spcPts val="5382"/>
              </a:lnSpc>
              <a:buFont typeface="Arial"/>
              <a:buChar char="•"/>
            </a:pPr>
            <a:r>
              <a:rPr lang="en-US" sz="3844">
                <a:solidFill>
                  <a:srgbClr val="000000"/>
                </a:solidFill>
                <a:latin typeface="Glacial Indifference"/>
                <a:ea typeface="Glacial Indifference"/>
                <a:cs typeface="Glacial Indifference"/>
                <a:sym typeface="Glacial Indifference"/>
              </a:rPr>
              <a:t>Secure, vibration-resistant enclosure.</a:t>
            </a:r>
          </a:p>
          <a:p>
            <a:pPr marL="830007" lvl="1" indent="-415003" algn="ctr">
              <a:lnSpc>
                <a:spcPts val="5382"/>
              </a:lnSpc>
              <a:buFont typeface="Arial"/>
              <a:buChar char="•"/>
            </a:pPr>
            <a:r>
              <a:rPr lang="en-US" sz="3844">
                <a:solidFill>
                  <a:srgbClr val="000000"/>
                </a:solidFill>
                <a:latin typeface="Glacial Indifference"/>
                <a:ea typeface="Glacial Indifference"/>
                <a:cs typeface="Glacial Indifference"/>
                <a:sym typeface="Glacial Indifference"/>
              </a:rPr>
              <a:t>Sized for auxiliary power demands</a:t>
            </a:r>
          </a:p>
          <a:p>
            <a:pPr algn="ctr">
              <a:lnSpc>
                <a:spcPts val="3008"/>
              </a:lnSpc>
              <a:spcBef>
                <a:spcPct val="0"/>
              </a:spcBef>
            </a:pPr>
            <a:endParaRPr lang="en-US" sz="3844">
              <a:solidFill>
                <a:srgbClr val="000000"/>
              </a:solidFill>
              <a:latin typeface="Glacial Indifference"/>
              <a:ea typeface="Glacial Indifference"/>
              <a:cs typeface="Glacial Indifference"/>
              <a:sym typeface="Glacial Indifference"/>
            </a:endParaRPr>
          </a:p>
        </p:txBody>
      </p:sp>
      <p:sp>
        <p:nvSpPr>
          <p:cNvPr id="8" name="AutoShape 8"/>
          <p:cNvSpPr/>
          <p:nvPr/>
        </p:nvSpPr>
        <p:spPr>
          <a:xfrm>
            <a:off x="9144000" y="1721779"/>
            <a:ext cx="0" cy="7149188"/>
          </a:xfrm>
          <a:prstGeom prst="line">
            <a:avLst/>
          </a:prstGeom>
          <a:ln w="38100" cap="flat">
            <a:solidFill>
              <a:srgbClr val="888FA1"/>
            </a:solidFill>
            <a:prstDash val="solid"/>
            <a:headEnd type="none" w="sm" len="sm"/>
            <a:tailEnd type="none" w="sm" len="sm"/>
          </a:ln>
        </p:spPr>
      </p:sp>
      <p:grpSp>
        <p:nvGrpSpPr>
          <p:cNvPr id="9" name="Group 9"/>
          <p:cNvGrpSpPr/>
          <p:nvPr/>
        </p:nvGrpSpPr>
        <p:grpSpPr>
          <a:xfrm>
            <a:off x="8895612" y="1252222"/>
            <a:ext cx="469557" cy="46955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359F"/>
            </a:solidFill>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2" name="Group 12"/>
          <p:cNvGrpSpPr/>
          <p:nvPr/>
        </p:nvGrpSpPr>
        <p:grpSpPr>
          <a:xfrm>
            <a:off x="8914662" y="8674289"/>
            <a:ext cx="469557" cy="46955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359F"/>
            </a:solidFill>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TextBox 6"/>
          <p:cNvSpPr txBox="1"/>
          <p:nvPr/>
        </p:nvSpPr>
        <p:spPr>
          <a:xfrm>
            <a:off x="861960" y="1569715"/>
            <a:ext cx="16955036" cy="8888144"/>
          </a:xfrm>
          <a:prstGeom prst="rect">
            <a:avLst/>
          </a:prstGeom>
        </p:spPr>
        <p:txBody>
          <a:bodyPr lIns="0" tIns="0" rIns="0" bIns="0" rtlCol="0" anchor="t">
            <a:spAutoFit/>
          </a:bodyPr>
          <a:lstStyle/>
          <a:p>
            <a:pPr algn="l">
              <a:lnSpc>
                <a:spcPts val="4127"/>
              </a:lnSpc>
            </a:pPr>
            <a:r>
              <a:rPr lang="en-US" sz="2948" b="1">
                <a:solidFill>
                  <a:srgbClr val="000000"/>
                </a:solidFill>
                <a:latin typeface="Source Sans Pro Bold"/>
                <a:ea typeface="Source Sans Pro Bold"/>
                <a:cs typeface="Source Sans Pro Bold"/>
                <a:sym typeface="Source Sans Pro Bold"/>
              </a:rPr>
              <a:t>1) </a:t>
            </a:r>
            <a:r>
              <a:rPr lang="en-US" sz="2948">
                <a:solidFill>
                  <a:srgbClr val="000000"/>
                </a:solidFill>
                <a:latin typeface="Source Sans Pro"/>
                <a:ea typeface="Source Sans Pro"/>
                <a:cs typeface="Source Sans Pro"/>
                <a:sym typeface="Source Sans Pro"/>
              </a:rPr>
              <a:t>The below tests are mandatory to be performed on the Accumulators for </a:t>
            </a:r>
            <a:r>
              <a:rPr lang="en-US" sz="2948" err="1">
                <a:solidFill>
                  <a:srgbClr val="000000"/>
                </a:solidFill>
                <a:latin typeface="Source Sans Pro"/>
                <a:ea typeface="Source Sans Pro"/>
                <a:cs typeface="Source Sans Pro"/>
                <a:sym typeface="Source Sans Pro"/>
              </a:rPr>
              <a:t>eBAJA</a:t>
            </a:r>
            <a:r>
              <a:rPr lang="en-US" sz="2948">
                <a:solidFill>
                  <a:srgbClr val="000000"/>
                </a:solidFill>
                <a:latin typeface="Source Sans Pro"/>
                <a:ea typeface="Source Sans Pro"/>
                <a:cs typeface="Source Sans Pro"/>
                <a:sym typeface="Source Sans Pro"/>
              </a:rPr>
              <a:t> if AIS 156 compliance authentic Certification is unavailable:</a:t>
            </a:r>
          </a:p>
          <a:p>
            <a:pPr algn="l">
              <a:lnSpc>
                <a:spcPts val="4127"/>
              </a:lnSpc>
            </a:pPr>
            <a:r>
              <a:rPr lang="en-US" sz="2948">
                <a:solidFill>
                  <a:srgbClr val="000000"/>
                </a:solidFill>
                <a:latin typeface="Source Sans Pro"/>
                <a:ea typeface="Source Sans Pro"/>
                <a:cs typeface="Source Sans Pro"/>
                <a:sym typeface="Source Sans Pro"/>
              </a:rPr>
              <a:t> </a:t>
            </a:r>
            <a:r>
              <a:rPr lang="en-US" sz="2948" err="1">
                <a:solidFill>
                  <a:srgbClr val="000000"/>
                </a:solidFill>
                <a:latin typeface="Source Sans Pro"/>
                <a:ea typeface="Source Sans Pro"/>
                <a:cs typeface="Source Sans Pro"/>
                <a:sym typeface="Source Sans Pro"/>
              </a:rPr>
              <a:t>i</a:t>
            </a:r>
            <a:r>
              <a:rPr lang="en-US" sz="2948">
                <a:solidFill>
                  <a:srgbClr val="000000"/>
                </a:solidFill>
                <a:latin typeface="Source Sans Pro"/>
                <a:ea typeface="Source Sans Pro"/>
                <a:cs typeface="Source Sans Pro"/>
                <a:sym typeface="Source Sans Pro"/>
              </a:rPr>
              <a:t>) Physical verification of battery pack including BMS safety features.</a:t>
            </a:r>
          </a:p>
          <a:p>
            <a:pPr algn="l">
              <a:lnSpc>
                <a:spcPts val="4127"/>
              </a:lnSpc>
            </a:pPr>
            <a:r>
              <a:rPr lang="en-US" sz="2948">
                <a:solidFill>
                  <a:srgbClr val="000000"/>
                </a:solidFill>
                <a:latin typeface="Source Sans Pro"/>
                <a:ea typeface="Source Sans Pro"/>
                <a:cs typeface="Source Sans Pro"/>
                <a:sym typeface="Source Sans Pro"/>
              </a:rPr>
              <a:t> ii) Vibration test.</a:t>
            </a:r>
          </a:p>
          <a:p>
            <a:pPr algn="l">
              <a:lnSpc>
                <a:spcPts val="4127"/>
              </a:lnSpc>
            </a:pPr>
            <a:r>
              <a:rPr lang="en-US" sz="2948">
                <a:solidFill>
                  <a:srgbClr val="000000"/>
                </a:solidFill>
                <a:latin typeface="Source Sans Pro"/>
                <a:ea typeface="Source Sans Pro"/>
                <a:cs typeface="Source Sans Pro"/>
                <a:sym typeface="Source Sans Pro"/>
              </a:rPr>
              <a:t> iii) Overcharge protection. </a:t>
            </a:r>
          </a:p>
          <a:p>
            <a:pPr algn="l">
              <a:lnSpc>
                <a:spcPts val="4127"/>
              </a:lnSpc>
            </a:pPr>
            <a:r>
              <a:rPr lang="en-US" sz="2948">
                <a:solidFill>
                  <a:srgbClr val="000000"/>
                </a:solidFill>
                <a:latin typeface="Source Sans Pro"/>
                <a:ea typeface="Source Sans Pro"/>
                <a:cs typeface="Source Sans Pro"/>
                <a:sym typeface="Source Sans Pro"/>
              </a:rPr>
              <a:t>iv) Over Temperature Protection.</a:t>
            </a:r>
          </a:p>
          <a:p>
            <a:pPr algn="l">
              <a:lnSpc>
                <a:spcPts val="4127"/>
              </a:lnSpc>
            </a:pPr>
            <a:endParaRPr lang="en-US" sz="2948">
              <a:solidFill>
                <a:srgbClr val="000000"/>
              </a:solidFill>
              <a:latin typeface="Source Sans Pro"/>
              <a:ea typeface="Source Sans Pro"/>
              <a:cs typeface="Source Sans Pro"/>
              <a:sym typeface="Source Sans Pro"/>
            </a:endParaRPr>
          </a:p>
          <a:p>
            <a:pPr algn="l">
              <a:lnSpc>
                <a:spcPts val="4127"/>
              </a:lnSpc>
            </a:pPr>
            <a:r>
              <a:rPr lang="en-US" sz="2948">
                <a:solidFill>
                  <a:srgbClr val="000000"/>
                </a:solidFill>
                <a:latin typeface="Source Sans Pro"/>
                <a:ea typeface="Source Sans Pro"/>
                <a:cs typeface="Source Sans Pro"/>
                <a:sym typeface="Source Sans Pro"/>
              </a:rPr>
              <a:t> </a:t>
            </a:r>
            <a:r>
              <a:rPr lang="en-US" sz="2948" b="1">
                <a:solidFill>
                  <a:srgbClr val="000000"/>
                </a:solidFill>
                <a:latin typeface="Source Sans Pro Bold"/>
                <a:ea typeface="Source Sans Pro Bold"/>
                <a:cs typeface="Source Sans Pro Bold"/>
                <a:sym typeface="Source Sans Pro Bold"/>
              </a:rPr>
              <a:t>2</a:t>
            </a:r>
            <a:r>
              <a:rPr lang="en-US" sz="2948">
                <a:solidFill>
                  <a:srgbClr val="000000"/>
                </a:solidFill>
                <a:latin typeface="Source Sans Pro"/>
                <a:ea typeface="Source Sans Pro"/>
                <a:cs typeface="Source Sans Pro"/>
                <a:sym typeface="Source Sans Pro"/>
              </a:rPr>
              <a:t>) The Tractive System shall include at </a:t>
            </a:r>
            <a:r>
              <a:rPr lang="en-US" sz="2948">
                <a:solidFill>
                  <a:srgbClr val="000000"/>
                </a:solidFill>
                <a:highlight>
                  <a:srgbClr val="FFFF00"/>
                </a:highlight>
                <a:latin typeface="Source Sans Pro"/>
                <a:ea typeface="Source Sans Pro"/>
                <a:cs typeface="Source Sans Pro"/>
                <a:sym typeface="Source Sans Pro"/>
              </a:rPr>
              <a:t>least one AIR and one Fuse</a:t>
            </a:r>
            <a:r>
              <a:rPr lang="en-US" sz="2948">
                <a:solidFill>
                  <a:srgbClr val="000000"/>
                </a:solidFill>
                <a:latin typeface="Source Sans Pro"/>
                <a:ea typeface="Source Sans Pro"/>
                <a:cs typeface="Source Sans Pro"/>
                <a:sym typeface="Source Sans Pro"/>
              </a:rPr>
              <a:t>, which will open the circuit and disconnect the energy flow from Accumulator(s) to the remaining tractive system whenever a fault is detected.</a:t>
            </a:r>
          </a:p>
          <a:p>
            <a:pPr algn="l">
              <a:lnSpc>
                <a:spcPts val="4127"/>
              </a:lnSpc>
            </a:pPr>
            <a:endParaRPr lang="en-US" sz="2948">
              <a:solidFill>
                <a:srgbClr val="000000"/>
              </a:solidFill>
              <a:latin typeface="Source Sans Pro"/>
              <a:ea typeface="Source Sans Pro"/>
              <a:cs typeface="Source Sans Pro"/>
              <a:sym typeface="Source Sans Pro"/>
            </a:endParaRPr>
          </a:p>
          <a:p>
            <a:pPr algn="l">
              <a:lnSpc>
                <a:spcPts val="4127"/>
              </a:lnSpc>
            </a:pPr>
            <a:r>
              <a:rPr lang="en-US" sz="2948">
                <a:solidFill>
                  <a:srgbClr val="000000"/>
                </a:solidFill>
                <a:latin typeface="Source Sans Pro"/>
                <a:ea typeface="Source Sans Pro"/>
                <a:cs typeface="Source Sans Pro"/>
                <a:sym typeface="Source Sans Pro"/>
              </a:rPr>
              <a:t> </a:t>
            </a:r>
            <a:r>
              <a:rPr lang="en-US" sz="2948" b="1">
                <a:solidFill>
                  <a:srgbClr val="000000"/>
                </a:solidFill>
                <a:latin typeface="Source Sans Pro Bold"/>
                <a:ea typeface="Source Sans Pro Bold"/>
                <a:cs typeface="Source Sans Pro Bold"/>
                <a:sym typeface="Source Sans Pro Bold"/>
              </a:rPr>
              <a:t>3) </a:t>
            </a:r>
            <a:r>
              <a:rPr lang="en-US" sz="2948">
                <a:solidFill>
                  <a:srgbClr val="000000"/>
                </a:solidFill>
                <a:latin typeface="Source Sans Pro"/>
                <a:ea typeface="Source Sans Pro"/>
                <a:cs typeface="Source Sans Pro"/>
                <a:sym typeface="Source Sans Pro"/>
              </a:rPr>
              <a:t>driver display must have the following:</a:t>
            </a:r>
          </a:p>
          <a:p>
            <a:pPr algn="l">
              <a:lnSpc>
                <a:spcPts val="4127"/>
              </a:lnSpc>
            </a:pPr>
            <a:r>
              <a:rPr lang="en-US" sz="2948">
                <a:solidFill>
                  <a:srgbClr val="000000"/>
                </a:solidFill>
                <a:latin typeface="Source Sans Pro"/>
                <a:ea typeface="Source Sans Pro"/>
                <a:cs typeface="Source Sans Pro"/>
                <a:sym typeface="Source Sans Pro"/>
              </a:rPr>
              <a:t>    1)State of Charge (SOC) Indicator                                   4) Vehicle Speed and Power Output        </a:t>
            </a:r>
          </a:p>
          <a:p>
            <a:pPr algn="l">
              <a:lnSpc>
                <a:spcPts val="4127"/>
              </a:lnSpc>
            </a:pPr>
            <a:r>
              <a:rPr lang="en-US" sz="2948">
                <a:solidFill>
                  <a:srgbClr val="000000"/>
                </a:solidFill>
                <a:latin typeface="Source Sans Pro"/>
                <a:ea typeface="Source Sans Pro"/>
                <a:cs typeface="Source Sans Pro"/>
                <a:sym typeface="Source Sans Pro"/>
              </a:rPr>
              <a:t>    2)Battery Voltage and Current Display                          5)Temperature Monitoring </a:t>
            </a:r>
          </a:p>
          <a:p>
            <a:pPr algn="l">
              <a:lnSpc>
                <a:spcPts val="4127"/>
              </a:lnSpc>
            </a:pPr>
            <a:r>
              <a:rPr lang="en-US" sz="2948">
                <a:solidFill>
                  <a:srgbClr val="000000"/>
                </a:solidFill>
                <a:latin typeface="Source Sans Pro"/>
                <a:ea typeface="Source Sans Pro"/>
                <a:cs typeface="Source Sans Pro"/>
                <a:sym typeface="Source Sans Pro"/>
              </a:rPr>
              <a:t>    3)Error and Fault Warnings</a:t>
            </a:r>
          </a:p>
          <a:p>
            <a:pPr algn="l">
              <a:lnSpc>
                <a:spcPts val="4127"/>
              </a:lnSpc>
            </a:pPr>
            <a:endParaRPr lang="en-US" sz="2948">
              <a:solidFill>
                <a:srgbClr val="000000"/>
              </a:solidFill>
              <a:latin typeface="Source Sans Pro"/>
              <a:ea typeface="Source Sans Pro"/>
              <a:cs typeface="Source Sans Pro"/>
              <a:sym typeface="Source Sans Pro"/>
            </a:endParaRPr>
          </a:p>
          <a:p>
            <a:pPr algn="l">
              <a:lnSpc>
                <a:spcPts val="4127"/>
              </a:lnSpc>
            </a:pPr>
            <a:endParaRPr lang="en-US" sz="2948">
              <a:solidFill>
                <a:srgbClr val="000000"/>
              </a:solidFill>
              <a:latin typeface="Source Sans Pro"/>
              <a:ea typeface="Source Sans Pro"/>
              <a:cs typeface="Source Sans Pro"/>
              <a:sym typeface="Source Sans Pro"/>
            </a:endParaRPr>
          </a:p>
        </p:txBody>
      </p:sp>
      <p:sp>
        <p:nvSpPr>
          <p:cNvPr id="7" name="TextBox 7"/>
          <p:cNvSpPr txBox="1"/>
          <p:nvPr/>
        </p:nvSpPr>
        <p:spPr>
          <a:xfrm>
            <a:off x="386635" y="554360"/>
            <a:ext cx="8420200" cy="853429"/>
          </a:xfrm>
          <a:prstGeom prst="rect">
            <a:avLst/>
          </a:prstGeom>
        </p:spPr>
        <p:txBody>
          <a:bodyPr lIns="0" tIns="0" rIns="0" bIns="0" rtlCol="0" anchor="t">
            <a:spAutoFit/>
          </a:bodyPr>
          <a:lstStyle/>
          <a:p>
            <a:pPr algn="ctr">
              <a:lnSpc>
                <a:spcPts val="7035"/>
              </a:lnSpc>
              <a:spcBef>
                <a:spcPct val="0"/>
              </a:spcBef>
            </a:pPr>
            <a:r>
              <a:rPr lang="en-US" sz="5025" b="1">
                <a:solidFill>
                  <a:srgbClr val="000000"/>
                </a:solidFill>
                <a:latin typeface="Source Sans Pro Bold"/>
                <a:ea typeface="Source Sans Pro Bold"/>
                <a:cs typeface="Source Sans Pro Bold"/>
                <a:sym typeface="Source Sans Pro Bold"/>
              </a:rPr>
              <a:t>General Requirements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grpSp>
        <p:nvGrpSpPr>
          <p:cNvPr id="2" name="Group 2"/>
          <p:cNvGrpSpPr/>
          <p:nvPr/>
        </p:nvGrpSpPr>
        <p:grpSpPr>
          <a:xfrm rot="2784433">
            <a:off x="13556832" y="-333422"/>
            <a:ext cx="2638100" cy="14870025"/>
            <a:chOff x="0" y="0"/>
            <a:chExt cx="884104" cy="4983376"/>
          </a:xfrm>
        </p:grpSpPr>
        <p:sp>
          <p:nvSpPr>
            <p:cNvPr id="3" name="Freeform 3"/>
            <p:cNvSpPr/>
            <p:nvPr/>
          </p:nvSpPr>
          <p:spPr>
            <a:xfrm>
              <a:off x="0" y="0"/>
              <a:ext cx="884104" cy="4983376"/>
            </a:xfrm>
            <a:custGeom>
              <a:avLst/>
              <a:gdLst/>
              <a:ahLst/>
              <a:cxnLst/>
              <a:rect l="l" t="t" r="r" b="b"/>
              <a:pathLst>
                <a:path w="884104" h="4983376">
                  <a:moveTo>
                    <a:pt x="0" y="0"/>
                  </a:moveTo>
                  <a:lnTo>
                    <a:pt x="884104" y="0"/>
                  </a:lnTo>
                  <a:lnTo>
                    <a:pt x="884104" y="4983376"/>
                  </a:lnTo>
                  <a:lnTo>
                    <a:pt x="0" y="4983376"/>
                  </a:lnTo>
                  <a:close/>
                </a:path>
              </a:pathLst>
            </a:custGeom>
            <a:solidFill>
              <a:srgbClr val="888FA1">
                <a:alpha val="15686"/>
              </a:srgbClr>
            </a:solidFill>
            <a:ln cap="sq">
              <a:noFill/>
              <a:prstDash val="solid"/>
              <a:miter/>
            </a:ln>
          </p:spPr>
        </p:sp>
        <p:sp>
          <p:nvSpPr>
            <p:cNvPr id="4" name="TextBox 4"/>
            <p:cNvSpPr txBox="1"/>
            <p:nvPr/>
          </p:nvSpPr>
          <p:spPr>
            <a:xfrm>
              <a:off x="0" y="-47625"/>
              <a:ext cx="884104" cy="5031001"/>
            </a:xfrm>
            <a:prstGeom prst="rect">
              <a:avLst/>
            </a:prstGeom>
          </p:spPr>
          <p:txBody>
            <a:bodyPr lIns="50800" tIns="50800" rIns="50800" bIns="50800" rtlCol="0" anchor="ctr"/>
            <a:lstStyle/>
            <a:p>
              <a:pPr algn="ctr">
                <a:lnSpc>
                  <a:spcPts val="3359"/>
                </a:lnSpc>
              </a:pPr>
              <a:endParaRPr/>
            </a:p>
          </p:txBody>
        </p:sp>
      </p:gr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grpSp>
        <p:nvGrpSpPr>
          <p:cNvPr id="6" name="Group 6"/>
          <p:cNvGrpSpPr/>
          <p:nvPr/>
        </p:nvGrpSpPr>
        <p:grpSpPr>
          <a:xfrm rot="986350">
            <a:off x="1132105" y="-1770937"/>
            <a:ext cx="2220985" cy="13828873"/>
            <a:chOff x="0" y="0"/>
            <a:chExt cx="744317" cy="4634456"/>
          </a:xfrm>
        </p:grpSpPr>
        <p:sp>
          <p:nvSpPr>
            <p:cNvPr id="7" name="Freeform 7"/>
            <p:cNvSpPr/>
            <p:nvPr/>
          </p:nvSpPr>
          <p:spPr>
            <a:xfrm>
              <a:off x="0" y="0"/>
              <a:ext cx="744317" cy="4634456"/>
            </a:xfrm>
            <a:custGeom>
              <a:avLst/>
              <a:gdLst/>
              <a:ahLst/>
              <a:cxnLst/>
              <a:rect l="l" t="t" r="r" b="b"/>
              <a:pathLst>
                <a:path w="744317" h="4634456">
                  <a:moveTo>
                    <a:pt x="0" y="0"/>
                  </a:moveTo>
                  <a:lnTo>
                    <a:pt x="744317" y="0"/>
                  </a:lnTo>
                  <a:lnTo>
                    <a:pt x="744317" y="4634456"/>
                  </a:lnTo>
                  <a:lnTo>
                    <a:pt x="0" y="4634456"/>
                  </a:lnTo>
                  <a:close/>
                </a:path>
              </a:pathLst>
            </a:custGeom>
            <a:solidFill>
              <a:srgbClr val="888FA1">
                <a:alpha val="15686"/>
              </a:srgbClr>
            </a:solidFill>
            <a:ln cap="sq">
              <a:noFill/>
              <a:prstDash val="solid"/>
              <a:miter/>
            </a:ln>
          </p:spPr>
        </p:sp>
        <p:sp>
          <p:nvSpPr>
            <p:cNvPr id="8" name="TextBox 8"/>
            <p:cNvSpPr txBox="1"/>
            <p:nvPr/>
          </p:nvSpPr>
          <p:spPr>
            <a:xfrm>
              <a:off x="0" y="-47625"/>
              <a:ext cx="744317" cy="4682081"/>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rot="-1562716">
            <a:off x="2877050" y="-2040832"/>
            <a:ext cx="5390569" cy="14694997"/>
            <a:chOff x="0" y="0"/>
            <a:chExt cx="1806536" cy="4924720"/>
          </a:xfrm>
        </p:grpSpPr>
        <p:sp>
          <p:nvSpPr>
            <p:cNvPr id="10" name="Freeform 10"/>
            <p:cNvSpPr/>
            <p:nvPr/>
          </p:nvSpPr>
          <p:spPr>
            <a:xfrm>
              <a:off x="0" y="0"/>
              <a:ext cx="1806536" cy="4924720"/>
            </a:xfrm>
            <a:custGeom>
              <a:avLst/>
              <a:gdLst/>
              <a:ahLst/>
              <a:cxnLst/>
              <a:rect l="l" t="t" r="r" b="b"/>
              <a:pathLst>
                <a:path w="1806536" h="4924720">
                  <a:moveTo>
                    <a:pt x="0" y="0"/>
                  </a:moveTo>
                  <a:lnTo>
                    <a:pt x="1806536" y="0"/>
                  </a:lnTo>
                  <a:lnTo>
                    <a:pt x="1806536" y="4924720"/>
                  </a:lnTo>
                  <a:lnTo>
                    <a:pt x="0" y="4924720"/>
                  </a:lnTo>
                  <a:close/>
                </a:path>
              </a:pathLst>
            </a:custGeom>
            <a:solidFill>
              <a:srgbClr val="888FA1">
                <a:alpha val="15686"/>
              </a:srgbClr>
            </a:solidFill>
            <a:ln cap="sq">
              <a:noFill/>
              <a:prstDash val="solid"/>
              <a:miter/>
            </a:ln>
          </p:spPr>
        </p:sp>
        <p:sp>
          <p:nvSpPr>
            <p:cNvPr id="11" name="TextBox 11"/>
            <p:cNvSpPr txBox="1"/>
            <p:nvPr/>
          </p:nvSpPr>
          <p:spPr>
            <a:xfrm>
              <a:off x="0" y="-47625"/>
              <a:ext cx="1806536" cy="4972345"/>
            </a:xfrm>
            <a:prstGeom prst="rect">
              <a:avLst/>
            </a:prstGeom>
          </p:spPr>
          <p:txBody>
            <a:bodyPr lIns="50800" tIns="50800" rIns="50800" bIns="50800" rtlCol="0" anchor="ctr"/>
            <a:lstStyle/>
            <a:p>
              <a:pPr algn="ctr">
                <a:lnSpc>
                  <a:spcPts val="3359"/>
                </a:lnSpc>
              </a:pPr>
              <a:endParaRPr/>
            </a:p>
          </p:txBody>
        </p:sp>
      </p:grpSp>
      <p:sp>
        <p:nvSpPr>
          <p:cNvPr id="12" name="AutoShape 12"/>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13" name="AutoShape 13"/>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14" name="AutoShape 14"/>
          <p:cNvSpPr/>
          <p:nvPr/>
        </p:nvSpPr>
        <p:spPr>
          <a:xfrm>
            <a:off x="386635" y="-882899"/>
            <a:ext cx="0" cy="11478159"/>
          </a:xfrm>
          <a:prstGeom prst="line">
            <a:avLst/>
          </a:prstGeom>
          <a:ln w="38100" cap="flat">
            <a:solidFill>
              <a:srgbClr val="888FA1"/>
            </a:solidFill>
            <a:prstDash val="solid"/>
            <a:headEnd type="none" w="sm" len="sm"/>
            <a:tailEnd type="none" w="sm" len="sm"/>
          </a:ln>
        </p:spPr>
      </p:sp>
      <p:grpSp>
        <p:nvGrpSpPr>
          <p:cNvPr id="15" name="Group 15"/>
          <p:cNvGrpSpPr/>
          <p:nvPr/>
        </p:nvGrpSpPr>
        <p:grpSpPr>
          <a:xfrm>
            <a:off x="1357288" y="1283481"/>
            <a:ext cx="7064397" cy="706439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B47"/>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8" name="TextBox 18"/>
          <p:cNvSpPr txBox="1"/>
          <p:nvPr/>
        </p:nvSpPr>
        <p:spPr>
          <a:xfrm>
            <a:off x="8421685" y="4318074"/>
            <a:ext cx="9395312" cy="1514475"/>
          </a:xfrm>
          <a:prstGeom prst="rect">
            <a:avLst/>
          </a:prstGeom>
        </p:spPr>
        <p:txBody>
          <a:bodyPr lIns="0" tIns="0" rIns="0" bIns="0" rtlCol="0" anchor="t">
            <a:spAutoFit/>
          </a:bodyPr>
          <a:lstStyle/>
          <a:p>
            <a:pPr marL="0" lvl="0" indent="0" algn="ctr">
              <a:lnSpc>
                <a:spcPts val="11999"/>
              </a:lnSpc>
              <a:spcBef>
                <a:spcPct val="0"/>
              </a:spcBef>
            </a:pPr>
            <a:r>
              <a:rPr lang="en-US" sz="9999" b="1">
                <a:solidFill>
                  <a:srgbClr val="37359F"/>
                </a:solidFill>
                <a:latin typeface="Flatory Serif Bold"/>
                <a:ea typeface="Flatory Serif Bold"/>
                <a:cs typeface="Flatory Serif Bold"/>
                <a:sym typeface="Flatory Serif Bold"/>
              </a:rPr>
              <a:t>Circuit diagram</a:t>
            </a:r>
          </a:p>
        </p:txBody>
      </p:sp>
      <p:sp>
        <p:nvSpPr>
          <p:cNvPr id="19" name="TextBox 19"/>
          <p:cNvSpPr txBox="1"/>
          <p:nvPr/>
        </p:nvSpPr>
        <p:spPr>
          <a:xfrm>
            <a:off x="12140271" y="1583573"/>
            <a:ext cx="1259152" cy="2902567"/>
          </a:xfrm>
          <a:prstGeom prst="rect">
            <a:avLst/>
          </a:prstGeom>
        </p:spPr>
        <p:txBody>
          <a:bodyPr lIns="0" tIns="0" rIns="0" bIns="0" rtlCol="0" anchor="t">
            <a:spAutoFit/>
          </a:bodyPr>
          <a:lstStyle/>
          <a:p>
            <a:pPr algn="ctr">
              <a:lnSpc>
                <a:spcPts val="23766"/>
              </a:lnSpc>
              <a:spcBef>
                <a:spcPct val="0"/>
              </a:spcBef>
            </a:pPr>
            <a:r>
              <a:rPr lang="en-US" sz="16975" b="1">
                <a:solidFill>
                  <a:srgbClr val="37359F"/>
                </a:solidFill>
                <a:latin typeface="Flatory Serif Bold"/>
                <a:ea typeface="Flatory Serif Bold"/>
                <a:cs typeface="Flatory Serif Bold"/>
                <a:sym typeface="Flatory Serif Bold"/>
              </a:rPr>
              <a:t>3</a:t>
            </a:r>
          </a:p>
        </p:txBody>
      </p:sp>
      <p:sp>
        <p:nvSpPr>
          <p:cNvPr id="20" name="Freeform 20"/>
          <p:cNvSpPr/>
          <p:nvPr/>
        </p:nvSpPr>
        <p:spPr>
          <a:xfrm rot="5400000" flipV="1">
            <a:off x="14396163" y="779924"/>
            <a:ext cx="2416858" cy="2416858"/>
          </a:xfrm>
          <a:custGeom>
            <a:avLst/>
            <a:gdLst/>
            <a:ahLst/>
            <a:cxnLst/>
            <a:rect l="l" t="t" r="r" b="b"/>
            <a:pathLst>
              <a:path w="2416858" h="2416858">
                <a:moveTo>
                  <a:pt x="0" y="2416857"/>
                </a:moveTo>
                <a:lnTo>
                  <a:pt x="2416858" y="2416857"/>
                </a:lnTo>
                <a:lnTo>
                  <a:pt x="2416858" y="0"/>
                </a:lnTo>
                <a:lnTo>
                  <a:pt x="0" y="0"/>
                </a:lnTo>
                <a:lnTo>
                  <a:pt x="0" y="241685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rot="5400000" flipV="1">
            <a:off x="1357288" y="1440821"/>
            <a:ext cx="1095063" cy="1095063"/>
          </a:xfrm>
          <a:custGeom>
            <a:avLst/>
            <a:gdLst/>
            <a:ahLst/>
            <a:cxnLst/>
            <a:rect l="l" t="t" r="r" b="b"/>
            <a:pathLst>
              <a:path w="1095063" h="1095063">
                <a:moveTo>
                  <a:pt x="0" y="1095063"/>
                </a:moveTo>
                <a:lnTo>
                  <a:pt x="1095063" y="1095063"/>
                </a:lnTo>
                <a:lnTo>
                  <a:pt x="1095063" y="0"/>
                </a:lnTo>
                <a:lnTo>
                  <a:pt x="0" y="0"/>
                </a:lnTo>
                <a:lnTo>
                  <a:pt x="0" y="109506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rot="-5400000" flipV="1">
            <a:off x="12863705" y="7631892"/>
            <a:ext cx="1095063" cy="1095063"/>
          </a:xfrm>
          <a:custGeom>
            <a:avLst/>
            <a:gdLst/>
            <a:ahLst/>
            <a:cxnLst/>
            <a:rect l="l" t="t" r="r" b="b"/>
            <a:pathLst>
              <a:path w="1095063" h="1095063">
                <a:moveTo>
                  <a:pt x="0" y="1095063"/>
                </a:moveTo>
                <a:lnTo>
                  <a:pt x="1095063" y="1095063"/>
                </a:lnTo>
                <a:lnTo>
                  <a:pt x="1095063" y="0"/>
                </a:lnTo>
                <a:lnTo>
                  <a:pt x="0" y="0"/>
                </a:lnTo>
                <a:lnTo>
                  <a:pt x="0" y="109506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Freeform 23"/>
          <p:cNvSpPr/>
          <p:nvPr/>
        </p:nvSpPr>
        <p:spPr>
          <a:xfrm>
            <a:off x="2102700" y="4288968"/>
            <a:ext cx="1089770" cy="1089770"/>
          </a:xfrm>
          <a:custGeom>
            <a:avLst/>
            <a:gdLst/>
            <a:ahLst/>
            <a:cxnLst/>
            <a:rect l="l" t="t" r="r" b="b"/>
            <a:pathLst>
              <a:path w="1089770" h="1089770">
                <a:moveTo>
                  <a:pt x="0" y="0"/>
                </a:moveTo>
                <a:lnTo>
                  <a:pt x="1089771" y="0"/>
                </a:lnTo>
                <a:lnTo>
                  <a:pt x="1089771" y="1089770"/>
                </a:lnTo>
                <a:lnTo>
                  <a:pt x="0" y="10897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Freeform 24"/>
          <p:cNvSpPr/>
          <p:nvPr/>
        </p:nvSpPr>
        <p:spPr>
          <a:xfrm>
            <a:off x="4359515" y="2182731"/>
            <a:ext cx="1014050" cy="1014050"/>
          </a:xfrm>
          <a:custGeom>
            <a:avLst/>
            <a:gdLst/>
            <a:ahLst/>
            <a:cxnLst/>
            <a:rect l="l" t="t" r="r" b="b"/>
            <a:pathLst>
              <a:path w="1014050" h="1014050">
                <a:moveTo>
                  <a:pt x="0" y="0"/>
                </a:moveTo>
                <a:lnTo>
                  <a:pt x="1014050" y="0"/>
                </a:lnTo>
                <a:lnTo>
                  <a:pt x="1014050" y="1014050"/>
                </a:lnTo>
                <a:lnTo>
                  <a:pt x="0" y="10140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Freeform 25"/>
          <p:cNvSpPr/>
          <p:nvPr/>
        </p:nvSpPr>
        <p:spPr>
          <a:xfrm>
            <a:off x="6773311" y="4175342"/>
            <a:ext cx="968158" cy="968158"/>
          </a:xfrm>
          <a:custGeom>
            <a:avLst/>
            <a:gdLst/>
            <a:ahLst/>
            <a:cxnLst/>
            <a:rect l="l" t="t" r="r" b="b"/>
            <a:pathLst>
              <a:path w="968158" h="968158">
                <a:moveTo>
                  <a:pt x="0" y="0"/>
                </a:moveTo>
                <a:lnTo>
                  <a:pt x="968158" y="0"/>
                </a:lnTo>
                <a:lnTo>
                  <a:pt x="968158" y="968158"/>
                </a:lnTo>
                <a:lnTo>
                  <a:pt x="0" y="96815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6" name="Freeform 26"/>
          <p:cNvSpPr/>
          <p:nvPr/>
        </p:nvSpPr>
        <p:spPr>
          <a:xfrm>
            <a:off x="4301968" y="4246335"/>
            <a:ext cx="1175037" cy="1175037"/>
          </a:xfrm>
          <a:custGeom>
            <a:avLst/>
            <a:gdLst/>
            <a:ahLst/>
            <a:cxnLst/>
            <a:rect l="l" t="t" r="r" b="b"/>
            <a:pathLst>
              <a:path w="1175037" h="1175037">
                <a:moveTo>
                  <a:pt x="0" y="0"/>
                </a:moveTo>
                <a:lnTo>
                  <a:pt x="1175036" y="0"/>
                </a:lnTo>
                <a:lnTo>
                  <a:pt x="1175036" y="1175036"/>
                </a:lnTo>
                <a:lnTo>
                  <a:pt x="0" y="117503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7" name="Freeform 27"/>
          <p:cNvSpPr/>
          <p:nvPr/>
        </p:nvSpPr>
        <p:spPr>
          <a:xfrm>
            <a:off x="4375860" y="6319772"/>
            <a:ext cx="1027252" cy="1027252"/>
          </a:xfrm>
          <a:custGeom>
            <a:avLst/>
            <a:gdLst/>
            <a:ahLst/>
            <a:cxnLst/>
            <a:rect l="l" t="t" r="r" b="b"/>
            <a:pathLst>
              <a:path w="1027252" h="1027252">
                <a:moveTo>
                  <a:pt x="0" y="0"/>
                </a:moveTo>
                <a:lnTo>
                  <a:pt x="1027252" y="0"/>
                </a:lnTo>
                <a:lnTo>
                  <a:pt x="1027252" y="1027252"/>
                </a:lnTo>
                <a:lnTo>
                  <a:pt x="0" y="102725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8" name="Freeform 28"/>
          <p:cNvSpPr/>
          <p:nvPr/>
        </p:nvSpPr>
        <p:spPr>
          <a:xfrm>
            <a:off x="12805599" y="7573786"/>
            <a:ext cx="1153169" cy="1153169"/>
          </a:xfrm>
          <a:custGeom>
            <a:avLst/>
            <a:gdLst/>
            <a:ahLst/>
            <a:cxnLst/>
            <a:rect l="l" t="t" r="r" b="b"/>
            <a:pathLst>
              <a:path w="1153169" h="1153169">
                <a:moveTo>
                  <a:pt x="0" y="0"/>
                </a:moveTo>
                <a:lnTo>
                  <a:pt x="1153169" y="0"/>
                </a:lnTo>
                <a:lnTo>
                  <a:pt x="1153169" y="1153169"/>
                </a:lnTo>
                <a:lnTo>
                  <a:pt x="0" y="115316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sp>
        <p:nvSpPr>
          <p:cNvPr id="2" name="AutoShape 2"/>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3" name="AutoShape 3"/>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4" name="AutoShape 4"/>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5" name="AutoShape 5"/>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6" name="Freeform 6"/>
          <p:cNvSpPr/>
          <p:nvPr/>
        </p:nvSpPr>
        <p:spPr>
          <a:xfrm>
            <a:off x="386635" y="2071677"/>
            <a:ext cx="17268323" cy="5935986"/>
          </a:xfrm>
          <a:custGeom>
            <a:avLst/>
            <a:gdLst/>
            <a:ahLst/>
            <a:cxnLst/>
            <a:rect l="l" t="t" r="r" b="b"/>
            <a:pathLst>
              <a:path w="17268323" h="5935986">
                <a:moveTo>
                  <a:pt x="0" y="0"/>
                </a:moveTo>
                <a:lnTo>
                  <a:pt x="17268323" y="0"/>
                </a:lnTo>
                <a:lnTo>
                  <a:pt x="17268323" y="5935986"/>
                </a:lnTo>
                <a:lnTo>
                  <a:pt x="0" y="5935986"/>
                </a:lnTo>
                <a:lnTo>
                  <a:pt x="0" y="0"/>
                </a:lnTo>
                <a:close/>
              </a:path>
            </a:pathLst>
          </a:custGeom>
          <a:blipFill>
            <a:blip r:embed="rId2"/>
            <a:stretch>
              <a:fillRect/>
            </a:stretch>
          </a:blipFill>
        </p:spPr>
      </p:sp>
      <p:grpSp>
        <p:nvGrpSpPr>
          <p:cNvPr id="7" name="Group 7"/>
          <p:cNvGrpSpPr/>
          <p:nvPr/>
        </p:nvGrpSpPr>
        <p:grpSpPr>
          <a:xfrm>
            <a:off x="17310735" y="2446972"/>
            <a:ext cx="416243" cy="416243"/>
            <a:chOff x="0" y="0"/>
            <a:chExt cx="554990" cy="554990"/>
          </a:xfrm>
        </p:grpSpPr>
        <p:sp>
          <p:nvSpPr>
            <p:cNvPr id="8" name="Freeform 8"/>
            <p:cNvSpPr/>
            <p:nvPr/>
          </p:nvSpPr>
          <p:spPr>
            <a:xfrm>
              <a:off x="48260" y="44450"/>
              <a:ext cx="449580" cy="461010"/>
            </a:xfrm>
            <a:custGeom>
              <a:avLst/>
              <a:gdLst/>
              <a:ahLst/>
              <a:cxnLst/>
              <a:rect l="l" t="t" r="r" b="b"/>
              <a:pathLst>
                <a:path w="449580" h="461010">
                  <a:moveTo>
                    <a:pt x="448310" y="162560"/>
                  </a:moveTo>
                  <a:cubicBezTo>
                    <a:pt x="449580" y="307340"/>
                    <a:pt x="431800" y="344170"/>
                    <a:pt x="410210" y="372110"/>
                  </a:cubicBezTo>
                  <a:cubicBezTo>
                    <a:pt x="388620" y="400050"/>
                    <a:pt x="356870" y="425450"/>
                    <a:pt x="323850" y="439420"/>
                  </a:cubicBezTo>
                  <a:cubicBezTo>
                    <a:pt x="292100" y="454660"/>
                    <a:pt x="252730" y="461010"/>
                    <a:pt x="217170" y="459740"/>
                  </a:cubicBezTo>
                  <a:cubicBezTo>
                    <a:pt x="181610" y="457200"/>
                    <a:pt x="142240" y="444500"/>
                    <a:pt x="111760" y="426720"/>
                  </a:cubicBezTo>
                  <a:cubicBezTo>
                    <a:pt x="82550" y="408940"/>
                    <a:pt x="53340" y="379730"/>
                    <a:pt x="35560" y="349250"/>
                  </a:cubicBezTo>
                  <a:cubicBezTo>
                    <a:pt x="16510" y="318770"/>
                    <a:pt x="5080" y="280670"/>
                    <a:pt x="2540" y="245110"/>
                  </a:cubicBezTo>
                  <a:cubicBezTo>
                    <a:pt x="0" y="209550"/>
                    <a:pt x="7620" y="170180"/>
                    <a:pt x="21590" y="137160"/>
                  </a:cubicBezTo>
                  <a:cubicBezTo>
                    <a:pt x="36830" y="105410"/>
                    <a:pt x="62230" y="72390"/>
                    <a:pt x="90170" y="50800"/>
                  </a:cubicBezTo>
                  <a:cubicBezTo>
                    <a:pt x="118110" y="29210"/>
                    <a:pt x="154940" y="12700"/>
                    <a:pt x="189230" y="6350"/>
                  </a:cubicBezTo>
                  <a:cubicBezTo>
                    <a:pt x="224790" y="0"/>
                    <a:pt x="265430" y="2540"/>
                    <a:pt x="298450" y="12700"/>
                  </a:cubicBezTo>
                  <a:cubicBezTo>
                    <a:pt x="332740" y="22860"/>
                    <a:pt x="392430" y="69850"/>
                    <a:pt x="392430" y="69850"/>
                  </a:cubicBezTo>
                </a:path>
              </a:pathLst>
            </a:custGeom>
            <a:solidFill>
              <a:srgbClr val="FAFAFA">
                <a:alpha val="24706"/>
              </a:srgbClr>
            </a:solidFill>
            <a:ln cap="sq">
              <a:noFill/>
              <a:prstDash val="solid"/>
              <a:miter/>
            </a:ln>
          </p:spPr>
        </p:sp>
      </p:grpSp>
      <p:grpSp>
        <p:nvGrpSpPr>
          <p:cNvPr id="9" name="Group 9"/>
          <p:cNvGrpSpPr/>
          <p:nvPr/>
        </p:nvGrpSpPr>
        <p:grpSpPr>
          <a:xfrm>
            <a:off x="17056418" y="2042160"/>
            <a:ext cx="894398" cy="1143952"/>
            <a:chOff x="0" y="0"/>
            <a:chExt cx="1192530" cy="1525270"/>
          </a:xfrm>
        </p:grpSpPr>
        <p:sp>
          <p:nvSpPr>
            <p:cNvPr id="10" name="Freeform 10"/>
            <p:cNvSpPr/>
            <p:nvPr/>
          </p:nvSpPr>
          <p:spPr>
            <a:xfrm>
              <a:off x="50800" y="50800"/>
              <a:ext cx="1090930" cy="1423670"/>
            </a:xfrm>
            <a:custGeom>
              <a:avLst/>
              <a:gdLst/>
              <a:ahLst/>
              <a:cxnLst/>
              <a:rect l="l" t="t" r="r" b="b"/>
              <a:pathLst>
                <a:path w="1090930" h="1423670">
                  <a:moveTo>
                    <a:pt x="0" y="1183640"/>
                  </a:moveTo>
                  <a:cubicBezTo>
                    <a:pt x="3810" y="1146810"/>
                    <a:pt x="5080" y="1129030"/>
                    <a:pt x="5080" y="1127760"/>
                  </a:cubicBezTo>
                  <a:cubicBezTo>
                    <a:pt x="5080" y="1127760"/>
                    <a:pt x="11430" y="1111250"/>
                    <a:pt x="13970" y="1102360"/>
                  </a:cubicBezTo>
                  <a:cubicBezTo>
                    <a:pt x="17780" y="1093470"/>
                    <a:pt x="24130" y="1076960"/>
                    <a:pt x="24130" y="1075690"/>
                  </a:cubicBezTo>
                  <a:cubicBezTo>
                    <a:pt x="24130" y="1074420"/>
                    <a:pt x="35560" y="910590"/>
                    <a:pt x="50800" y="824230"/>
                  </a:cubicBezTo>
                  <a:cubicBezTo>
                    <a:pt x="67310" y="732790"/>
                    <a:pt x="93980" y="619760"/>
                    <a:pt x="118110" y="544830"/>
                  </a:cubicBezTo>
                  <a:cubicBezTo>
                    <a:pt x="135890" y="491490"/>
                    <a:pt x="161290" y="440690"/>
                    <a:pt x="172720" y="414020"/>
                  </a:cubicBezTo>
                  <a:cubicBezTo>
                    <a:pt x="177800" y="402590"/>
                    <a:pt x="180340" y="397510"/>
                    <a:pt x="184150" y="388620"/>
                  </a:cubicBezTo>
                  <a:cubicBezTo>
                    <a:pt x="189230" y="381000"/>
                    <a:pt x="196850" y="364490"/>
                    <a:pt x="196850" y="364490"/>
                  </a:cubicBezTo>
                  <a:cubicBezTo>
                    <a:pt x="196850" y="364490"/>
                    <a:pt x="208280" y="350520"/>
                    <a:pt x="214630" y="342900"/>
                  </a:cubicBezTo>
                  <a:cubicBezTo>
                    <a:pt x="220980" y="336550"/>
                    <a:pt x="232410" y="322580"/>
                    <a:pt x="232410" y="322580"/>
                  </a:cubicBezTo>
                  <a:cubicBezTo>
                    <a:pt x="232410" y="321310"/>
                    <a:pt x="246380" y="311150"/>
                    <a:pt x="254000" y="306070"/>
                  </a:cubicBezTo>
                  <a:cubicBezTo>
                    <a:pt x="261620" y="299720"/>
                    <a:pt x="275590" y="289560"/>
                    <a:pt x="276860" y="289560"/>
                  </a:cubicBezTo>
                  <a:cubicBezTo>
                    <a:pt x="276860" y="289560"/>
                    <a:pt x="293370" y="281940"/>
                    <a:pt x="302260" y="279400"/>
                  </a:cubicBezTo>
                  <a:cubicBezTo>
                    <a:pt x="309880" y="275590"/>
                    <a:pt x="327660" y="267970"/>
                    <a:pt x="327660" y="267970"/>
                  </a:cubicBezTo>
                  <a:cubicBezTo>
                    <a:pt x="327660" y="267970"/>
                    <a:pt x="346710" y="265430"/>
                    <a:pt x="354330" y="264160"/>
                  </a:cubicBezTo>
                  <a:cubicBezTo>
                    <a:pt x="361950" y="262890"/>
                    <a:pt x="369570" y="264160"/>
                    <a:pt x="374650" y="261620"/>
                  </a:cubicBezTo>
                  <a:cubicBezTo>
                    <a:pt x="381000" y="259080"/>
                    <a:pt x="388620" y="248920"/>
                    <a:pt x="388620" y="248920"/>
                  </a:cubicBezTo>
                  <a:cubicBezTo>
                    <a:pt x="388620" y="248920"/>
                    <a:pt x="405130" y="241300"/>
                    <a:pt x="414020" y="237490"/>
                  </a:cubicBezTo>
                  <a:cubicBezTo>
                    <a:pt x="421640" y="232410"/>
                    <a:pt x="438150" y="224790"/>
                    <a:pt x="438150" y="224790"/>
                  </a:cubicBezTo>
                  <a:cubicBezTo>
                    <a:pt x="438150" y="224790"/>
                    <a:pt x="455930" y="220980"/>
                    <a:pt x="464820" y="218440"/>
                  </a:cubicBezTo>
                  <a:cubicBezTo>
                    <a:pt x="473710" y="215900"/>
                    <a:pt x="491490" y="212090"/>
                    <a:pt x="491490" y="212090"/>
                  </a:cubicBezTo>
                  <a:cubicBezTo>
                    <a:pt x="492760" y="212090"/>
                    <a:pt x="501650" y="215900"/>
                    <a:pt x="506730" y="212090"/>
                  </a:cubicBezTo>
                  <a:cubicBezTo>
                    <a:pt x="516890" y="205740"/>
                    <a:pt x="530860" y="163830"/>
                    <a:pt x="541020" y="148590"/>
                  </a:cubicBezTo>
                  <a:cubicBezTo>
                    <a:pt x="546100" y="138430"/>
                    <a:pt x="551180" y="133350"/>
                    <a:pt x="556260" y="125730"/>
                  </a:cubicBezTo>
                  <a:cubicBezTo>
                    <a:pt x="561340" y="118110"/>
                    <a:pt x="570230" y="102870"/>
                    <a:pt x="571500" y="102870"/>
                  </a:cubicBezTo>
                  <a:cubicBezTo>
                    <a:pt x="571500" y="101600"/>
                    <a:pt x="584200" y="90170"/>
                    <a:pt x="591820" y="83820"/>
                  </a:cubicBezTo>
                  <a:cubicBezTo>
                    <a:pt x="598170" y="77470"/>
                    <a:pt x="610870" y="66040"/>
                    <a:pt x="612140" y="64770"/>
                  </a:cubicBezTo>
                  <a:cubicBezTo>
                    <a:pt x="612140" y="64770"/>
                    <a:pt x="627380" y="55880"/>
                    <a:pt x="636270" y="52070"/>
                  </a:cubicBezTo>
                  <a:cubicBezTo>
                    <a:pt x="643890" y="46990"/>
                    <a:pt x="659130" y="39370"/>
                    <a:pt x="660400" y="39370"/>
                  </a:cubicBezTo>
                  <a:cubicBezTo>
                    <a:pt x="660400" y="38100"/>
                    <a:pt x="678180" y="34290"/>
                    <a:pt x="687070" y="31750"/>
                  </a:cubicBezTo>
                  <a:cubicBezTo>
                    <a:pt x="695960" y="29210"/>
                    <a:pt x="712470" y="25400"/>
                    <a:pt x="713740" y="24130"/>
                  </a:cubicBezTo>
                  <a:cubicBezTo>
                    <a:pt x="713740" y="24130"/>
                    <a:pt x="732790" y="24130"/>
                    <a:pt x="740410" y="24130"/>
                  </a:cubicBezTo>
                  <a:cubicBezTo>
                    <a:pt x="748030" y="24130"/>
                    <a:pt x="754380" y="25400"/>
                    <a:pt x="762000" y="24130"/>
                  </a:cubicBezTo>
                  <a:cubicBezTo>
                    <a:pt x="769620" y="21590"/>
                    <a:pt x="784860" y="12700"/>
                    <a:pt x="784860" y="12700"/>
                  </a:cubicBezTo>
                  <a:cubicBezTo>
                    <a:pt x="786130" y="12700"/>
                    <a:pt x="803910" y="7620"/>
                    <a:pt x="812800" y="6350"/>
                  </a:cubicBezTo>
                  <a:cubicBezTo>
                    <a:pt x="821690" y="3810"/>
                    <a:pt x="839470" y="0"/>
                    <a:pt x="839470" y="0"/>
                  </a:cubicBezTo>
                  <a:cubicBezTo>
                    <a:pt x="839470" y="0"/>
                    <a:pt x="857250" y="0"/>
                    <a:pt x="866140" y="1270"/>
                  </a:cubicBezTo>
                  <a:cubicBezTo>
                    <a:pt x="876300" y="1270"/>
                    <a:pt x="894080" y="1270"/>
                    <a:pt x="894080" y="1270"/>
                  </a:cubicBezTo>
                  <a:cubicBezTo>
                    <a:pt x="894080" y="1270"/>
                    <a:pt x="911860" y="6350"/>
                    <a:pt x="920750" y="8890"/>
                  </a:cubicBezTo>
                  <a:cubicBezTo>
                    <a:pt x="929640" y="11430"/>
                    <a:pt x="947420" y="15240"/>
                    <a:pt x="947420" y="15240"/>
                  </a:cubicBezTo>
                  <a:cubicBezTo>
                    <a:pt x="947420" y="15240"/>
                    <a:pt x="963930" y="24130"/>
                    <a:pt x="971550" y="29210"/>
                  </a:cubicBezTo>
                  <a:cubicBezTo>
                    <a:pt x="979170" y="33020"/>
                    <a:pt x="995680" y="41910"/>
                    <a:pt x="995680" y="41910"/>
                  </a:cubicBezTo>
                  <a:cubicBezTo>
                    <a:pt x="995680" y="41910"/>
                    <a:pt x="1009650" y="54610"/>
                    <a:pt x="1016000" y="60960"/>
                  </a:cubicBezTo>
                  <a:cubicBezTo>
                    <a:pt x="1022350" y="67310"/>
                    <a:pt x="1036320" y="78740"/>
                    <a:pt x="1036320" y="80010"/>
                  </a:cubicBezTo>
                  <a:cubicBezTo>
                    <a:pt x="1036320" y="80010"/>
                    <a:pt x="1046480" y="95250"/>
                    <a:pt x="1051560" y="102870"/>
                  </a:cubicBezTo>
                  <a:cubicBezTo>
                    <a:pt x="1056640" y="110490"/>
                    <a:pt x="1066800" y="125730"/>
                    <a:pt x="1066800" y="125730"/>
                  </a:cubicBezTo>
                  <a:cubicBezTo>
                    <a:pt x="1066800" y="125730"/>
                    <a:pt x="1073150" y="143510"/>
                    <a:pt x="1075690" y="151130"/>
                  </a:cubicBezTo>
                  <a:cubicBezTo>
                    <a:pt x="1079500" y="160020"/>
                    <a:pt x="1084580" y="176530"/>
                    <a:pt x="1084580" y="177800"/>
                  </a:cubicBezTo>
                  <a:cubicBezTo>
                    <a:pt x="1084580" y="177800"/>
                    <a:pt x="1087120" y="195580"/>
                    <a:pt x="1088390" y="204470"/>
                  </a:cubicBezTo>
                  <a:cubicBezTo>
                    <a:pt x="1088390" y="214630"/>
                    <a:pt x="1090930" y="232410"/>
                    <a:pt x="1090930" y="232410"/>
                  </a:cubicBezTo>
                  <a:cubicBezTo>
                    <a:pt x="1090930" y="232410"/>
                    <a:pt x="1088390" y="250190"/>
                    <a:pt x="1087120" y="259080"/>
                  </a:cubicBezTo>
                  <a:cubicBezTo>
                    <a:pt x="1085850" y="269240"/>
                    <a:pt x="1085850" y="273050"/>
                    <a:pt x="1083310" y="287020"/>
                  </a:cubicBezTo>
                  <a:cubicBezTo>
                    <a:pt x="1074420" y="327660"/>
                    <a:pt x="1031240" y="474980"/>
                    <a:pt x="1018540" y="527050"/>
                  </a:cubicBezTo>
                  <a:cubicBezTo>
                    <a:pt x="1013460" y="552450"/>
                    <a:pt x="1010920" y="563880"/>
                    <a:pt x="1007110" y="584200"/>
                  </a:cubicBezTo>
                  <a:cubicBezTo>
                    <a:pt x="1002030" y="608330"/>
                    <a:pt x="999490" y="635000"/>
                    <a:pt x="993140" y="664210"/>
                  </a:cubicBezTo>
                  <a:cubicBezTo>
                    <a:pt x="985520" y="701040"/>
                    <a:pt x="967740" y="746760"/>
                    <a:pt x="963930" y="784860"/>
                  </a:cubicBezTo>
                  <a:cubicBezTo>
                    <a:pt x="958850" y="819150"/>
                    <a:pt x="963930" y="882650"/>
                    <a:pt x="963930" y="882650"/>
                  </a:cubicBezTo>
                  <a:cubicBezTo>
                    <a:pt x="963930" y="882650"/>
                    <a:pt x="961390" y="900430"/>
                    <a:pt x="960120" y="909320"/>
                  </a:cubicBezTo>
                  <a:cubicBezTo>
                    <a:pt x="958850" y="919480"/>
                    <a:pt x="957580" y="937260"/>
                    <a:pt x="956310" y="937260"/>
                  </a:cubicBezTo>
                  <a:cubicBezTo>
                    <a:pt x="956310" y="937260"/>
                    <a:pt x="949960" y="953770"/>
                    <a:pt x="947420" y="962660"/>
                  </a:cubicBezTo>
                  <a:cubicBezTo>
                    <a:pt x="943610" y="971550"/>
                    <a:pt x="937260" y="988060"/>
                    <a:pt x="937260" y="989330"/>
                  </a:cubicBezTo>
                  <a:cubicBezTo>
                    <a:pt x="937260" y="989330"/>
                    <a:pt x="927100" y="1003300"/>
                    <a:pt x="922020" y="1010920"/>
                  </a:cubicBezTo>
                  <a:cubicBezTo>
                    <a:pt x="916940" y="1018540"/>
                    <a:pt x="906780" y="1033780"/>
                    <a:pt x="905510" y="1033780"/>
                  </a:cubicBezTo>
                  <a:cubicBezTo>
                    <a:pt x="905510" y="1033780"/>
                    <a:pt x="892810" y="1046480"/>
                    <a:pt x="885190" y="1052830"/>
                  </a:cubicBezTo>
                  <a:cubicBezTo>
                    <a:pt x="878840" y="1057910"/>
                    <a:pt x="864870" y="1070610"/>
                    <a:pt x="864870" y="1070610"/>
                  </a:cubicBezTo>
                  <a:cubicBezTo>
                    <a:pt x="864870" y="1070610"/>
                    <a:pt x="848360" y="1079500"/>
                    <a:pt x="840740" y="1083310"/>
                  </a:cubicBezTo>
                  <a:cubicBezTo>
                    <a:pt x="831850" y="1088390"/>
                    <a:pt x="816610" y="1096010"/>
                    <a:pt x="816610" y="1096010"/>
                  </a:cubicBezTo>
                  <a:cubicBezTo>
                    <a:pt x="815340" y="1096010"/>
                    <a:pt x="810260" y="1096010"/>
                    <a:pt x="805180" y="1098550"/>
                  </a:cubicBezTo>
                  <a:cubicBezTo>
                    <a:pt x="784860" y="1115060"/>
                    <a:pt x="713740" y="1270000"/>
                    <a:pt x="692150" y="1304290"/>
                  </a:cubicBezTo>
                  <a:cubicBezTo>
                    <a:pt x="684530" y="1315720"/>
                    <a:pt x="681990" y="1319530"/>
                    <a:pt x="676910" y="1327150"/>
                  </a:cubicBezTo>
                  <a:cubicBezTo>
                    <a:pt x="670560" y="1334770"/>
                    <a:pt x="660400" y="1348740"/>
                    <a:pt x="660400" y="1348740"/>
                  </a:cubicBezTo>
                  <a:cubicBezTo>
                    <a:pt x="660400" y="1350010"/>
                    <a:pt x="646430" y="1361440"/>
                    <a:pt x="640080" y="1367790"/>
                  </a:cubicBezTo>
                  <a:cubicBezTo>
                    <a:pt x="632460" y="1372870"/>
                    <a:pt x="619760" y="1385570"/>
                    <a:pt x="618490" y="1385570"/>
                  </a:cubicBezTo>
                  <a:cubicBezTo>
                    <a:pt x="618490" y="1385570"/>
                    <a:pt x="603250" y="1394460"/>
                    <a:pt x="594360" y="1398270"/>
                  </a:cubicBezTo>
                  <a:cubicBezTo>
                    <a:pt x="586740" y="1402080"/>
                    <a:pt x="570230" y="1410970"/>
                    <a:pt x="570230" y="1410970"/>
                  </a:cubicBezTo>
                  <a:cubicBezTo>
                    <a:pt x="570230" y="1410970"/>
                    <a:pt x="552450" y="1414780"/>
                    <a:pt x="543560" y="1417320"/>
                  </a:cubicBezTo>
                  <a:cubicBezTo>
                    <a:pt x="534670" y="1419860"/>
                    <a:pt x="516890" y="1423670"/>
                    <a:pt x="516890" y="1423670"/>
                  </a:cubicBezTo>
                  <a:cubicBezTo>
                    <a:pt x="515620" y="1423670"/>
                    <a:pt x="497840" y="1423670"/>
                    <a:pt x="488950" y="1423670"/>
                  </a:cubicBezTo>
                  <a:cubicBezTo>
                    <a:pt x="480060" y="1423670"/>
                    <a:pt x="462280" y="1423670"/>
                    <a:pt x="461010" y="1423670"/>
                  </a:cubicBezTo>
                  <a:cubicBezTo>
                    <a:pt x="461010" y="1423670"/>
                    <a:pt x="443230" y="1418590"/>
                    <a:pt x="434340" y="1416050"/>
                  </a:cubicBezTo>
                  <a:cubicBezTo>
                    <a:pt x="425450" y="1414780"/>
                    <a:pt x="408940" y="1409700"/>
                    <a:pt x="407670" y="1409700"/>
                  </a:cubicBezTo>
                  <a:cubicBezTo>
                    <a:pt x="407670" y="1409700"/>
                    <a:pt x="391160" y="1400810"/>
                    <a:pt x="383540" y="1397000"/>
                  </a:cubicBezTo>
                  <a:cubicBezTo>
                    <a:pt x="375920" y="1391920"/>
                    <a:pt x="359410" y="1384300"/>
                    <a:pt x="359410" y="1384300"/>
                  </a:cubicBezTo>
                  <a:cubicBezTo>
                    <a:pt x="359410" y="1383030"/>
                    <a:pt x="350520" y="1372870"/>
                    <a:pt x="346710" y="1371600"/>
                  </a:cubicBezTo>
                  <a:cubicBezTo>
                    <a:pt x="342900" y="1371600"/>
                    <a:pt x="341630" y="1374140"/>
                    <a:pt x="337820" y="1376680"/>
                  </a:cubicBezTo>
                  <a:cubicBezTo>
                    <a:pt x="332740" y="1379220"/>
                    <a:pt x="314960" y="1389380"/>
                    <a:pt x="313690" y="1389380"/>
                  </a:cubicBezTo>
                  <a:cubicBezTo>
                    <a:pt x="313690" y="1389380"/>
                    <a:pt x="295910" y="1394460"/>
                    <a:pt x="287020" y="1397000"/>
                  </a:cubicBezTo>
                  <a:cubicBezTo>
                    <a:pt x="278130" y="1399540"/>
                    <a:pt x="261620" y="1404620"/>
                    <a:pt x="261620" y="1404620"/>
                  </a:cubicBezTo>
                  <a:cubicBezTo>
                    <a:pt x="261620" y="1404620"/>
                    <a:pt x="261620" y="1404620"/>
                    <a:pt x="260350" y="1404620"/>
                  </a:cubicBezTo>
                  <a:cubicBezTo>
                    <a:pt x="260350" y="1404620"/>
                    <a:pt x="242570" y="1404620"/>
                    <a:pt x="233680" y="1404620"/>
                  </a:cubicBezTo>
                  <a:cubicBezTo>
                    <a:pt x="224790" y="1404620"/>
                    <a:pt x="205740" y="1405890"/>
                    <a:pt x="205740" y="1405890"/>
                  </a:cubicBezTo>
                  <a:cubicBezTo>
                    <a:pt x="205740" y="1405890"/>
                    <a:pt x="187960" y="1402080"/>
                    <a:pt x="179070" y="1399540"/>
                  </a:cubicBezTo>
                  <a:cubicBezTo>
                    <a:pt x="170180" y="1397000"/>
                    <a:pt x="152400" y="1393190"/>
                    <a:pt x="152400" y="1393190"/>
                  </a:cubicBezTo>
                  <a:cubicBezTo>
                    <a:pt x="151130" y="1393190"/>
                    <a:pt x="135890" y="1385570"/>
                    <a:pt x="127000" y="1381760"/>
                  </a:cubicBezTo>
                  <a:cubicBezTo>
                    <a:pt x="119380" y="1376680"/>
                    <a:pt x="102870" y="1369060"/>
                    <a:pt x="102870" y="1369060"/>
                  </a:cubicBezTo>
                  <a:cubicBezTo>
                    <a:pt x="102870" y="1369060"/>
                    <a:pt x="88900" y="1357630"/>
                    <a:pt x="81280" y="1351280"/>
                  </a:cubicBezTo>
                  <a:cubicBezTo>
                    <a:pt x="74930" y="1344930"/>
                    <a:pt x="60960" y="1333500"/>
                    <a:pt x="60960" y="1333500"/>
                  </a:cubicBezTo>
                  <a:cubicBezTo>
                    <a:pt x="60960" y="1333500"/>
                    <a:pt x="49530" y="1318260"/>
                    <a:pt x="44450" y="1310640"/>
                  </a:cubicBezTo>
                  <a:cubicBezTo>
                    <a:pt x="39370" y="1303020"/>
                    <a:pt x="27940" y="1289050"/>
                    <a:pt x="27940" y="1289050"/>
                  </a:cubicBezTo>
                  <a:cubicBezTo>
                    <a:pt x="27940" y="1287780"/>
                    <a:pt x="21590" y="1271270"/>
                    <a:pt x="17780" y="1263650"/>
                  </a:cubicBezTo>
                  <a:cubicBezTo>
                    <a:pt x="13970" y="1254760"/>
                    <a:pt x="7620" y="1238250"/>
                    <a:pt x="7620" y="1238250"/>
                  </a:cubicBezTo>
                  <a:cubicBezTo>
                    <a:pt x="7620" y="1238250"/>
                    <a:pt x="7620" y="1238250"/>
                    <a:pt x="7620" y="1236980"/>
                  </a:cubicBezTo>
                  <a:cubicBezTo>
                    <a:pt x="7620" y="1236980"/>
                    <a:pt x="5080" y="1219200"/>
                    <a:pt x="3810" y="1210310"/>
                  </a:cubicBezTo>
                  <a:cubicBezTo>
                    <a:pt x="2540" y="1201420"/>
                    <a:pt x="0" y="1183640"/>
                    <a:pt x="0" y="1183640"/>
                  </a:cubicBezTo>
                </a:path>
              </a:pathLst>
            </a:custGeom>
            <a:solidFill>
              <a:srgbClr val="FAFAFA">
                <a:alpha val="24706"/>
              </a:srgbClr>
            </a:solidFill>
            <a:ln cap="sq">
              <a:noFill/>
              <a:prstDash val="solid"/>
              <a:miter/>
            </a:ln>
          </p:spPr>
        </p:sp>
      </p:grpSp>
      <p:grpSp>
        <p:nvGrpSpPr>
          <p:cNvPr id="11" name="Group 11"/>
          <p:cNvGrpSpPr/>
          <p:nvPr/>
        </p:nvGrpSpPr>
        <p:grpSpPr>
          <a:xfrm>
            <a:off x="17278350" y="2137410"/>
            <a:ext cx="465772" cy="852488"/>
            <a:chOff x="0" y="0"/>
            <a:chExt cx="621030" cy="1136650"/>
          </a:xfrm>
        </p:grpSpPr>
        <p:sp>
          <p:nvSpPr>
            <p:cNvPr id="12" name="Freeform 12"/>
            <p:cNvSpPr/>
            <p:nvPr/>
          </p:nvSpPr>
          <p:spPr>
            <a:xfrm>
              <a:off x="46990" y="48260"/>
              <a:ext cx="530860" cy="1038860"/>
            </a:xfrm>
            <a:custGeom>
              <a:avLst/>
              <a:gdLst/>
              <a:ahLst/>
              <a:cxnLst/>
              <a:rect l="l" t="t" r="r" b="b"/>
              <a:pathLst>
                <a:path w="530860" h="1038860">
                  <a:moveTo>
                    <a:pt x="364490" y="958850"/>
                  </a:moveTo>
                  <a:cubicBezTo>
                    <a:pt x="368300" y="721360"/>
                    <a:pt x="373380" y="706120"/>
                    <a:pt x="383540" y="693420"/>
                  </a:cubicBezTo>
                  <a:cubicBezTo>
                    <a:pt x="391160" y="681990"/>
                    <a:pt x="402590" y="675640"/>
                    <a:pt x="415290" y="671830"/>
                  </a:cubicBezTo>
                  <a:cubicBezTo>
                    <a:pt x="430530" y="666750"/>
                    <a:pt x="454660" y="665480"/>
                    <a:pt x="471170" y="671830"/>
                  </a:cubicBezTo>
                  <a:cubicBezTo>
                    <a:pt x="487680" y="676910"/>
                    <a:pt x="504190" y="694690"/>
                    <a:pt x="513080" y="708660"/>
                  </a:cubicBezTo>
                  <a:cubicBezTo>
                    <a:pt x="519430" y="720090"/>
                    <a:pt x="528320" y="736600"/>
                    <a:pt x="521970" y="745490"/>
                  </a:cubicBezTo>
                  <a:cubicBezTo>
                    <a:pt x="509270" y="763270"/>
                    <a:pt x="377190" y="768350"/>
                    <a:pt x="363220" y="751840"/>
                  </a:cubicBezTo>
                  <a:cubicBezTo>
                    <a:pt x="356870" y="744220"/>
                    <a:pt x="365760" y="726440"/>
                    <a:pt x="372110" y="715010"/>
                  </a:cubicBezTo>
                  <a:cubicBezTo>
                    <a:pt x="381000" y="702310"/>
                    <a:pt x="397510" y="683260"/>
                    <a:pt x="415290" y="678180"/>
                  </a:cubicBezTo>
                  <a:cubicBezTo>
                    <a:pt x="434340" y="671830"/>
                    <a:pt x="469900" y="674370"/>
                    <a:pt x="487680" y="687070"/>
                  </a:cubicBezTo>
                  <a:cubicBezTo>
                    <a:pt x="505460" y="699770"/>
                    <a:pt x="528320" y="734060"/>
                    <a:pt x="521970" y="751840"/>
                  </a:cubicBezTo>
                  <a:cubicBezTo>
                    <a:pt x="513080" y="778510"/>
                    <a:pt x="421640" y="821690"/>
                    <a:pt x="387350" y="810260"/>
                  </a:cubicBezTo>
                  <a:cubicBezTo>
                    <a:pt x="351790" y="797560"/>
                    <a:pt x="337820" y="737870"/>
                    <a:pt x="313690" y="675640"/>
                  </a:cubicBezTo>
                  <a:cubicBezTo>
                    <a:pt x="267970" y="554990"/>
                    <a:pt x="139700" y="172720"/>
                    <a:pt x="182880" y="113030"/>
                  </a:cubicBezTo>
                  <a:cubicBezTo>
                    <a:pt x="200660" y="88900"/>
                    <a:pt x="262890" y="86360"/>
                    <a:pt x="279400" y="104140"/>
                  </a:cubicBezTo>
                  <a:cubicBezTo>
                    <a:pt x="302260" y="128270"/>
                    <a:pt x="261620" y="234950"/>
                    <a:pt x="242570" y="308610"/>
                  </a:cubicBezTo>
                  <a:cubicBezTo>
                    <a:pt x="219710" y="397510"/>
                    <a:pt x="170180" y="553720"/>
                    <a:pt x="143510" y="596900"/>
                  </a:cubicBezTo>
                  <a:cubicBezTo>
                    <a:pt x="133350" y="610870"/>
                    <a:pt x="127000" y="615950"/>
                    <a:pt x="115570" y="621030"/>
                  </a:cubicBezTo>
                  <a:cubicBezTo>
                    <a:pt x="101600" y="628650"/>
                    <a:pt x="78740" y="632460"/>
                    <a:pt x="62230" y="628650"/>
                  </a:cubicBezTo>
                  <a:cubicBezTo>
                    <a:pt x="45720" y="626110"/>
                    <a:pt x="26670" y="612140"/>
                    <a:pt x="17780" y="599440"/>
                  </a:cubicBezTo>
                  <a:cubicBezTo>
                    <a:pt x="8890" y="589280"/>
                    <a:pt x="5080" y="577850"/>
                    <a:pt x="3810" y="565150"/>
                  </a:cubicBezTo>
                  <a:cubicBezTo>
                    <a:pt x="2540" y="553720"/>
                    <a:pt x="0" y="542290"/>
                    <a:pt x="7620" y="529590"/>
                  </a:cubicBezTo>
                  <a:cubicBezTo>
                    <a:pt x="19050" y="506730"/>
                    <a:pt x="67310" y="464820"/>
                    <a:pt x="99060" y="454660"/>
                  </a:cubicBezTo>
                  <a:cubicBezTo>
                    <a:pt x="125730" y="445770"/>
                    <a:pt x="156210" y="447040"/>
                    <a:pt x="180340" y="457200"/>
                  </a:cubicBezTo>
                  <a:cubicBezTo>
                    <a:pt x="207010" y="466090"/>
                    <a:pt x="226060" y="491490"/>
                    <a:pt x="248920" y="515620"/>
                  </a:cubicBezTo>
                  <a:cubicBezTo>
                    <a:pt x="275590" y="544830"/>
                    <a:pt x="307340" y="591820"/>
                    <a:pt x="327660" y="624840"/>
                  </a:cubicBezTo>
                  <a:cubicBezTo>
                    <a:pt x="344170" y="650240"/>
                    <a:pt x="358140" y="669290"/>
                    <a:pt x="365760" y="695960"/>
                  </a:cubicBezTo>
                  <a:cubicBezTo>
                    <a:pt x="375920" y="725170"/>
                    <a:pt x="386080" y="769620"/>
                    <a:pt x="377190" y="796290"/>
                  </a:cubicBezTo>
                  <a:cubicBezTo>
                    <a:pt x="368300" y="820420"/>
                    <a:pt x="340360" y="830580"/>
                    <a:pt x="323850" y="854710"/>
                  </a:cubicBezTo>
                  <a:cubicBezTo>
                    <a:pt x="302260" y="882650"/>
                    <a:pt x="288290" y="937260"/>
                    <a:pt x="265430" y="956310"/>
                  </a:cubicBezTo>
                  <a:cubicBezTo>
                    <a:pt x="247650" y="970280"/>
                    <a:pt x="227330" y="972820"/>
                    <a:pt x="208280" y="974090"/>
                  </a:cubicBezTo>
                  <a:cubicBezTo>
                    <a:pt x="189230" y="975360"/>
                    <a:pt x="165100" y="974090"/>
                    <a:pt x="149860" y="965200"/>
                  </a:cubicBezTo>
                  <a:cubicBezTo>
                    <a:pt x="133350" y="955040"/>
                    <a:pt x="118110" y="934720"/>
                    <a:pt x="111760" y="918210"/>
                  </a:cubicBezTo>
                  <a:cubicBezTo>
                    <a:pt x="106680" y="905510"/>
                    <a:pt x="105410" y="892810"/>
                    <a:pt x="107950" y="878840"/>
                  </a:cubicBezTo>
                  <a:cubicBezTo>
                    <a:pt x="111760" y="862330"/>
                    <a:pt x="137160" y="826770"/>
                    <a:pt x="137160" y="826770"/>
                  </a:cubicBezTo>
                  <a:cubicBezTo>
                    <a:pt x="138430" y="826770"/>
                    <a:pt x="107950" y="881380"/>
                    <a:pt x="107950" y="880110"/>
                  </a:cubicBezTo>
                  <a:cubicBezTo>
                    <a:pt x="107950" y="880110"/>
                    <a:pt x="118110" y="844550"/>
                    <a:pt x="132080" y="831850"/>
                  </a:cubicBezTo>
                  <a:cubicBezTo>
                    <a:pt x="148590" y="817880"/>
                    <a:pt x="185420" y="806450"/>
                    <a:pt x="207010" y="808990"/>
                  </a:cubicBezTo>
                  <a:cubicBezTo>
                    <a:pt x="224790" y="811530"/>
                    <a:pt x="242570" y="822960"/>
                    <a:pt x="254000" y="835660"/>
                  </a:cubicBezTo>
                  <a:cubicBezTo>
                    <a:pt x="265430" y="848360"/>
                    <a:pt x="273050" y="867410"/>
                    <a:pt x="274320" y="885190"/>
                  </a:cubicBezTo>
                  <a:cubicBezTo>
                    <a:pt x="276860" y="901700"/>
                    <a:pt x="270510" y="922020"/>
                    <a:pt x="261620" y="937260"/>
                  </a:cubicBezTo>
                  <a:cubicBezTo>
                    <a:pt x="252730" y="951230"/>
                    <a:pt x="237490" y="965200"/>
                    <a:pt x="219710" y="970280"/>
                  </a:cubicBezTo>
                  <a:cubicBezTo>
                    <a:pt x="199390" y="976630"/>
                    <a:pt x="161290" y="974090"/>
                    <a:pt x="142240" y="960120"/>
                  </a:cubicBezTo>
                  <a:cubicBezTo>
                    <a:pt x="123190" y="946150"/>
                    <a:pt x="106680" y="913130"/>
                    <a:pt x="106680" y="889000"/>
                  </a:cubicBezTo>
                  <a:cubicBezTo>
                    <a:pt x="107950" y="866140"/>
                    <a:pt x="125730" y="833120"/>
                    <a:pt x="146050" y="820420"/>
                  </a:cubicBezTo>
                  <a:cubicBezTo>
                    <a:pt x="165100" y="808990"/>
                    <a:pt x="203200" y="805180"/>
                    <a:pt x="224790" y="814070"/>
                  </a:cubicBezTo>
                  <a:cubicBezTo>
                    <a:pt x="245110" y="824230"/>
                    <a:pt x="269240" y="853440"/>
                    <a:pt x="273050" y="876300"/>
                  </a:cubicBezTo>
                  <a:cubicBezTo>
                    <a:pt x="278130" y="900430"/>
                    <a:pt x="255270" y="942340"/>
                    <a:pt x="245110" y="956310"/>
                  </a:cubicBezTo>
                  <a:cubicBezTo>
                    <a:pt x="238760" y="963930"/>
                    <a:pt x="234950" y="965200"/>
                    <a:pt x="227330" y="967740"/>
                  </a:cubicBezTo>
                  <a:cubicBezTo>
                    <a:pt x="217170" y="971550"/>
                    <a:pt x="201930" y="976630"/>
                    <a:pt x="187960" y="975360"/>
                  </a:cubicBezTo>
                  <a:cubicBezTo>
                    <a:pt x="171450" y="974090"/>
                    <a:pt x="146050" y="963930"/>
                    <a:pt x="133350" y="952500"/>
                  </a:cubicBezTo>
                  <a:cubicBezTo>
                    <a:pt x="121920" y="943610"/>
                    <a:pt x="115570" y="932180"/>
                    <a:pt x="111760" y="918210"/>
                  </a:cubicBezTo>
                  <a:cubicBezTo>
                    <a:pt x="106680" y="901700"/>
                    <a:pt x="107950" y="875030"/>
                    <a:pt x="114300" y="858520"/>
                  </a:cubicBezTo>
                  <a:cubicBezTo>
                    <a:pt x="118110" y="845820"/>
                    <a:pt x="128270" y="831850"/>
                    <a:pt x="137160" y="826770"/>
                  </a:cubicBezTo>
                  <a:cubicBezTo>
                    <a:pt x="146050" y="822960"/>
                    <a:pt x="154940" y="831850"/>
                    <a:pt x="165100" y="828040"/>
                  </a:cubicBezTo>
                  <a:cubicBezTo>
                    <a:pt x="182880" y="822960"/>
                    <a:pt x="219710" y="802640"/>
                    <a:pt x="227330" y="781050"/>
                  </a:cubicBezTo>
                  <a:cubicBezTo>
                    <a:pt x="234950" y="753110"/>
                    <a:pt x="205740" y="704850"/>
                    <a:pt x="191770" y="670560"/>
                  </a:cubicBezTo>
                  <a:cubicBezTo>
                    <a:pt x="179070" y="638810"/>
                    <a:pt x="166370" y="582930"/>
                    <a:pt x="151130" y="580390"/>
                  </a:cubicBezTo>
                  <a:cubicBezTo>
                    <a:pt x="139700" y="579120"/>
                    <a:pt x="130810" y="613410"/>
                    <a:pt x="115570" y="621030"/>
                  </a:cubicBezTo>
                  <a:cubicBezTo>
                    <a:pt x="101600" y="629920"/>
                    <a:pt x="78740" y="632460"/>
                    <a:pt x="62230" y="628650"/>
                  </a:cubicBezTo>
                  <a:cubicBezTo>
                    <a:pt x="45720" y="626110"/>
                    <a:pt x="27940" y="613410"/>
                    <a:pt x="17780" y="599440"/>
                  </a:cubicBezTo>
                  <a:cubicBezTo>
                    <a:pt x="7620" y="585470"/>
                    <a:pt x="2540" y="570230"/>
                    <a:pt x="3810" y="547370"/>
                  </a:cubicBezTo>
                  <a:cubicBezTo>
                    <a:pt x="5080" y="505460"/>
                    <a:pt x="50800" y="435610"/>
                    <a:pt x="71120" y="367030"/>
                  </a:cubicBezTo>
                  <a:cubicBezTo>
                    <a:pt x="99060" y="276860"/>
                    <a:pt x="102870" y="109220"/>
                    <a:pt x="143510" y="52070"/>
                  </a:cubicBezTo>
                  <a:cubicBezTo>
                    <a:pt x="165100" y="21590"/>
                    <a:pt x="195580" y="0"/>
                    <a:pt x="223520" y="2540"/>
                  </a:cubicBezTo>
                  <a:cubicBezTo>
                    <a:pt x="254000" y="5080"/>
                    <a:pt x="294640" y="43180"/>
                    <a:pt x="320040" y="86360"/>
                  </a:cubicBezTo>
                  <a:cubicBezTo>
                    <a:pt x="360680" y="153670"/>
                    <a:pt x="364490" y="299720"/>
                    <a:pt x="392430" y="401320"/>
                  </a:cubicBezTo>
                  <a:cubicBezTo>
                    <a:pt x="417830" y="497840"/>
                    <a:pt x="501650" y="622300"/>
                    <a:pt x="480060" y="681990"/>
                  </a:cubicBezTo>
                  <a:cubicBezTo>
                    <a:pt x="464820" y="721360"/>
                    <a:pt x="370840" y="759460"/>
                    <a:pt x="363220" y="751840"/>
                  </a:cubicBezTo>
                  <a:cubicBezTo>
                    <a:pt x="358140" y="746760"/>
                    <a:pt x="381000" y="699770"/>
                    <a:pt x="397510" y="687070"/>
                  </a:cubicBezTo>
                  <a:cubicBezTo>
                    <a:pt x="412750" y="675640"/>
                    <a:pt x="435610" y="671830"/>
                    <a:pt x="452120" y="673100"/>
                  </a:cubicBezTo>
                  <a:cubicBezTo>
                    <a:pt x="469900" y="675640"/>
                    <a:pt x="490220" y="687070"/>
                    <a:pt x="501650" y="699770"/>
                  </a:cubicBezTo>
                  <a:cubicBezTo>
                    <a:pt x="514350" y="712470"/>
                    <a:pt x="529590" y="741680"/>
                    <a:pt x="521970" y="751840"/>
                  </a:cubicBezTo>
                  <a:cubicBezTo>
                    <a:pt x="509270" y="769620"/>
                    <a:pt x="375920" y="764540"/>
                    <a:pt x="363220" y="745490"/>
                  </a:cubicBezTo>
                  <a:cubicBezTo>
                    <a:pt x="355600" y="734060"/>
                    <a:pt x="372110" y="706120"/>
                    <a:pt x="383540" y="693420"/>
                  </a:cubicBezTo>
                  <a:cubicBezTo>
                    <a:pt x="394970" y="679450"/>
                    <a:pt x="415290" y="668020"/>
                    <a:pt x="433070" y="666750"/>
                  </a:cubicBezTo>
                  <a:cubicBezTo>
                    <a:pt x="454660" y="665480"/>
                    <a:pt x="487680" y="678180"/>
                    <a:pt x="501650" y="693420"/>
                  </a:cubicBezTo>
                  <a:cubicBezTo>
                    <a:pt x="515620" y="706120"/>
                    <a:pt x="518160" y="721360"/>
                    <a:pt x="521970" y="745490"/>
                  </a:cubicBezTo>
                  <a:cubicBezTo>
                    <a:pt x="530860" y="792480"/>
                    <a:pt x="529590" y="911860"/>
                    <a:pt x="520700" y="958850"/>
                  </a:cubicBezTo>
                  <a:cubicBezTo>
                    <a:pt x="516890" y="982980"/>
                    <a:pt x="513080" y="998220"/>
                    <a:pt x="501650" y="1010920"/>
                  </a:cubicBezTo>
                  <a:cubicBezTo>
                    <a:pt x="490220" y="1023620"/>
                    <a:pt x="467360" y="1033780"/>
                    <a:pt x="452120" y="1036320"/>
                  </a:cubicBezTo>
                  <a:cubicBezTo>
                    <a:pt x="439420" y="1038860"/>
                    <a:pt x="426720" y="1036320"/>
                    <a:pt x="415290" y="1031240"/>
                  </a:cubicBezTo>
                  <a:cubicBezTo>
                    <a:pt x="403860" y="1027430"/>
                    <a:pt x="392430" y="1021080"/>
                    <a:pt x="384810" y="1010920"/>
                  </a:cubicBezTo>
                  <a:cubicBezTo>
                    <a:pt x="374650" y="998220"/>
                    <a:pt x="364490" y="958850"/>
                    <a:pt x="364490" y="958850"/>
                  </a:cubicBezTo>
                </a:path>
              </a:pathLst>
            </a:custGeom>
            <a:solidFill>
              <a:srgbClr val="FFFFFF"/>
            </a:solidFill>
            <a:ln cap="sq">
              <a:noFill/>
              <a:prstDash val="solid"/>
              <a:miter/>
            </a:ln>
          </p:spPr>
        </p:sp>
      </p:grpSp>
      <p:grpSp>
        <p:nvGrpSpPr>
          <p:cNvPr id="13" name="Group 13"/>
          <p:cNvGrpSpPr/>
          <p:nvPr/>
        </p:nvGrpSpPr>
        <p:grpSpPr>
          <a:xfrm>
            <a:off x="17285018" y="2645092"/>
            <a:ext cx="296228" cy="333375"/>
            <a:chOff x="0" y="0"/>
            <a:chExt cx="394970" cy="444500"/>
          </a:xfrm>
        </p:grpSpPr>
        <p:sp>
          <p:nvSpPr>
            <p:cNvPr id="14" name="Freeform 14"/>
            <p:cNvSpPr/>
            <p:nvPr/>
          </p:nvSpPr>
          <p:spPr>
            <a:xfrm>
              <a:off x="49530" y="49530"/>
              <a:ext cx="295910" cy="346710"/>
            </a:xfrm>
            <a:custGeom>
              <a:avLst/>
              <a:gdLst/>
              <a:ahLst/>
              <a:cxnLst/>
              <a:rect l="l" t="t" r="r" b="b"/>
              <a:pathLst>
                <a:path w="295910" h="346710">
                  <a:moveTo>
                    <a:pt x="146050" y="39370"/>
                  </a:moveTo>
                  <a:cubicBezTo>
                    <a:pt x="293370" y="247650"/>
                    <a:pt x="295910" y="261620"/>
                    <a:pt x="293370" y="278130"/>
                  </a:cubicBezTo>
                  <a:cubicBezTo>
                    <a:pt x="289560" y="293370"/>
                    <a:pt x="280670" y="312420"/>
                    <a:pt x="267970" y="322580"/>
                  </a:cubicBezTo>
                  <a:cubicBezTo>
                    <a:pt x="256540" y="334010"/>
                    <a:pt x="237490" y="342900"/>
                    <a:pt x="220980" y="344170"/>
                  </a:cubicBezTo>
                  <a:cubicBezTo>
                    <a:pt x="204470" y="345440"/>
                    <a:pt x="185420" y="341630"/>
                    <a:pt x="171450" y="332740"/>
                  </a:cubicBezTo>
                  <a:cubicBezTo>
                    <a:pt x="157480" y="323850"/>
                    <a:pt x="143510" y="309880"/>
                    <a:pt x="138430" y="293370"/>
                  </a:cubicBezTo>
                  <a:cubicBezTo>
                    <a:pt x="132080" y="273050"/>
                    <a:pt x="134620" y="236220"/>
                    <a:pt x="147320" y="218440"/>
                  </a:cubicBezTo>
                  <a:cubicBezTo>
                    <a:pt x="160020" y="199390"/>
                    <a:pt x="191770" y="182880"/>
                    <a:pt x="214630" y="182880"/>
                  </a:cubicBezTo>
                  <a:cubicBezTo>
                    <a:pt x="236220" y="182880"/>
                    <a:pt x="267970" y="203200"/>
                    <a:pt x="280670" y="219710"/>
                  </a:cubicBezTo>
                  <a:cubicBezTo>
                    <a:pt x="290830" y="232410"/>
                    <a:pt x="294640" y="252730"/>
                    <a:pt x="293370" y="269240"/>
                  </a:cubicBezTo>
                  <a:cubicBezTo>
                    <a:pt x="293370" y="285750"/>
                    <a:pt x="284480" y="304800"/>
                    <a:pt x="274320" y="316230"/>
                  </a:cubicBezTo>
                  <a:cubicBezTo>
                    <a:pt x="264160" y="328930"/>
                    <a:pt x="245110" y="339090"/>
                    <a:pt x="229870" y="342900"/>
                  </a:cubicBezTo>
                  <a:cubicBezTo>
                    <a:pt x="213360" y="346710"/>
                    <a:pt x="196850" y="346710"/>
                    <a:pt x="179070" y="336550"/>
                  </a:cubicBezTo>
                  <a:cubicBezTo>
                    <a:pt x="139700" y="316230"/>
                    <a:pt x="71120" y="217170"/>
                    <a:pt x="40640" y="168910"/>
                  </a:cubicBezTo>
                  <a:cubicBezTo>
                    <a:pt x="21590" y="137160"/>
                    <a:pt x="2540" y="109220"/>
                    <a:pt x="1270" y="83820"/>
                  </a:cubicBezTo>
                  <a:cubicBezTo>
                    <a:pt x="0" y="64770"/>
                    <a:pt x="5080" y="44450"/>
                    <a:pt x="17780" y="30480"/>
                  </a:cubicBezTo>
                  <a:cubicBezTo>
                    <a:pt x="31750" y="15240"/>
                    <a:pt x="62230" y="0"/>
                    <a:pt x="83820" y="1270"/>
                  </a:cubicBezTo>
                  <a:cubicBezTo>
                    <a:pt x="105410" y="2540"/>
                    <a:pt x="146050" y="39370"/>
                    <a:pt x="146050" y="39370"/>
                  </a:cubicBezTo>
                </a:path>
              </a:pathLst>
            </a:custGeom>
            <a:solidFill>
              <a:srgbClr val="FFFFFF"/>
            </a:solidFill>
            <a:ln cap="sq">
              <a:noFill/>
              <a:prstDash val="solid"/>
              <a:miter/>
            </a:ln>
          </p:spPr>
        </p:sp>
      </p:grpSp>
      <p:grpSp>
        <p:nvGrpSpPr>
          <p:cNvPr id="15" name="Group 15"/>
          <p:cNvGrpSpPr/>
          <p:nvPr/>
        </p:nvGrpSpPr>
        <p:grpSpPr>
          <a:xfrm>
            <a:off x="17242155" y="2366962"/>
            <a:ext cx="450532" cy="544830"/>
            <a:chOff x="0" y="0"/>
            <a:chExt cx="600710" cy="726440"/>
          </a:xfrm>
        </p:grpSpPr>
        <p:sp>
          <p:nvSpPr>
            <p:cNvPr id="16" name="Freeform 16"/>
            <p:cNvSpPr/>
            <p:nvPr/>
          </p:nvSpPr>
          <p:spPr>
            <a:xfrm>
              <a:off x="45720" y="49530"/>
              <a:ext cx="504190" cy="631190"/>
            </a:xfrm>
            <a:custGeom>
              <a:avLst/>
              <a:gdLst/>
              <a:ahLst/>
              <a:cxnLst/>
              <a:rect l="l" t="t" r="r" b="b"/>
              <a:pathLst>
                <a:path w="504190" h="631190">
                  <a:moveTo>
                    <a:pt x="351790" y="575310"/>
                  </a:moveTo>
                  <a:cubicBezTo>
                    <a:pt x="342900" y="502920"/>
                    <a:pt x="426720" y="491490"/>
                    <a:pt x="436880" y="505460"/>
                  </a:cubicBezTo>
                  <a:cubicBezTo>
                    <a:pt x="445770" y="519430"/>
                    <a:pt x="407670" y="589280"/>
                    <a:pt x="382270" y="604520"/>
                  </a:cubicBezTo>
                  <a:cubicBezTo>
                    <a:pt x="360680" y="617220"/>
                    <a:pt x="328930" y="617220"/>
                    <a:pt x="300990" y="604520"/>
                  </a:cubicBezTo>
                  <a:cubicBezTo>
                    <a:pt x="257810" y="584200"/>
                    <a:pt x="209550" y="508000"/>
                    <a:pt x="168910" y="449580"/>
                  </a:cubicBezTo>
                  <a:cubicBezTo>
                    <a:pt x="121920" y="384810"/>
                    <a:pt x="66040" y="288290"/>
                    <a:pt x="39370" y="228600"/>
                  </a:cubicBezTo>
                  <a:cubicBezTo>
                    <a:pt x="24130" y="191770"/>
                    <a:pt x="13970" y="165100"/>
                    <a:pt x="10160" y="134620"/>
                  </a:cubicBezTo>
                  <a:cubicBezTo>
                    <a:pt x="7620" y="104140"/>
                    <a:pt x="5080" y="67310"/>
                    <a:pt x="16510" y="45720"/>
                  </a:cubicBezTo>
                  <a:cubicBezTo>
                    <a:pt x="25400" y="26670"/>
                    <a:pt x="45720" y="12700"/>
                    <a:pt x="62230" y="5080"/>
                  </a:cubicBezTo>
                  <a:cubicBezTo>
                    <a:pt x="74930" y="0"/>
                    <a:pt x="90170" y="0"/>
                    <a:pt x="102870" y="1270"/>
                  </a:cubicBezTo>
                  <a:cubicBezTo>
                    <a:pt x="115570" y="2540"/>
                    <a:pt x="129540" y="7620"/>
                    <a:pt x="140970" y="16510"/>
                  </a:cubicBezTo>
                  <a:cubicBezTo>
                    <a:pt x="153670" y="26670"/>
                    <a:pt x="165100" y="40640"/>
                    <a:pt x="173990" y="66040"/>
                  </a:cubicBezTo>
                  <a:cubicBezTo>
                    <a:pt x="193040" y="120650"/>
                    <a:pt x="180340" y="265430"/>
                    <a:pt x="200660" y="344170"/>
                  </a:cubicBezTo>
                  <a:cubicBezTo>
                    <a:pt x="215900" y="407670"/>
                    <a:pt x="283210" y="487680"/>
                    <a:pt x="266700" y="506730"/>
                  </a:cubicBezTo>
                  <a:cubicBezTo>
                    <a:pt x="254000" y="523240"/>
                    <a:pt x="173990" y="496570"/>
                    <a:pt x="142240" y="480060"/>
                  </a:cubicBezTo>
                  <a:cubicBezTo>
                    <a:pt x="118110" y="466090"/>
                    <a:pt x="97790" y="447040"/>
                    <a:pt x="88900" y="425450"/>
                  </a:cubicBezTo>
                  <a:cubicBezTo>
                    <a:pt x="80010" y="403860"/>
                    <a:pt x="82550" y="373380"/>
                    <a:pt x="86360" y="351790"/>
                  </a:cubicBezTo>
                  <a:cubicBezTo>
                    <a:pt x="88900" y="331470"/>
                    <a:pt x="92710" y="312420"/>
                    <a:pt x="102870" y="298450"/>
                  </a:cubicBezTo>
                  <a:cubicBezTo>
                    <a:pt x="113030" y="283210"/>
                    <a:pt x="130810" y="270510"/>
                    <a:pt x="148590" y="265430"/>
                  </a:cubicBezTo>
                  <a:cubicBezTo>
                    <a:pt x="165100" y="260350"/>
                    <a:pt x="186690" y="259080"/>
                    <a:pt x="204470" y="266700"/>
                  </a:cubicBezTo>
                  <a:cubicBezTo>
                    <a:pt x="224790" y="276860"/>
                    <a:pt x="252730" y="304800"/>
                    <a:pt x="259080" y="328930"/>
                  </a:cubicBezTo>
                  <a:cubicBezTo>
                    <a:pt x="264160" y="351790"/>
                    <a:pt x="255270" y="391160"/>
                    <a:pt x="238760" y="408940"/>
                  </a:cubicBezTo>
                  <a:cubicBezTo>
                    <a:pt x="222250" y="426720"/>
                    <a:pt x="185420" y="439420"/>
                    <a:pt x="161290" y="436880"/>
                  </a:cubicBezTo>
                  <a:cubicBezTo>
                    <a:pt x="137160" y="433070"/>
                    <a:pt x="106680" y="407670"/>
                    <a:pt x="95250" y="388620"/>
                  </a:cubicBezTo>
                  <a:cubicBezTo>
                    <a:pt x="85090" y="372110"/>
                    <a:pt x="83820" y="349250"/>
                    <a:pt x="87630" y="332740"/>
                  </a:cubicBezTo>
                  <a:cubicBezTo>
                    <a:pt x="91440" y="314960"/>
                    <a:pt x="101600" y="295910"/>
                    <a:pt x="115570" y="283210"/>
                  </a:cubicBezTo>
                  <a:cubicBezTo>
                    <a:pt x="128270" y="271780"/>
                    <a:pt x="149860" y="262890"/>
                    <a:pt x="166370" y="261620"/>
                  </a:cubicBezTo>
                  <a:cubicBezTo>
                    <a:pt x="184150" y="260350"/>
                    <a:pt x="205740" y="266700"/>
                    <a:pt x="220980" y="275590"/>
                  </a:cubicBezTo>
                  <a:cubicBezTo>
                    <a:pt x="236220" y="285750"/>
                    <a:pt x="246380" y="298450"/>
                    <a:pt x="256540" y="320040"/>
                  </a:cubicBezTo>
                  <a:cubicBezTo>
                    <a:pt x="275590" y="361950"/>
                    <a:pt x="299720" y="473710"/>
                    <a:pt x="292100" y="524510"/>
                  </a:cubicBezTo>
                  <a:cubicBezTo>
                    <a:pt x="287020" y="558800"/>
                    <a:pt x="276860" y="595630"/>
                    <a:pt x="254000" y="604520"/>
                  </a:cubicBezTo>
                  <a:cubicBezTo>
                    <a:pt x="223520" y="617220"/>
                    <a:pt x="146050" y="585470"/>
                    <a:pt x="109220" y="551180"/>
                  </a:cubicBezTo>
                  <a:cubicBezTo>
                    <a:pt x="68580" y="513080"/>
                    <a:pt x="48260" y="436880"/>
                    <a:pt x="31750" y="377190"/>
                  </a:cubicBezTo>
                  <a:cubicBezTo>
                    <a:pt x="15240" y="321310"/>
                    <a:pt x="7620" y="259080"/>
                    <a:pt x="5080" y="204470"/>
                  </a:cubicBezTo>
                  <a:cubicBezTo>
                    <a:pt x="1270" y="154940"/>
                    <a:pt x="0" y="95250"/>
                    <a:pt x="8890" y="64770"/>
                  </a:cubicBezTo>
                  <a:cubicBezTo>
                    <a:pt x="12700" y="48260"/>
                    <a:pt x="19050" y="38100"/>
                    <a:pt x="27940" y="27940"/>
                  </a:cubicBezTo>
                  <a:cubicBezTo>
                    <a:pt x="36830" y="19050"/>
                    <a:pt x="49530" y="10160"/>
                    <a:pt x="62230" y="5080"/>
                  </a:cubicBezTo>
                  <a:cubicBezTo>
                    <a:pt x="74930" y="1270"/>
                    <a:pt x="88900" y="0"/>
                    <a:pt x="102870" y="1270"/>
                  </a:cubicBezTo>
                  <a:cubicBezTo>
                    <a:pt x="115570" y="2540"/>
                    <a:pt x="129540" y="8890"/>
                    <a:pt x="140970" y="16510"/>
                  </a:cubicBezTo>
                  <a:cubicBezTo>
                    <a:pt x="151130" y="24130"/>
                    <a:pt x="158750" y="31750"/>
                    <a:pt x="167640" y="46990"/>
                  </a:cubicBezTo>
                  <a:cubicBezTo>
                    <a:pt x="185420" y="80010"/>
                    <a:pt x="193040" y="177800"/>
                    <a:pt x="215900" y="219710"/>
                  </a:cubicBezTo>
                  <a:cubicBezTo>
                    <a:pt x="233680" y="248920"/>
                    <a:pt x="257810" y="255270"/>
                    <a:pt x="278130" y="283210"/>
                  </a:cubicBezTo>
                  <a:cubicBezTo>
                    <a:pt x="307340" y="326390"/>
                    <a:pt x="377190" y="427990"/>
                    <a:pt x="365760" y="463550"/>
                  </a:cubicBezTo>
                  <a:cubicBezTo>
                    <a:pt x="359410" y="486410"/>
                    <a:pt x="302260" y="509270"/>
                    <a:pt x="295910" y="502920"/>
                  </a:cubicBezTo>
                  <a:cubicBezTo>
                    <a:pt x="289560" y="496570"/>
                    <a:pt x="303530" y="440690"/>
                    <a:pt x="325120" y="429260"/>
                  </a:cubicBezTo>
                  <a:cubicBezTo>
                    <a:pt x="354330" y="414020"/>
                    <a:pt x="452120" y="440690"/>
                    <a:pt x="480060" y="467360"/>
                  </a:cubicBezTo>
                  <a:cubicBezTo>
                    <a:pt x="499110" y="486410"/>
                    <a:pt x="504190" y="519430"/>
                    <a:pt x="502920" y="544830"/>
                  </a:cubicBezTo>
                  <a:cubicBezTo>
                    <a:pt x="501650" y="567690"/>
                    <a:pt x="491490" y="598170"/>
                    <a:pt x="474980" y="610870"/>
                  </a:cubicBezTo>
                  <a:cubicBezTo>
                    <a:pt x="458470" y="624840"/>
                    <a:pt x="424180" y="631190"/>
                    <a:pt x="403860" y="626110"/>
                  </a:cubicBezTo>
                  <a:cubicBezTo>
                    <a:pt x="383540" y="619760"/>
                    <a:pt x="351790" y="575310"/>
                    <a:pt x="351790" y="575310"/>
                  </a:cubicBezTo>
                </a:path>
              </a:pathLst>
            </a:custGeom>
            <a:solidFill>
              <a:srgbClr val="FFFFFF"/>
            </a:solidFill>
            <a:ln cap="sq">
              <a:noFill/>
              <a:prstDash val="solid"/>
              <a:miter/>
            </a:ln>
          </p:spPr>
        </p:sp>
      </p:grpSp>
      <p:sp>
        <p:nvSpPr>
          <p:cNvPr id="17" name="TextBox 17"/>
          <p:cNvSpPr txBox="1"/>
          <p:nvPr/>
        </p:nvSpPr>
        <p:spPr>
          <a:xfrm>
            <a:off x="2733611" y="500961"/>
            <a:ext cx="11788160" cy="1036434"/>
          </a:xfrm>
          <a:prstGeom prst="rect">
            <a:avLst/>
          </a:prstGeom>
        </p:spPr>
        <p:txBody>
          <a:bodyPr lIns="0" tIns="0" rIns="0" bIns="0" rtlCol="0" anchor="t">
            <a:spAutoFit/>
          </a:bodyPr>
          <a:lstStyle/>
          <a:p>
            <a:pPr algn="ctr">
              <a:lnSpc>
                <a:spcPts val="8498"/>
              </a:lnSpc>
              <a:spcBef>
                <a:spcPct val="0"/>
              </a:spcBef>
            </a:pPr>
            <a:r>
              <a:rPr lang="en-US" sz="6070">
                <a:solidFill>
                  <a:srgbClr val="000000"/>
                </a:solidFill>
                <a:latin typeface="Glacial Indifference"/>
                <a:ea typeface="Glacial Indifference"/>
                <a:cs typeface="Glacial Indifference"/>
                <a:sym typeface="Glacial Indifference"/>
              </a:rPr>
              <a:t>Sample Circuit Diagram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EFC"/>
        </a:solidFill>
        <a:effectLst/>
      </p:bgPr>
    </p:bg>
    <p:spTree>
      <p:nvGrpSpPr>
        <p:cNvPr id="1" name=""/>
        <p:cNvGrpSpPr/>
        <p:nvPr/>
      </p:nvGrpSpPr>
      <p:grpSpPr>
        <a:xfrm>
          <a:off x="0" y="0"/>
          <a:ext cx="0" cy="0"/>
          <a:chOff x="0" y="0"/>
          <a:chExt cx="0" cy="0"/>
        </a:xfrm>
      </p:grpSpPr>
      <p:grpSp>
        <p:nvGrpSpPr>
          <p:cNvPr id="2" name="Group 2"/>
          <p:cNvGrpSpPr/>
          <p:nvPr/>
        </p:nvGrpSpPr>
        <p:grpSpPr>
          <a:xfrm rot="932389">
            <a:off x="697066" y="-2364764"/>
            <a:ext cx="1794326" cy="13828873"/>
            <a:chOff x="0" y="0"/>
            <a:chExt cx="601331" cy="4634456"/>
          </a:xfrm>
        </p:grpSpPr>
        <p:sp>
          <p:nvSpPr>
            <p:cNvPr id="3" name="Freeform 3"/>
            <p:cNvSpPr/>
            <p:nvPr/>
          </p:nvSpPr>
          <p:spPr>
            <a:xfrm>
              <a:off x="0" y="0"/>
              <a:ext cx="601331" cy="4634456"/>
            </a:xfrm>
            <a:custGeom>
              <a:avLst/>
              <a:gdLst/>
              <a:ahLst/>
              <a:cxnLst/>
              <a:rect l="l" t="t" r="r" b="b"/>
              <a:pathLst>
                <a:path w="601331" h="4634456">
                  <a:moveTo>
                    <a:pt x="0" y="0"/>
                  </a:moveTo>
                  <a:lnTo>
                    <a:pt x="601331" y="0"/>
                  </a:lnTo>
                  <a:lnTo>
                    <a:pt x="601331" y="4634456"/>
                  </a:lnTo>
                  <a:lnTo>
                    <a:pt x="0" y="4634456"/>
                  </a:lnTo>
                  <a:close/>
                </a:path>
              </a:pathLst>
            </a:custGeom>
            <a:solidFill>
              <a:srgbClr val="888FA1">
                <a:alpha val="15686"/>
              </a:srgbClr>
            </a:solidFill>
            <a:ln cap="sq">
              <a:noFill/>
              <a:prstDash val="solid"/>
              <a:miter/>
            </a:ln>
          </p:spPr>
        </p:sp>
        <p:sp>
          <p:nvSpPr>
            <p:cNvPr id="4" name="TextBox 4"/>
            <p:cNvSpPr txBox="1"/>
            <p:nvPr/>
          </p:nvSpPr>
          <p:spPr>
            <a:xfrm>
              <a:off x="0" y="-47625"/>
              <a:ext cx="601331" cy="4682081"/>
            </a:xfrm>
            <a:prstGeom prst="rect">
              <a:avLst/>
            </a:prstGeom>
          </p:spPr>
          <p:txBody>
            <a:bodyPr lIns="50800" tIns="50800" rIns="50800" bIns="50800" rtlCol="0" anchor="ctr"/>
            <a:lstStyle/>
            <a:p>
              <a:pPr marL="616402" lvl="1" indent="-308201" algn="ctr">
                <a:lnSpc>
                  <a:spcPts val="3997"/>
                </a:lnSpc>
                <a:spcBef>
                  <a:spcPct val="0"/>
                </a:spcBef>
                <a:buFont typeface="Arial"/>
                <a:buChar char="•"/>
              </a:pPr>
              <a:endParaRPr/>
            </a:p>
          </p:txBody>
        </p:sp>
      </p:grpSp>
      <p:grpSp>
        <p:nvGrpSpPr>
          <p:cNvPr id="5" name="Group 5"/>
          <p:cNvGrpSpPr/>
          <p:nvPr/>
        </p:nvGrpSpPr>
        <p:grpSpPr>
          <a:xfrm rot="-2466208">
            <a:off x="9114225" y="-4156696"/>
            <a:ext cx="5118460" cy="18329471"/>
            <a:chOff x="0" y="0"/>
            <a:chExt cx="1715344" cy="6142737"/>
          </a:xfrm>
        </p:grpSpPr>
        <p:sp>
          <p:nvSpPr>
            <p:cNvPr id="6" name="Freeform 6"/>
            <p:cNvSpPr/>
            <p:nvPr/>
          </p:nvSpPr>
          <p:spPr>
            <a:xfrm>
              <a:off x="0" y="0"/>
              <a:ext cx="1715344" cy="6142737"/>
            </a:xfrm>
            <a:custGeom>
              <a:avLst/>
              <a:gdLst/>
              <a:ahLst/>
              <a:cxnLst/>
              <a:rect l="l" t="t" r="r" b="b"/>
              <a:pathLst>
                <a:path w="1715344" h="6142737">
                  <a:moveTo>
                    <a:pt x="0" y="0"/>
                  </a:moveTo>
                  <a:lnTo>
                    <a:pt x="1715344" y="0"/>
                  </a:lnTo>
                  <a:lnTo>
                    <a:pt x="1715344" y="6142737"/>
                  </a:lnTo>
                  <a:lnTo>
                    <a:pt x="0" y="6142737"/>
                  </a:lnTo>
                  <a:close/>
                </a:path>
              </a:pathLst>
            </a:custGeom>
            <a:solidFill>
              <a:srgbClr val="888FA1">
                <a:alpha val="15686"/>
              </a:srgbClr>
            </a:solidFill>
            <a:ln cap="sq">
              <a:noFill/>
              <a:prstDash val="solid"/>
              <a:miter/>
            </a:ln>
          </p:spPr>
        </p:sp>
        <p:sp>
          <p:nvSpPr>
            <p:cNvPr id="7" name="TextBox 7"/>
            <p:cNvSpPr txBox="1"/>
            <p:nvPr/>
          </p:nvSpPr>
          <p:spPr>
            <a:xfrm>
              <a:off x="0" y="-47625"/>
              <a:ext cx="1715344" cy="6190362"/>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986350">
            <a:off x="15675951" y="-1471383"/>
            <a:ext cx="2220985" cy="13828873"/>
            <a:chOff x="0" y="0"/>
            <a:chExt cx="744317" cy="4634456"/>
          </a:xfrm>
        </p:grpSpPr>
        <p:sp>
          <p:nvSpPr>
            <p:cNvPr id="9" name="Freeform 9"/>
            <p:cNvSpPr/>
            <p:nvPr/>
          </p:nvSpPr>
          <p:spPr>
            <a:xfrm>
              <a:off x="0" y="0"/>
              <a:ext cx="744317" cy="4634456"/>
            </a:xfrm>
            <a:custGeom>
              <a:avLst/>
              <a:gdLst/>
              <a:ahLst/>
              <a:cxnLst/>
              <a:rect l="l" t="t" r="r" b="b"/>
              <a:pathLst>
                <a:path w="744317" h="4634456">
                  <a:moveTo>
                    <a:pt x="0" y="0"/>
                  </a:moveTo>
                  <a:lnTo>
                    <a:pt x="744317" y="0"/>
                  </a:lnTo>
                  <a:lnTo>
                    <a:pt x="744317" y="4634456"/>
                  </a:lnTo>
                  <a:lnTo>
                    <a:pt x="0" y="4634456"/>
                  </a:lnTo>
                  <a:close/>
                </a:path>
              </a:pathLst>
            </a:custGeom>
            <a:solidFill>
              <a:srgbClr val="888FA1">
                <a:alpha val="15686"/>
              </a:srgbClr>
            </a:solidFill>
            <a:ln cap="sq">
              <a:noFill/>
              <a:prstDash val="solid"/>
              <a:miter/>
            </a:ln>
          </p:spPr>
        </p:sp>
        <p:sp>
          <p:nvSpPr>
            <p:cNvPr id="10" name="TextBox 10"/>
            <p:cNvSpPr txBox="1"/>
            <p:nvPr/>
          </p:nvSpPr>
          <p:spPr>
            <a:xfrm>
              <a:off x="0" y="-47625"/>
              <a:ext cx="744317" cy="4682081"/>
            </a:xfrm>
            <a:prstGeom prst="rect">
              <a:avLst/>
            </a:prstGeom>
          </p:spPr>
          <p:txBody>
            <a:bodyPr lIns="50800" tIns="50800" rIns="50800" bIns="50800" rtlCol="0" anchor="ctr"/>
            <a:lstStyle/>
            <a:p>
              <a:pPr algn="ctr">
                <a:lnSpc>
                  <a:spcPts val="3359"/>
                </a:lnSpc>
              </a:pPr>
              <a:endParaRPr/>
            </a:p>
          </p:txBody>
        </p:sp>
      </p:grpSp>
      <p:sp>
        <p:nvSpPr>
          <p:cNvPr id="11" name="AutoShape 11"/>
          <p:cNvSpPr/>
          <p:nvPr/>
        </p:nvSpPr>
        <p:spPr>
          <a:xfrm>
            <a:off x="0" y="9876821"/>
            <a:ext cx="18363386" cy="0"/>
          </a:xfrm>
          <a:prstGeom prst="line">
            <a:avLst/>
          </a:prstGeom>
          <a:ln w="38100" cap="flat">
            <a:solidFill>
              <a:srgbClr val="888FA1"/>
            </a:solidFill>
            <a:prstDash val="solid"/>
            <a:headEnd type="none" w="sm" len="sm"/>
            <a:tailEnd type="none" w="sm" len="sm"/>
          </a:ln>
        </p:spPr>
      </p:sp>
      <p:sp>
        <p:nvSpPr>
          <p:cNvPr id="12" name="AutoShape 12"/>
          <p:cNvSpPr/>
          <p:nvPr/>
        </p:nvSpPr>
        <p:spPr>
          <a:xfrm>
            <a:off x="-75386" y="411174"/>
            <a:ext cx="18363386" cy="0"/>
          </a:xfrm>
          <a:prstGeom prst="line">
            <a:avLst/>
          </a:prstGeom>
          <a:ln w="38100" cap="flat">
            <a:solidFill>
              <a:srgbClr val="888FA1"/>
            </a:solidFill>
            <a:prstDash val="solid"/>
            <a:headEnd type="none" w="sm" len="sm"/>
            <a:tailEnd type="none" w="sm" len="sm"/>
          </a:ln>
        </p:spPr>
      </p:sp>
      <p:sp>
        <p:nvSpPr>
          <p:cNvPr id="13" name="AutoShape 13"/>
          <p:cNvSpPr/>
          <p:nvPr/>
        </p:nvSpPr>
        <p:spPr>
          <a:xfrm>
            <a:off x="386635" y="-882899"/>
            <a:ext cx="0" cy="11478159"/>
          </a:xfrm>
          <a:prstGeom prst="line">
            <a:avLst/>
          </a:prstGeom>
          <a:ln w="38100" cap="flat">
            <a:solidFill>
              <a:srgbClr val="888FA1"/>
            </a:solidFill>
            <a:prstDash val="solid"/>
            <a:headEnd type="none" w="sm" len="sm"/>
            <a:tailEnd type="none" w="sm" len="sm"/>
          </a:ln>
        </p:spPr>
      </p:sp>
      <p:sp>
        <p:nvSpPr>
          <p:cNvPr id="14" name="AutoShape 14"/>
          <p:cNvSpPr/>
          <p:nvPr/>
        </p:nvSpPr>
        <p:spPr>
          <a:xfrm>
            <a:off x="17816996" y="-595579"/>
            <a:ext cx="0" cy="11478159"/>
          </a:xfrm>
          <a:prstGeom prst="line">
            <a:avLst/>
          </a:prstGeom>
          <a:ln w="38100" cap="flat">
            <a:solidFill>
              <a:srgbClr val="888FA1"/>
            </a:solidFill>
            <a:prstDash val="solid"/>
            <a:headEnd type="none" w="sm" len="sm"/>
            <a:tailEnd type="none" w="sm" len="sm"/>
          </a:ln>
        </p:spPr>
      </p:sp>
      <p:sp>
        <p:nvSpPr>
          <p:cNvPr id="15" name="TextBox 15"/>
          <p:cNvSpPr txBox="1"/>
          <p:nvPr/>
        </p:nvSpPr>
        <p:spPr>
          <a:xfrm>
            <a:off x="3719926" y="3846887"/>
            <a:ext cx="11381715" cy="2114550"/>
          </a:xfrm>
          <a:prstGeom prst="rect">
            <a:avLst/>
          </a:prstGeom>
        </p:spPr>
        <p:txBody>
          <a:bodyPr lIns="0" tIns="0" rIns="0" bIns="0" rtlCol="0" anchor="t">
            <a:spAutoFit/>
          </a:bodyPr>
          <a:lstStyle/>
          <a:p>
            <a:pPr marL="0" lvl="0" indent="0" algn="l">
              <a:lnSpc>
                <a:spcPts val="16602"/>
              </a:lnSpc>
              <a:spcBef>
                <a:spcPct val="0"/>
              </a:spcBef>
            </a:pPr>
            <a:r>
              <a:rPr lang="en-US" sz="13835" b="1">
                <a:solidFill>
                  <a:srgbClr val="37359F"/>
                </a:solidFill>
                <a:latin typeface="Flatory Serif Bold"/>
                <a:ea typeface="Flatory Serif Bold"/>
                <a:cs typeface="Flatory Serif Bold"/>
                <a:sym typeface="Flatory Serif Bold"/>
              </a:rPr>
              <a:t>THANK YOU</a:t>
            </a:r>
          </a:p>
        </p:txBody>
      </p:sp>
      <p:sp>
        <p:nvSpPr>
          <p:cNvPr id="16" name="Freeform 16"/>
          <p:cNvSpPr/>
          <p:nvPr/>
        </p:nvSpPr>
        <p:spPr>
          <a:xfrm rot="5400000" flipV="1">
            <a:off x="6164628" y="1511337"/>
            <a:ext cx="1841009" cy="1841009"/>
          </a:xfrm>
          <a:custGeom>
            <a:avLst/>
            <a:gdLst/>
            <a:ahLst/>
            <a:cxnLst/>
            <a:rect l="l" t="t" r="r" b="b"/>
            <a:pathLst>
              <a:path w="1841009" h="1841009">
                <a:moveTo>
                  <a:pt x="0" y="1841009"/>
                </a:moveTo>
                <a:lnTo>
                  <a:pt x="1841009" y="1841009"/>
                </a:lnTo>
                <a:lnTo>
                  <a:pt x="1841009" y="0"/>
                </a:lnTo>
                <a:lnTo>
                  <a:pt x="0" y="0"/>
                </a:lnTo>
                <a:lnTo>
                  <a:pt x="0" y="184100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rot="-5400000" flipV="1">
            <a:off x="912671" y="7984464"/>
            <a:ext cx="1226105" cy="1226105"/>
          </a:xfrm>
          <a:custGeom>
            <a:avLst/>
            <a:gdLst/>
            <a:ahLst/>
            <a:cxnLst/>
            <a:rect l="l" t="t" r="r" b="b"/>
            <a:pathLst>
              <a:path w="1226105" h="1226105">
                <a:moveTo>
                  <a:pt x="0" y="1226105"/>
                </a:moveTo>
                <a:lnTo>
                  <a:pt x="1226105" y="1226105"/>
                </a:lnTo>
                <a:lnTo>
                  <a:pt x="1226105" y="0"/>
                </a:lnTo>
                <a:lnTo>
                  <a:pt x="0" y="0"/>
                </a:lnTo>
                <a:lnTo>
                  <a:pt x="0" y="1226105"/>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1044</Words>
  <Application>Microsoft Office PowerPoint</Application>
  <PresentationFormat>Custom</PresentationFormat>
  <Paragraphs>138</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Flatory Serif Bold</vt:lpstr>
      <vt:lpstr>Glacial Indifference</vt:lpstr>
      <vt:lpstr>Glacial Indifference Bold</vt:lpstr>
      <vt:lpstr>PT Serif</vt:lpstr>
      <vt:lpstr>Source Sans Pro</vt:lpstr>
      <vt:lpstr>Source Sans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Electrical Infrastructure Project Proposal   </dc:title>
  <cp:lastModifiedBy>Yash Dhaktode</cp:lastModifiedBy>
  <cp:revision>1</cp:revision>
  <dcterms:created xsi:type="dcterms:W3CDTF">2006-08-16T00:00:00Z</dcterms:created>
  <dcterms:modified xsi:type="dcterms:W3CDTF">2025-03-06T12:02:54Z</dcterms:modified>
  <dc:identifier>DAGgXB3-Wvs</dc:identifier>
</cp:coreProperties>
</file>